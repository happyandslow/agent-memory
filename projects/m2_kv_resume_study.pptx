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question is not which lane is universally best. It is which cost dominates under a specific resume state and implementation.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Lane B assumes the history was already persisted. E13, the decode egress half, is not implemented, so this is not yet a round-trip eviction policy.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uses the same physical assumption: one prefill card and one decode card, each with its own host memory. The dashed host-to-host leg in C is assumed zero in the current latency model.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reported device spans use the 0.85 GHz TSC conversion. Failed EPCC 502 repeats and a run without a downloaded hash-verified evidence bundle are excluded.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large separation at small F is visible before any offset subtraction or regression.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source-level timer starts after a locally-ready west-edge sender emits [N,F], before HT_tail receives first Z. It is not an all-PE readiness barrier. Exact attribution needs a first-Z timestamp.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F=1 is not subtracted as a universal offset. The model deliberately leaves readiness inside D(P,256) until a first-Z timestamp separates it from first-token fill.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compare this bandwidth directly with E6 prefill egress: E6 performs a transpose and switch-gather in addition to moving bytes.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A/B boundary calculation uses the measured-anchor interpolation, not a single bandwidth number across the whole payload range.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E10 validates that the real reload path reproduces E5 and that post-ingress forced-token cost matches E9 to 0.97–1.00 across H=512…8192. Host-to-host latency and decode→host eviction remain excluded.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panel is the E10D offset-controlled direct comparison. The right panel is the newer E14 observed-span model, so the absolute y-values should not be overlaid; the robust shared conclusion is the winner flip and a crossing between the two direct witnesses. Other starting prefixes and full-context reload move the projected boundary.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two resident-prefix compute measurements were byte-identical across cold/warm and warm/warm checks. Exact pdSeparate lacks START_CHUNKS, so this is a validated screening result, not the final pdSeparate benchmark.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safe conclusion is a workload- and implementation-dependent segmented policy, not a universal 700-token rule.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E12b prefill ingress is gated: transport work alone cannot remove the measured S6a compute floor.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M2 STUDY · WEEKLY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18181B"/>
                </a:solidFill>
                <a:latin typeface="Arial"/>
              </a:rPr>
              <a:t>KV Resume on WSE-3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408676"/>
            <a:ext cx="1234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Measured costs of recompute, reload, and resident-prefix prefill.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224289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22428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0451" y="8796528"/>
            <a:ext cx="15139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0451" y="9125712"/>
            <a:ext cx="15139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WSE-3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4390" y="8796528"/>
            <a:ext cx="18361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TSC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4390" y="9125712"/>
            <a:ext cx="1836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0.85 GHz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0542" y="8796528"/>
            <a:ext cx="27340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542" y="9125712"/>
            <a:ext cx="2734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Resume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QUESTION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Three ways to resume an evicted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SESSION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51810"/>
            <a:ext cx="8010144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History, delta,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55363"/>
            <a:ext cx="801014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PD separation: prefill and decode each occupy one WSE card with separate host DRAM. Lhist KV is assumed persisted; Lnew has no KV. We time resume only—decode→host eviction and host-to-host latency are excluded.</a:t>
            </a:r>
          </a:p>
        </p:txBody>
      </p:sp>
      <p:sp>
        <p:nvSpPr>
          <p:cNvPr id="7" name="card"/>
          <p:cNvSpPr/>
          <p:nvPr/>
        </p:nvSpPr>
        <p:spPr>
          <a:xfrm>
            <a:off x="9528048" y="2484882"/>
            <a:ext cx="7772400" cy="4251960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015234"/>
            <a:ext cx="67116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RESUME 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499865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9608" y="3499865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 — force-decode Lhist + Lnew in decode; no reload</a:t>
            </a:r>
          </a:p>
        </p:txBody>
      </p:sp>
      <p:sp>
        <p:nvSpPr>
          <p:cNvPr id="11" name="rule"/>
          <p:cNvSpPr/>
          <p:nvPr/>
        </p:nvSpPr>
        <p:spPr>
          <a:xfrm>
            <a:off x="10058400" y="4472787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4652009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4652009"/>
            <a:ext cx="6190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B — reload Lhist KV; force-decode only Lnew</a:t>
            </a:r>
          </a:p>
        </p:txBody>
      </p:sp>
      <p:sp>
        <p:nvSpPr>
          <p:cNvPr id="14" name="rule"/>
          <p:cNvSpPr/>
          <p:nvPr/>
        </p:nvSpPr>
        <p:spPr>
          <a:xfrm>
            <a:off x="10058400" y="5222595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5401818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9608" y="5401818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 — prefill Lnew over resident Lhist; transfer the completed KV state to decode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THREE RESUME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How the three resume lanes move state</a:t>
            </a:r>
          </a:p>
        </p:txBody>
      </p:sp>
      <p:pic>
        <p:nvPicPr>
          <p:cNvPr id="4" name="figure" descr="three_resume_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003" y="2484882"/>
            <a:ext cx="10563992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A recomputes on decode; B reloads history then computes the delta; C computes the delta on prefill and transfers KV through the two hosts.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IMPLEMENTATIONS AND MEASUREMENT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experiments do not all exercise the same kernel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233138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0957" y="2484882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KERNEL /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8589" y="2484882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SWEEP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29107" y="2484882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QUALIFICATION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295122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18897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E5</a:t>
            </a:r>
          </a:p>
        </p:txBody>
      </p:sp>
      <p:sp>
        <p:nvSpPr>
          <p:cNvPr id="10" name="rule"/>
          <p:cNvSpPr/>
          <p:nvPr/>
        </p:nvSpPr>
        <p:spPr>
          <a:xfrm>
            <a:off x="3510957" y="295122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0957" y="318897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pdSeparate decode KV ingress adaptor/injector</a:t>
            </a:r>
          </a:p>
        </p:txBody>
      </p:sp>
      <p:sp>
        <p:nvSpPr>
          <p:cNvPr id="12" name="rule"/>
          <p:cNvSpPr/>
          <p:nvPr/>
        </p:nvSpPr>
        <p:spPr>
          <a:xfrm>
            <a:off x="8948589" y="295122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8589" y="318897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P=256…8192</a:t>
            </a:r>
          </a:p>
        </p:txBody>
      </p:sp>
      <p:sp>
        <p:nvSpPr>
          <p:cNvPr id="14" name="rule"/>
          <p:cNvSpPr/>
          <p:nvPr/>
        </p:nvSpPr>
        <p:spPr>
          <a:xfrm>
            <a:off x="12929107" y="295122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29107" y="318897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Direct device TSC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377418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1193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E9</a:t>
            </a:r>
          </a:p>
        </p:txBody>
      </p:sp>
      <p:sp>
        <p:nvSpPr>
          <p:cNvPr id="18" name="rule"/>
          <p:cNvSpPr/>
          <p:nvPr/>
        </p:nvSpPr>
        <p:spPr>
          <a:xfrm>
            <a:off x="3510957" y="377418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0957" y="401193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2×4 force-decode pipeline; 28 layers</a:t>
            </a:r>
          </a:p>
        </p:txBody>
      </p:sp>
      <p:sp>
        <p:nvSpPr>
          <p:cNvPr id="20" name="rule"/>
          <p:cNvSpPr/>
          <p:nvPr/>
        </p:nvSpPr>
        <p:spPr>
          <a:xfrm>
            <a:off x="8948589" y="377418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8589" y="401193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P=256; F=1…20224</a:t>
            </a:r>
          </a:p>
        </p:txBody>
      </p:sp>
      <p:sp>
        <p:nvSpPr>
          <p:cNvPr id="22" name="rule"/>
          <p:cNvSpPr/>
          <p:nvPr/>
        </p:nvSpPr>
        <p:spPr>
          <a:xfrm>
            <a:off x="12929107" y="377418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29107" y="401193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Direct device TSC</a:t>
            </a:r>
          </a:p>
        </p:txBody>
      </p:sp>
      <p:sp>
        <p:nvSpPr>
          <p:cNvPr id="24" name="rule"/>
          <p:cNvSpPr/>
          <p:nvPr/>
        </p:nvSpPr>
        <p:spPr>
          <a:xfrm>
            <a:off x="987552" y="459714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83489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E14</a:t>
            </a:r>
          </a:p>
        </p:txBody>
      </p:sp>
      <p:sp>
        <p:nvSpPr>
          <p:cNvPr id="26" name="rule"/>
          <p:cNvSpPr/>
          <p:nvPr/>
        </p:nvSpPr>
        <p:spPr>
          <a:xfrm>
            <a:off x="3510957" y="459714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0957" y="483489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Same force-decode model config</a:t>
            </a:r>
          </a:p>
        </p:txBody>
      </p:sp>
      <p:sp>
        <p:nvSpPr>
          <p:cNvPr id="28" name="rule"/>
          <p:cNvSpPr/>
          <p:nvPr/>
        </p:nvSpPr>
        <p:spPr>
          <a:xfrm>
            <a:off x="8948589" y="459714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8589" y="483489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 prefixes × 6 F</a:t>
            </a:r>
          </a:p>
        </p:txBody>
      </p:sp>
      <p:sp>
        <p:nvSpPr>
          <p:cNvPr id="30" name="rule"/>
          <p:cNvSpPr/>
          <p:nvPr/>
        </p:nvSpPr>
        <p:spPr>
          <a:xfrm>
            <a:off x="12929107" y="459714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29107" y="483489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n=1; 24/24 pass</a:t>
            </a:r>
          </a:p>
        </p:txBody>
      </p:sp>
      <p:sp>
        <p:nvSpPr>
          <p:cNvPr id="32" name="rule"/>
          <p:cNvSpPr/>
          <p:nvPr/>
        </p:nvSpPr>
        <p:spPr>
          <a:xfrm>
            <a:off x="987552" y="542010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65785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E10/D</a:t>
            </a:r>
          </a:p>
        </p:txBody>
      </p:sp>
      <p:sp>
        <p:nvSpPr>
          <p:cNvPr id="34" name="rule"/>
          <p:cNvSpPr/>
          <p:nvPr/>
        </p:nvSpPr>
        <p:spPr>
          <a:xfrm>
            <a:off x="3510957" y="542010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0957" y="565785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Reload path + post-ingress force decode</a:t>
            </a:r>
          </a:p>
        </p:txBody>
      </p:sp>
      <p:sp>
        <p:nvSpPr>
          <p:cNvPr id="36" name="rule"/>
          <p:cNvSpPr/>
          <p:nvPr/>
        </p:nvSpPr>
        <p:spPr>
          <a:xfrm>
            <a:off x="8948589" y="542010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8589" y="565785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H=512…8192</a:t>
            </a:r>
          </a:p>
        </p:txBody>
      </p:sp>
      <p:sp>
        <p:nvSpPr>
          <p:cNvPr id="38" name="rule"/>
          <p:cNvSpPr/>
          <p:nvPr/>
        </p:nvSpPr>
        <p:spPr>
          <a:xfrm>
            <a:off x="12929107" y="542010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29107" y="565785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Two direct totals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24306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648081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E12a</a:t>
            </a:r>
          </a:p>
        </p:txBody>
      </p:sp>
      <p:sp>
        <p:nvSpPr>
          <p:cNvPr id="42" name="rule"/>
          <p:cNvSpPr/>
          <p:nvPr/>
        </p:nvSpPr>
        <p:spPr>
          <a:xfrm>
            <a:off x="3510957" y="624306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10957" y="648081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S6a resident-prefix prefill, e0a19fc</a:t>
            </a:r>
          </a:p>
        </p:txBody>
      </p:sp>
      <p:sp>
        <p:nvSpPr>
          <p:cNvPr id="44" name="rule"/>
          <p:cNvSpPr/>
          <p:nvPr/>
        </p:nvSpPr>
        <p:spPr>
          <a:xfrm>
            <a:off x="8948589" y="624306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48589" y="648081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Two 8192-context cases</a:t>
            </a:r>
          </a:p>
        </p:txBody>
      </p:sp>
      <p:sp>
        <p:nvSpPr>
          <p:cNvPr id="46" name="rule"/>
          <p:cNvSpPr/>
          <p:nvPr/>
        </p:nvSpPr>
        <p:spPr>
          <a:xfrm>
            <a:off x="12929107" y="624306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29107" y="648081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Screening; not exact pdSeparate</a:t>
            </a:r>
          </a:p>
        </p:txBody>
      </p:sp>
      <p:sp>
        <p:nvSpPr>
          <p:cNvPr id="48" name="rule"/>
          <p:cNvSpPr/>
          <p:nvPr/>
        </p:nvSpPr>
        <p:spPr>
          <a:xfrm>
            <a:off x="987552" y="706602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7303770"/>
            <a:ext cx="23313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E6</a:t>
            </a:r>
          </a:p>
        </p:txBody>
      </p:sp>
      <p:sp>
        <p:nvSpPr>
          <p:cNvPr id="50" name="rule"/>
          <p:cNvSpPr/>
          <p:nvPr/>
        </p:nvSpPr>
        <p:spPr>
          <a:xfrm>
            <a:off x="3510957" y="706602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0957" y="7303770"/>
            <a:ext cx="52456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Prefill transpose + switch-gather egress</a:t>
            </a:r>
          </a:p>
        </p:txBody>
      </p:sp>
      <p:sp>
        <p:nvSpPr>
          <p:cNvPr id="52" name="rule"/>
          <p:cNvSpPr/>
          <p:nvPr/>
        </p:nvSpPr>
        <p:spPr>
          <a:xfrm>
            <a:off x="8948589" y="706602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48589" y="7303770"/>
            <a:ext cx="378849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1…32 chunks</a:t>
            </a:r>
          </a:p>
        </p:txBody>
      </p:sp>
      <p:sp>
        <p:nvSpPr>
          <p:cNvPr id="54" name="rule"/>
          <p:cNvSpPr/>
          <p:nvPr/>
        </p:nvSpPr>
        <p:spPr>
          <a:xfrm>
            <a:off x="12929107" y="706602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29107" y="7303770"/>
            <a:ext cx="437134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Not inverse-equivalent to E5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A ·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All 24 force-decode spans across prefix × forced length</a:t>
            </a:r>
          </a:p>
        </p:txBody>
      </p:sp>
      <p:pic>
        <p:nvPicPr>
          <p:cNvPr id="4" name="figure" descr="e14_raw_sp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RAW — P={256,1024,4096,8192}, F={1,256,512,1024,2048,4096}; real Qwen3-1.7B on WSE-3, n=1.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A · PERFORMANCE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Startup anchor + position-dependent intervals</a:t>
            </a:r>
          </a:p>
        </p:txBody>
      </p:sp>
      <p:pic>
        <p:nvPicPr>
          <p:cNvPr id="4" name="figure" descr="e14_mod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757" y="2484882"/>
            <a:ext cx="10466485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D(P,F)=D(P,256)+Σ II(q), where 16 steady segments give II(q)=71.745 µs+4.093 ns·q. Ready/fill/tail are inferred.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How Lane A cost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COST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51810"/>
            <a:ext cx="8010144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D(P,F)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55363"/>
            <a:ext cx="801014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For F≥256, start from the measured prefix-specific anchor D(P,256), then add one steady completion interval for each additional forced token.</a:t>
            </a:r>
          </a:p>
        </p:txBody>
      </p:sp>
      <p:sp>
        <p:nvSpPr>
          <p:cNvPr id="7" name="card"/>
          <p:cNvSpPr/>
          <p:nvPr/>
        </p:nvSpPr>
        <p:spPr>
          <a:xfrm>
            <a:off x="9528048" y="2484882"/>
            <a:ext cx="7772400" cy="5404104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015234"/>
            <a:ext cx="67116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WHAT ENTERS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499865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9608" y="3499865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D(P,256) absorbs prefix-dependent startup and pre-first-token readiness</a:t>
            </a:r>
          </a:p>
        </p:txBody>
      </p:sp>
      <p:sp>
        <p:nvSpPr>
          <p:cNvPr id="11" name="rule"/>
          <p:cNvSpPr/>
          <p:nvPr/>
        </p:nvSpPr>
        <p:spPr>
          <a:xfrm>
            <a:off x="10058400" y="4472787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4652009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4652009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II(q)=71.745 µs+4.093 ns·q is fit from 16 adjacent-span differences beginning at F≥256</a:t>
            </a:r>
          </a:p>
        </p:txBody>
      </p:sp>
      <p:sp>
        <p:nvSpPr>
          <p:cNvPr id="14" name="rule"/>
          <p:cNvSpPr/>
          <p:nvPr/>
        </p:nvSpPr>
        <p:spPr>
          <a:xfrm>
            <a:off x="10058400" y="5624931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5804153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9608" y="5804153"/>
            <a:ext cx="6190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D(P,F)=D(P,256)+Σ[q=P+256…P+F−1] II(q)</a:t>
            </a:r>
          </a:p>
        </p:txBody>
      </p:sp>
      <p:sp>
        <p:nvSpPr>
          <p:cNvPr id="17" name="rule"/>
          <p:cNvSpPr/>
          <p:nvPr/>
        </p:nvSpPr>
        <p:spPr>
          <a:xfrm>
            <a:off x="10058400" y="6374739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6553962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9608" y="6553962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Startup anchors are interpolated only across measured prefix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B ·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Decode KV ingress: six raw measurements</a:t>
            </a:r>
          </a:p>
        </p:txBody>
      </p:sp>
      <p:pic>
        <p:nvPicPr>
          <p:cNvPr id="4" name="figure" descr="e5_ingres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RAW — six device-TSC observations on the pdSeparate ingress path, spanning the floor, knee, and byte-dominated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B · PERFORMANCE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Reload = floor + payload term</a:t>
            </a:r>
          </a:p>
        </p:txBody>
      </p:sp>
      <p:pic>
        <p:nvPicPr>
          <p:cNvPr id="4" name="figure" descr="lane_b_reloa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I(H) uses piecewise-linear interpolation of the six E5 anchors; the saturated region approaches 3.186 GB/s aggregate.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B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How Lane B cost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COST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51810"/>
            <a:ext cx="8010144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B(S,H,Lnew)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55363"/>
            <a:ext cx="801014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B = I(H)+D(S+H,Lnew): reload H history tokens, then force-decode Lnew at absolute position S+H.</a:t>
            </a:r>
          </a:p>
        </p:txBody>
      </p:sp>
      <p:sp>
        <p:nvSpPr>
          <p:cNvPr id="7" name="card"/>
          <p:cNvSpPr/>
          <p:nvPr/>
        </p:nvSpPr>
        <p:spPr>
          <a:xfrm>
            <a:off x="9528048" y="2484882"/>
            <a:ext cx="7772400" cy="500176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015234"/>
            <a:ext cx="67116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WHAT ENTERS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499865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9608" y="3499865"/>
            <a:ext cx="6190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I(H): interpolate the six E5 ingress anchors</a:t>
            </a:r>
          </a:p>
        </p:txBody>
      </p:sp>
      <p:sp>
        <p:nvSpPr>
          <p:cNvPr id="11" name="rule"/>
          <p:cNvSpPr/>
          <p:nvPr/>
        </p:nvSpPr>
        <p:spPr>
          <a:xfrm>
            <a:off x="10058400" y="4070451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4249674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4249674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This preserves the ~46 ms floor, knee, and byte-dominated region</a:t>
            </a:r>
          </a:p>
        </p:txBody>
      </p:sp>
      <p:sp>
        <p:nvSpPr>
          <p:cNvPr id="14" name="rule"/>
          <p:cNvSpPr/>
          <p:nvPr/>
        </p:nvSpPr>
        <p:spPr>
          <a:xfrm>
            <a:off x="10058400" y="5222595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5401818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9608" y="5401818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D(S+H,Lnew): reuse the Lane A startup + steady-II model</a:t>
            </a:r>
          </a:p>
        </p:txBody>
      </p:sp>
      <p:sp>
        <p:nvSpPr>
          <p:cNvPr id="17" name="rule"/>
          <p:cNvSpPr/>
          <p:nvPr/>
        </p:nvSpPr>
        <p:spPr>
          <a:xfrm>
            <a:off x="10058400" y="6374739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6553962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9608" y="6553962"/>
            <a:ext cx="61904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Full-context reload replaces I(H) with I(S+H)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LANE A VS LANE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measured flip and the projected crossing</a:t>
            </a:r>
          </a:p>
        </p:txBody>
      </p:sp>
      <p:pic>
        <p:nvPicPr>
          <p:cNvPr id="4" name="figure" descr="lane_ab_cro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348" y="2484882"/>
            <a:ext cx="9865302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Left: E10D offset-controlled totals. Right: E14+E5 observed-span projection gives H*=744 (S=256, Lnew=256, delta reload); compare winner/crossing, not absolute y-values.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E12A · SCREENING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Two resident-prefix prefill cases at total context 8,192</a:t>
            </a:r>
          </a:p>
        </p:txBody>
      </p:sp>
      <p:pic>
        <p:nvPicPr>
          <p:cNvPr id="4" name="figure" descr="e12a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833" y="2484882"/>
            <a:ext cx="10414332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MEASURED + DERIVED — direct S6a prefill compute at total context 8,192; forced and lane totals combine E9/E5/E6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WHAT THE EVIDENCE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 conditional policy, with explicit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573438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3961" y="2484882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EVIDENCE STRENGTH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0331" y="2484882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SCOPE / CAVEAT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295122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8897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Ingress has a ~46 ms floor</a:t>
            </a:r>
          </a:p>
        </p:txBody>
      </p:sp>
      <p:sp>
        <p:nvSpPr>
          <p:cNvPr id="9" name="rule"/>
          <p:cNvSpPr/>
          <p:nvPr/>
        </p:nvSpPr>
        <p:spPr>
          <a:xfrm>
            <a:off x="6913961" y="295122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3961" y="318897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Direct measured</a:t>
            </a:r>
          </a:p>
        </p:txBody>
      </p:sp>
      <p:sp>
        <p:nvSpPr>
          <p:cNvPr id="11" name="rule"/>
          <p:cNvSpPr/>
          <p:nvPr/>
        </p:nvSpPr>
        <p:spPr>
          <a:xfrm>
            <a:off x="10610331" y="295122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10331" y="318897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pdSeparate decode ingress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377418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1193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Forced steady cost grows with position</a:t>
            </a:r>
          </a:p>
        </p:txBody>
      </p:sp>
      <p:sp>
        <p:nvSpPr>
          <p:cNvPr id="15" name="rule"/>
          <p:cNvSpPr/>
          <p:nvPr/>
        </p:nvSpPr>
        <p:spPr>
          <a:xfrm>
            <a:off x="6913961" y="377418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3961" y="401193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Measured + fit</a:t>
            </a:r>
          </a:p>
        </p:txBody>
      </p:sp>
      <p:sp>
        <p:nvSpPr>
          <p:cNvPr id="17" name="rule"/>
          <p:cNvSpPr/>
          <p:nvPr/>
        </p:nvSpPr>
        <p:spPr>
          <a:xfrm>
            <a:off x="10610331" y="377418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10331" y="401193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 E14 steady segments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459714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3489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A/B winner flips at 512→1024</a:t>
            </a:r>
          </a:p>
        </p:txBody>
      </p:sp>
      <p:sp>
        <p:nvSpPr>
          <p:cNvPr id="21" name="rule"/>
          <p:cNvSpPr/>
          <p:nvPr/>
        </p:nvSpPr>
        <p:spPr>
          <a:xfrm>
            <a:off x="6913961" y="459714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3961" y="483489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Direct measured</a:t>
            </a:r>
          </a:p>
        </p:txBody>
      </p:sp>
      <p:sp>
        <p:nvSpPr>
          <p:cNvPr id="23" name="rule"/>
          <p:cNvSpPr/>
          <p:nvPr/>
        </p:nvSpPr>
        <p:spPr>
          <a:xfrm>
            <a:off x="10610331" y="459714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10331" y="483489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Lnew=256 resume setting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42010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65785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Crossing moves with S and reload policy</a:t>
            </a:r>
          </a:p>
        </p:txBody>
      </p:sp>
      <p:sp>
        <p:nvSpPr>
          <p:cNvPr id="27" name="rule"/>
          <p:cNvSpPr/>
          <p:nvPr/>
        </p:nvSpPr>
        <p:spPr>
          <a:xfrm>
            <a:off x="6913961" y="542010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3961" y="565785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Model-derived</a:t>
            </a:r>
          </a:p>
        </p:txBody>
      </p:sp>
      <p:sp>
        <p:nvSpPr>
          <p:cNvPr id="29" name="rule"/>
          <p:cNvSpPr/>
          <p:nvPr/>
        </p:nvSpPr>
        <p:spPr>
          <a:xfrm>
            <a:off x="10610331" y="542010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10331" y="565785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Direct witnesses pending</a:t>
            </a:r>
          </a:p>
        </p:txBody>
      </p:sp>
      <p:sp>
        <p:nvSpPr>
          <p:cNvPr id="31" name="rule"/>
          <p:cNvSpPr/>
          <p:nvPr/>
        </p:nvSpPr>
        <p:spPr>
          <a:xfrm>
            <a:off x="987552" y="624306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648081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Current Lane C loses</a:t>
            </a:r>
          </a:p>
        </p:txBody>
      </p:sp>
      <p:sp>
        <p:nvSpPr>
          <p:cNvPr id="33" name="rule"/>
          <p:cNvSpPr/>
          <p:nvPr/>
        </p:nvSpPr>
        <p:spPr>
          <a:xfrm>
            <a:off x="6913961" y="624306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3961" y="648081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Screening</a:t>
            </a:r>
          </a:p>
        </p:txBody>
      </p:sp>
      <p:sp>
        <p:nvSpPr>
          <p:cNvPr id="35" name="rule"/>
          <p:cNvSpPr/>
          <p:nvPr/>
        </p:nvSpPr>
        <p:spPr>
          <a:xfrm>
            <a:off x="10610331" y="624306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10331" y="648081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S6a path; exact port pending</a:t>
            </a:r>
          </a:p>
        </p:txBody>
      </p:sp>
      <p:sp>
        <p:nvSpPr>
          <p:cNvPr id="37" name="rule"/>
          <p:cNvSpPr/>
          <p:nvPr/>
        </p:nvSpPr>
        <p:spPr>
          <a:xfrm>
            <a:off x="987552" y="706602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7303770"/>
            <a:ext cx="573438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Full eviction round trip favors B</a:t>
            </a:r>
          </a:p>
        </p:txBody>
      </p:sp>
      <p:sp>
        <p:nvSpPr>
          <p:cNvPr id="39" name="rule"/>
          <p:cNvSpPr/>
          <p:nvPr/>
        </p:nvSpPr>
        <p:spPr>
          <a:xfrm>
            <a:off x="6913961" y="706602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13961" y="7303770"/>
            <a:ext cx="350434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Unknown</a:t>
            </a:r>
          </a:p>
        </p:txBody>
      </p:sp>
      <p:sp>
        <p:nvSpPr>
          <p:cNvPr id="41" name="rule"/>
          <p:cNvSpPr/>
          <p:nvPr/>
        </p:nvSpPr>
        <p:spPr>
          <a:xfrm>
            <a:off x="10610331" y="706602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10331" y="7303770"/>
            <a:ext cx="669011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Decode egress E13 missing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NEXT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Only run experiments that can change the decision</a:t>
            </a:r>
          </a:p>
        </p:txBody>
      </p:sp>
      <p:sp>
        <p:nvSpPr>
          <p:cNvPr id="4" name="rule"/>
          <p:cNvSpPr/>
          <p:nvPr/>
        </p:nvSpPr>
        <p:spPr>
          <a:xfrm>
            <a:off x="987552" y="248488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740913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04337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Add a same-PE first-Z timestamp; separate readiness from first-token fill.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316986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573018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36441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Sweep F={1,16,32,64,128,256}, alternate order, and obtain n=2.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149089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05122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6854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Directly witness S=1024 and S=4096 boundary neighborhoods.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4981194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37226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E12a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00650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Port to exact pdSeparate only if final confirmation is required.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5813298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6069330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32754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Decide whether full eviction round-trip latency is required for the policy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