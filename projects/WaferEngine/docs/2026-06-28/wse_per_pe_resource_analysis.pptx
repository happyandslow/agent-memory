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>
        <p:scale>
          <a:sx n="111" d="100"/>
          <a:sy n="111" d="100"/>
        </p:scale>
        <p:origin x="176" y="3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A5F"/>
                </a:solidFill>
              </a:defRPr>
            </a:pPr>
            <a:r>
              <a:t>Serving an LLM on a Wafer: a per-PE resource X-ray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qwen3-1.7B on a real Cerebras WSE-3 (CS-3)  ·  memory &amp; fabric-color analysis  ·  2026-06-28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this is hard: no shared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 GPU has one big shared memory (HBM). A Cerebras wafer is ~900,000 tiny cores (PEs), each with its own tiny 48 KB of memory — nothing shared.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 run an LLM you must REPLICATE the program on every core and SPLIT the weights across them.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each core has very little room left for the KV cache (the running context) — which caps the sequence length.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Two scarce per-core resources: (1) 48 KB SRAM, and (2) 24 'colors' — the fabric communication channels.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Question: what does ONE core actually hold and use? We built a tool to find out, and ran it on real silicon.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Method: X-ray every PE on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Compile each kernel (decode &amp; prefill) on a real CS-3, for the full 762x1172 fabric.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Read each PE's memory map (cs-readelf) + the compiled binaries, and classify every byte: code / weights / KV cache / activations / system / free.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Covered all ~329,000 placed PEs — but the result is really PER-ROLE (every PE of the same role is identical), so it's a fast static analysis.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Also analyzed fabric-COLOR usage per microstep from the kernel source.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Tool: tools/pe_mem_breakdown/  (28 tests, reconciles to the byte).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1: code eats half of every core</a:t>
            </a:r>
          </a:p>
        </p:txBody>
      </p:sp>
      <p:pic>
        <p:nvPicPr>
          <p:cNvPr id="4" name="Picture 3" descr="decode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53142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Each compute PE: ~22 KB CODE + ~11 KB weights.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CODE = the full transformer-layer program, copied onto every one of ~65,000 compute cores.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KV cache is tiny (&lt;0.3 KB) — it gets only the leftover ~11 KB.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ht_head/ht_tail cores are weight-bound (embedding / output table).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Where the blocks live on the wafer</a:t>
            </a:r>
          </a:p>
        </p:txBody>
      </p:sp>
      <p:pic>
        <p:nvPicPr>
          <p:cNvPr id="4" name="Picture 3" descr="decode_place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70" y="978408"/>
            <a:ext cx="7900910" cy="58937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The kernel is laid out as functional blocks on the 2-D grid.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Big area = the 2x2 compute blocks (the transformer layers).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Thin left band = embedding (ht_head) + output/sampling (ht_tail).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We can map any metric (code, weights, KV, free...) to its (x,y) coordinate as a heatmap.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402CF8F-4979-2558-0592-4A9BE0065116}"/>
              </a:ext>
            </a:extLst>
          </p:cNvPr>
          <p:cNvSpPr/>
          <p:nvPr/>
        </p:nvSpPr>
        <p:spPr>
          <a:xfrm>
            <a:off x="1259489" y="1075038"/>
            <a:ext cx="6302846" cy="5708821"/>
          </a:xfrm>
          <a:custGeom>
            <a:avLst/>
            <a:gdLst>
              <a:gd name="connsiteX0" fmla="*/ 198608 w 6476060"/>
              <a:gd name="connsiteY0" fmla="*/ 5708821 h 5708821"/>
              <a:gd name="connsiteX1" fmla="*/ 210965 w 6476060"/>
              <a:gd name="connsiteY1" fmla="*/ 4955059 h 5708821"/>
              <a:gd name="connsiteX2" fmla="*/ 2361041 w 6476060"/>
              <a:gd name="connsiteY2" fmla="*/ 4769708 h 5708821"/>
              <a:gd name="connsiteX3" fmla="*/ 5017743 w 6476060"/>
              <a:gd name="connsiteY3" fmla="*/ 4769708 h 5708821"/>
              <a:gd name="connsiteX4" fmla="*/ 6302846 w 6476060"/>
              <a:gd name="connsiteY4" fmla="*/ 4324865 h 5708821"/>
              <a:gd name="connsiteX5" fmla="*/ 6302846 w 6476060"/>
              <a:gd name="connsiteY5" fmla="*/ 1470454 h 5708821"/>
              <a:gd name="connsiteX6" fmla="*/ 4820035 w 6476060"/>
              <a:gd name="connsiteY6" fmla="*/ 951470 h 5708821"/>
              <a:gd name="connsiteX7" fmla="*/ 1916197 w 6476060"/>
              <a:gd name="connsiteY7" fmla="*/ 1000897 h 5708821"/>
              <a:gd name="connsiteX8" fmla="*/ 272749 w 6476060"/>
              <a:gd name="connsiteY8" fmla="*/ 1099751 h 5708821"/>
              <a:gd name="connsiteX9" fmla="*/ 25614 w 6476060"/>
              <a:gd name="connsiteY9" fmla="*/ 0 h 5708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476060" h="5708821">
                <a:moveTo>
                  <a:pt x="198608" y="5708821"/>
                </a:moveTo>
                <a:cubicBezTo>
                  <a:pt x="24584" y="5410199"/>
                  <a:pt x="-149440" y="5111578"/>
                  <a:pt x="210965" y="4955059"/>
                </a:cubicBezTo>
                <a:cubicBezTo>
                  <a:pt x="571370" y="4798540"/>
                  <a:pt x="1559911" y="4800600"/>
                  <a:pt x="2361041" y="4769708"/>
                </a:cubicBezTo>
                <a:cubicBezTo>
                  <a:pt x="3162171" y="4738816"/>
                  <a:pt x="4360776" y="4843848"/>
                  <a:pt x="5017743" y="4769708"/>
                </a:cubicBezTo>
                <a:cubicBezTo>
                  <a:pt x="5674711" y="4695567"/>
                  <a:pt x="6088662" y="4874741"/>
                  <a:pt x="6302846" y="4324865"/>
                </a:cubicBezTo>
                <a:cubicBezTo>
                  <a:pt x="6517030" y="3774989"/>
                  <a:pt x="6549981" y="2032687"/>
                  <a:pt x="6302846" y="1470454"/>
                </a:cubicBezTo>
                <a:cubicBezTo>
                  <a:pt x="6055711" y="908221"/>
                  <a:pt x="5551143" y="1029729"/>
                  <a:pt x="4820035" y="951470"/>
                </a:cubicBezTo>
                <a:cubicBezTo>
                  <a:pt x="4088927" y="873211"/>
                  <a:pt x="2674078" y="976184"/>
                  <a:pt x="1916197" y="1000897"/>
                </a:cubicBezTo>
                <a:cubicBezTo>
                  <a:pt x="1158316" y="1025610"/>
                  <a:pt x="587846" y="1266567"/>
                  <a:pt x="272749" y="1099751"/>
                </a:cubicBezTo>
                <a:cubicBezTo>
                  <a:pt x="-42348" y="932935"/>
                  <a:pt x="-8367" y="466467"/>
                  <a:pt x="25614" y="0"/>
                </a:cubicBezTo>
              </a:path>
            </a:pathLst>
          </a:cu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Prefill: memory breakdown + op layout</a:t>
            </a:r>
          </a:p>
        </p:txBody>
      </p:sp>
      <p:pic>
        <p:nvPicPr>
          <p:cNvPr id="4" name="Picture 3" descr="prefill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65" y="1051560"/>
            <a:ext cx="5159829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36592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Per-role SRAM breakdown (48 KB ceiling)</a:t>
            </a:r>
          </a:p>
        </p:txBody>
      </p:sp>
      <p:pic>
        <p:nvPicPr>
          <p:cNvPr id="6" name="Picture 5" descr="prefill_placemen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310" y="1051560"/>
            <a:ext cx="4841923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5352" y="4736592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PE block placement: 2x2 prefill blocks + HT 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338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22222"/>
                </a:solidFill>
              </a:defRPr>
            </a:pPr>
            <a:r>
              <a:rPr dirty="0"/>
              <a:t>• Same shape as decode: ~23 KB CODE + ~11 KB weights per compute PE — but runs TIGHTER, ~82% full (~8 KB free vs </a:t>
            </a:r>
            <a:r>
              <a:rPr dirty="0" err="1"/>
              <a:t>decode's</a:t>
            </a:r>
            <a:r>
              <a:rPr dirty="0"/>
              <a:t> ~11 KB), because prefill carries the causal attention mask + larger </a:t>
            </a:r>
            <a:r>
              <a:rPr dirty="0" err="1"/>
              <a:t>MeshGEMM</a:t>
            </a:r>
            <a:r>
              <a:rPr dirty="0"/>
              <a:t> comm buffers.</a:t>
            </a:r>
          </a:p>
          <a:p>
            <a:pPr>
              <a:spcAft>
                <a:spcPts val="500"/>
              </a:spcAft>
              <a:defRPr sz="1300">
                <a:solidFill>
                  <a:srgbClr val="222222"/>
                </a:solidFill>
              </a:defRPr>
            </a:pPr>
            <a:r>
              <a:rPr dirty="0"/>
              <a:t>• Op layout: ONE prefill region split into 2x2 logical blocks (vs </a:t>
            </a:r>
            <a:r>
              <a:rPr dirty="0" err="1"/>
              <a:t>decode's</a:t>
            </a:r>
            <a:r>
              <a:rPr dirty="0"/>
              <a:t> two stacked block-rows); same thin HT band — </a:t>
            </a:r>
            <a:r>
              <a:rPr dirty="0" err="1"/>
              <a:t>ht_head</a:t>
            </a:r>
            <a:r>
              <a:rPr dirty="0"/>
              <a:t> embedding (~38 KB, weight-bound) + </a:t>
            </a:r>
            <a:r>
              <a:rPr dirty="0" err="1"/>
              <a:t>ht_tail</a:t>
            </a:r>
            <a:r>
              <a:rPr dirty="0"/>
              <a:t> </a:t>
            </a:r>
            <a:r>
              <a:rPr dirty="0" err="1"/>
              <a:t>lm_head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300">
                <a:solidFill>
                  <a:srgbClr val="222222"/>
                </a:solidFill>
              </a:defRPr>
            </a:pPr>
            <a:r>
              <a:rPr dirty="0"/>
              <a:t>• Same disaggregated-memory tax: the transformer-layer code is replicated on every compute core; KV is the squeezed residual.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6EDB7F3-E065-AEBE-218E-44DC31445BA1}"/>
              </a:ext>
            </a:extLst>
          </p:cNvPr>
          <p:cNvSpPr/>
          <p:nvPr/>
        </p:nvSpPr>
        <p:spPr>
          <a:xfrm>
            <a:off x="7014035" y="1013254"/>
            <a:ext cx="3605028" cy="3694670"/>
          </a:xfrm>
          <a:custGeom>
            <a:avLst/>
            <a:gdLst>
              <a:gd name="connsiteX0" fmla="*/ 140527 w 3605028"/>
              <a:gd name="connsiteY0" fmla="*/ 3694670 h 3694670"/>
              <a:gd name="connsiteX1" fmla="*/ 165241 w 3605028"/>
              <a:gd name="connsiteY1" fmla="*/ 3039762 h 3694670"/>
              <a:gd name="connsiteX2" fmla="*/ 1796333 w 3605028"/>
              <a:gd name="connsiteY2" fmla="*/ 2953265 h 3694670"/>
              <a:gd name="connsiteX3" fmla="*/ 3254430 w 3605028"/>
              <a:gd name="connsiteY3" fmla="*/ 2965622 h 3694670"/>
              <a:gd name="connsiteX4" fmla="*/ 3452138 w 3605028"/>
              <a:gd name="connsiteY4" fmla="*/ 790832 h 3694670"/>
              <a:gd name="connsiteX5" fmla="*/ 1326776 w 3605028"/>
              <a:gd name="connsiteY5" fmla="*/ 494270 h 3694670"/>
              <a:gd name="connsiteX6" fmla="*/ 251738 w 3605028"/>
              <a:gd name="connsiteY6" fmla="*/ 494270 h 3694670"/>
              <a:gd name="connsiteX7" fmla="*/ 91100 w 3605028"/>
              <a:gd name="connsiteY7" fmla="*/ 0 h 3694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05028" h="3694670">
                <a:moveTo>
                  <a:pt x="140527" y="3694670"/>
                </a:moveTo>
                <a:cubicBezTo>
                  <a:pt x="14900" y="3428999"/>
                  <a:pt x="-110727" y="3163329"/>
                  <a:pt x="165241" y="3039762"/>
                </a:cubicBezTo>
                <a:cubicBezTo>
                  <a:pt x="441209" y="2916194"/>
                  <a:pt x="1281468" y="2965622"/>
                  <a:pt x="1796333" y="2953265"/>
                </a:cubicBezTo>
                <a:cubicBezTo>
                  <a:pt x="2311198" y="2940908"/>
                  <a:pt x="2978463" y="3326027"/>
                  <a:pt x="3254430" y="2965622"/>
                </a:cubicBezTo>
                <a:cubicBezTo>
                  <a:pt x="3530397" y="2605217"/>
                  <a:pt x="3773414" y="1202724"/>
                  <a:pt x="3452138" y="790832"/>
                </a:cubicBezTo>
                <a:cubicBezTo>
                  <a:pt x="3130862" y="378940"/>
                  <a:pt x="1860176" y="543697"/>
                  <a:pt x="1326776" y="494270"/>
                </a:cubicBezTo>
                <a:cubicBezTo>
                  <a:pt x="793376" y="444843"/>
                  <a:pt x="457684" y="576648"/>
                  <a:pt x="251738" y="494270"/>
                </a:cubicBezTo>
                <a:cubicBezTo>
                  <a:pt x="45792" y="411892"/>
                  <a:pt x="68446" y="205946"/>
                  <a:pt x="91100" y="0"/>
                </a:cubicBezTo>
              </a:path>
            </a:pathLst>
          </a:custGeom>
          <a:noFill/>
          <a:ln w="22225">
            <a:solidFill>
              <a:srgbClr val="C00000"/>
            </a:solidFill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2: max context = 22,784 tokens (44x the default)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qwen3-1.7B is light, so the leftover ~11 KB is real headroom for KV.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We swept the sequence length on real hardware (compile + place):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PASS up to 22,784 tokens; FAILS (out of memory) at 23,040.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That's 44.5x the shipped default of 512.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KV costs ~0.44 bytes/token per core; the ~11 KB free fills until the last ~1 KB (needed for placement) is gone.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Caveat: this is the compile/fit ceiling, for one request (batch size 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3: 'colors' are the other scarce resource</a:t>
            </a:r>
          </a:p>
        </p:txBody>
      </p:sp>
      <p:pic>
        <p:nvPicPr>
          <p:cNvPr id="4" name="Picture 3" descr="decode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28004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24 fabric 'colors' = communication channels. We mapped which are used in each microstep.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DECODE uses only 8/24 on a compute core...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...because it REUSES 5 channels, repainting their routes 6x per layer (Y / X / band = the reduce direction).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Local steps (RoPE, residuals) use no fabric at 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decode &lt;-&gt; prefill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DECODE = color-frugal, reconfiguration-heavy: 8/24 colors; reuses 5 and repaints their routes every step.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PREFILL = color-hungry, reconfiguration-light: 17/24 colors.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Its matmuls use a systolic 'MeshGEMM' with 6 dedicated, statically-routed channels (never repainted mid-matmul).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the two kernels trade the SAME two resources differently: decode spends route-repaint time to save colors; prefill spends colors to save time.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Both fit comfortably — neither is color-bound today.</a:t>
            </a:r>
          </a:p>
        </p:txBody>
      </p:sp>
      <p:pic>
        <p:nvPicPr>
          <p:cNvPr id="5" name="Picture 4" descr="prefill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43000"/>
            <a:ext cx="5760720" cy="429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555"/>
                </a:solidFill>
              </a:defRPr>
            </a:pPr>
            <a:r>
              <a:t>Prefill: 17/24 colors (MeshGEMM-heavy)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Takeaways &amp; where to find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Observation</a:t>
            </a:r>
          </a:p>
          <a:p>
            <a:pPr marL="742950" lvl="1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Code/Program binary becomes major resource bottleneck</a:t>
            </a:r>
          </a:p>
          <a:p>
            <a:pPr marL="1200150" lvl="2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Shared memory for code/program + dynamic loading</a:t>
            </a:r>
          </a:p>
          <a:p>
            <a:pPr marL="1657350" lvl="3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Ship function/compute to parameters</a:t>
            </a:r>
          </a:p>
          <a:p>
            <a:pPr marL="1200150" lvl="2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Disaggregated operator placement/True dataflow model</a:t>
            </a:r>
          </a:p>
          <a:p>
            <a:pPr marL="1657350" lvl="3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Probably needs storage space (intermediate PEs) to absorb bubbles?</a:t>
            </a:r>
          </a:p>
          <a:p>
            <a:pPr marL="742950" lvl="1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The position of optimize for KV cache needs to be evaluated</a:t>
            </a:r>
          </a:p>
          <a:p>
            <a:pPr marL="1200150" lvl="2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Store KV in limited SRAM vs. ultra-fast recompute</a:t>
            </a:r>
          </a:p>
          <a:p>
            <a:pPr marL="1200150" lvl="2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lang="en-US" dirty="0"/>
              <a:t>Probably still a must if we build a service and support for many requests (needs </a:t>
            </a:r>
            <a:r>
              <a:rPr lang="en-US"/>
              <a:t>KV re-use)</a:t>
            </a:r>
          </a:p>
          <a:p>
            <a:pPr marL="1200150" lvl="2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endParaRPr lang="en-US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endParaRPr lang="en-US" dirty="0"/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222222"/>
                </a:solidFill>
              </a:defRPr>
            </a:pPr>
            <a:r>
              <a:rPr dirty="0"/>
              <a:t>Traceable: branch  </a:t>
            </a:r>
            <a:r>
              <a:rPr dirty="0" err="1"/>
              <a:t>lexu</a:t>
            </a:r>
            <a:r>
              <a:rPr dirty="0"/>
              <a:t>/pe-mem-breakdown   (</a:t>
            </a:r>
            <a:r>
              <a:rPr dirty="0" err="1"/>
              <a:t>WaferEngine</a:t>
            </a:r>
            <a:r>
              <a:rPr dirty="0"/>
              <a:t> repo).</a:t>
            </a:r>
          </a:p>
          <a:p>
            <a:pPr marL="742950" lvl="1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555555"/>
                </a:solidFill>
              </a:defRPr>
            </a:pPr>
            <a:r>
              <a:rPr dirty="0"/>
              <a:t>tool + plots: tools/</a:t>
            </a:r>
            <a:r>
              <a:rPr dirty="0" err="1"/>
              <a:t>pe_mem_breakdown</a:t>
            </a:r>
            <a:r>
              <a:rPr dirty="0"/>
              <a:t>/   ·   results/{</a:t>
            </a:r>
            <a:r>
              <a:rPr dirty="0" err="1"/>
              <a:t>decode,prefill</a:t>
            </a:r>
            <a:r>
              <a:rPr dirty="0"/>
              <a:t>}/</a:t>
            </a:r>
          </a:p>
          <a:p>
            <a:pPr marL="742950" lvl="1" indent="-285750">
              <a:spcAft>
                <a:spcPts val="700"/>
              </a:spcAft>
              <a:buFont typeface="Arial" panose="020B0604020202020204" pitchFamily="34" charset="0"/>
              <a:buChar char="•"/>
              <a:defRPr sz="1500">
                <a:solidFill>
                  <a:srgbClr val="555555"/>
                </a:solidFill>
              </a:defRPr>
            </a:pPr>
            <a:r>
              <a:rPr dirty="0"/>
              <a:t>key commits: 33ecf27 (heatmaps), 023cf1d (seq-</a:t>
            </a:r>
            <a:r>
              <a:rPr dirty="0" err="1"/>
              <a:t>len</a:t>
            </a:r>
            <a:r>
              <a:rPr dirty="0"/>
              <a:t> probe), 0869200 (color map).</a:t>
            </a:r>
            <a:endParaRPr lang="en-US" dirty="0"/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1015</Words>
  <Application>Microsoft Macintosh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 Xu</cp:lastModifiedBy>
  <cp:revision>4</cp:revision>
  <dcterms:created xsi:type="dcterms:W3CDTF">2013-01-27T09:14:16Z</dcterms:created>
  <dcterms:modified xsi:type="dcterms:W3CDTF">2026-06-29T08:13:37Z</dcterms:modified>
  <cp:category/>
</cp:coreProperties>
</file>