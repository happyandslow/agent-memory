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 id="274" r:id="rId2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079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Last week's deck covered S6a on real silicon. This week: force-decode lands, S6 closes, and M1 is planned.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M0's transport half stays blocked on the CS-3 cluster being down; M1 runs in simulation and does not wait for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two device sweeps completed on 21 July, one day after last week's deck. The two reversals: the device now gets one slot per lane rather than a single slot number, because eviction victims are not contiguous across lanes; and per-slot lengths stay on the host rather than being counted on the device.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key point: a second turn no longer has to re-read the first turn from token 0.</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16,384 column completed this week. Every reuse round was byte-identical to the cold round. Saving is sub-linear because a reused prefix is always the cheapest part of the prompt: the last chunk costs about 7x the first.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control row is the point: when both arms run the same number of steps, retain is 0.02% slower. Its whole value is that steps already taken are not taken again. So the saving tracks the fraction of decode steps skipped, not the sequence length.</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Both effects are real, but they are not the same size. The next slide shows the measurement that separates them.</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Left: if the saving were skipped work, the ratio would climb toward 100% as the context grows and attention dwarfs the skipped stage. It does not move. Right: holding the model fixed and spreading it over more blocks tracks the predicted ratio at all three points.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Batch is a scheduling subset of the slots, not a storage axis. A slot-by-batch grid would over-allocate.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S1 passed two gates in simulation: bit-identical to the pre-change build over 48 records, and bit-identical again with four slots and the active set mapped to slots 3 and 0, with the unused slots still exactly zero. Capacity is not exercised at this geometry. The code is still uncommitted in the working tree.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Paging would chop the attention inner loop into roughly 16 short pieces at 256 tokens and 16-token pages, which is why M1 does not start there.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3355848"/>
            <a:ext cx="16312896" cy="301752"/>
          </a:xfrm>
          <a:prstGeom prst="rect">
            <a:avLst/>
          </a:prstGeom>
          <a:noFill/>
        </p:spPr>
        <p:txBody>
          <a:bodyPr wrap="square" lIns="0" rIns="0" tIns="0" bIns="0" anchor="t">
            <a:spAutoFit/>
          </a:bodyPr>
          <a:lstStyle/>
          <a:p>
            <a:pPr algn="l">
              <a:lnSpc>
                <a:spcPct val="132000"/>
              </a:lnSpc>
            </a:pPr>
            <a:r>
              <a:rPr sz="1800" b="0" u="none" i="0" spc="150">
                <a:solidFill>
                  <a:srgbClr val="6D28D9"/>
                </a:solidFill>
                <a:latin typeface="Arial"/>
              </a:rPr>
              <a:t>WEEKLY UPDATE</a:t>
            </a:r>
          </a:p>
        </p:txBody>
      </p:sp>
      <p:sp>
        <p:nvSpPr>
          <p:cNvPr id="5" name="TextBox 4"/>
          <p:cNvSpPr txBox="1"/>
          <p:nvPr/>
        </p:nvSpPr>
        <p:spPr>
          <a:xfrm>
            <a:off x="987552" y="4005072"/>
            <a:ext cx="16312896" cy="2221992"/>
          </a:xfrm>
          <a:prstGeom prst="rect">
            <a:avLst/>
          </a:prstGeom>
          <a:noFill/>
        </p:spPr>
        <p:txBody>
          <a:bodyPr wrap="square" lIns="0" rIns="0" tIns="0" bIns="0" anchor="t">
            <a:spAutoFit/>
          </a:bodyPr>
          <a:lstStyle/>
          <a:p>
            <a:pPr algn="l">
              <a:lnSpc>
                <a:spcPct val="108000"/>
              </a:lnSpc>
            </a:pPr>
            <a:r>
              <a:rPr sz="8100" b="1" u="none" i="0">
                <a:solidFill>
                  <a:srgbClr val="18181B"/>
                </a:solidFill>
                <a:latin typeface="Arial"/>
              </a:rPr>
              <a:t>KV reuse inside one card now works end to end</a:t>
            </a:r>
          </a:p>
        </p:txBody>
      </p:sp>
      <p:sp>
        <p:nvSpPr>
          <p:cNvPr id="6" name="TextBox 5"/>
          <p:cNvSpPr txBox="1"/>
          <p:nvPr/>
        </p:nvSpPr>
        <p:spPr>
          <a:xfrm>
            <a:off x="987552" y="6519672"/>
            <a:ext cx="123444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S6 closes M0's reuse line. Force-decode turns out to be 8.5x cheaper on the wafer, for a reason we had wrong.</a:t>
            </a:r>
          </a:p>
        </p:txBody>
      </p:sp>
      <p:sp>
        <p:nvSpPr>
          <p:cNvPr id="7" name="rule"/>
          <p:cNvSpPr/>
          <p:nvPr/>
        </p:nvSpPr>
        <p:spPr>
          <a:xfrm>
            <a:off x="987552" y="8485632"/>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8796528"/>
            <a:ext cx="1345168"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OWNER</a:t>
            </a:r>
          </a:p>
        </p:txBody>
      </p:sp>
      <p:sp>
        <p:nvSpPr>
          <p:cNvPr id="9" name="TextBox 8"/>
          <p:cNvSpPr txBox="1"/>
          <p:nvPr/>
        </p:nvSpPr>
        <p:spPr>
          <a:xfrm>
            <a:off x="987552" y="9125712"/>
            <a:ext cx="13451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Le Xu</a:t>
            </a:r>
          </a:p>
        </p:txBody>
      </p:sp>
      <p:sp>
        <p:nvSpPr>
          <p:cNvPr id="10" name="TextBox 9"/>
          <p:cNvSpPr txBox="1"/>
          <p:nvPr/>
        </p:nvSpPr>
        <p:spPr>
          <a:xfrm>
            <a:off x="2332720" y="8796528"/>
            <a:ext cx="2887027"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PERIOD</a:t>
            </a:r>
          </a:p>
        </p:txBody>
      </p:sp>
      <p:sp>
        <p:nvSpPr>
          <p:cNvPr id="11" name="TextBox 10"/>
          <p:cNvSpPr txBox="1"/>
          <p:nvPr/>
        </p:nvSpPr>
        <p:spPr>
          <a:xfrm>
            <a:off x="2332720" y="9125712"/>
            <a:ext cx="288702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20 - 26 July 2026</a:t>
            </a:r>
          </a:p>
        </p:txBody>
      </p:sp>
      <p:sp>
        <p:nvSpPr>
          <p:cNvPr id="12" name="TextBox 11"/>
          <p:cNvSpPr txBox="1"/>
          <p:nvPr/>
        </p:nvSpPr>
        <p:spPr>
          <a:xfrm>
            <a:off x="5219747" y="8796528"/>
            <a:ext cx="4343757"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FOCUS</a:t>
            </a:r>
          </a:p>
        </p:txBody>
      </p:sp>
      <p:sp>
        <p:nvSpPr>
          <p:cNvPr id="13" name="TextBox 12"/>
          <p:cNvSpPr txBox="1"/>
          <p:nvPr/>
        </p:nvSpPr>
        <p:spPr>
          <a:xfrm>
            <a:off x="5219747" y="9125712"/>
            <a:ext cx="43437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M0 closes Line 1, M1 opens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ROADMAP</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Where we are</a:t>
            </a:r>
          </a:p>
        </p:txBody>
      </p:sp>
      <p:sp>
        <p:nvSpPr>
          <p:cNvPr id="4" name="rule"/>
          <p:cNvSpPr/>
          <p:nvPr/>
        </p:nvSpPr>
        <p:spPr>
          <a:xfrm>
            <a:off x="1280160" y="2585465"/>
            <a:ext cx="13324636" cy="18288"/>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ot"/>
          <p:cNvSpPr/>
          <p:nvPr/>
        </p:nvSpPr>
        <p:spPr>
          <a:xfrm>
            <a:off x="987552" y="2484882"/>
            <a:ext cx="228600" cy="22860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DONE</a:t>
            </a:r>
          </a:p>
        </p:txBody>
      </p:sp>
      <p:sp>
        <p:nvSpPr>
          <p:cNvPr id="7" name="TextBox 6"/>
          <p:cNvSpPr txBox="1"/>
          <p:nvPr/>
        </p:nvSpPr>
        <p:spPr>
          <a:xfrm>
            <a:off x="987552"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M0, Line 1</a:t>
            </a:r>
          </a:p>
        </p:txBody>
      </p:sp>
      <p:sp>
        <p:nvSpPr>
          <p:cNvPr id="8" name="TextBox 7"/>
          <p:cNvSpPr txBox="1"/>
          <p:nvPr/>
        </p:nvSpPr>
        <p:spPr>
          <a:xfrm>
            <a:off x="987552"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PE-internal KV reuse: retain and force-decode</a:t>
            </a:r>
          </a:p>
        </p:txBody>
      </p:sp>
      <p:sp>
        <p:nvSpPr>
          <p:cNvPr id="9" name="dot"/>
          <p:cNvSpPr/>
          <p:nvPr/>
        </p:nvSpPr>
        <p:spPr>
          <a:xfrm>
            <a:off x="4250131"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0131"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PARKED</a:t>
            </a:r>
          </a:p>
        </p:txBody>
      </p:sp>
      <p:sp>
        <p:nvSpPr>
          <p:cNvPr id="11" name="TextBox 10"/>
          <p:cNvSpPr txBox="1"/>
          <p:nvPr/>
        </p:nvSpPr>
        <p:spPr>
          <a:xfrm>
            <a:off x="4250131"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M0, Line 2</a:t>
            </a:r>
          </a:p>
        </p:txBody>
      </p:sp>
      <p:sp>
        <p:nvSpPr>
          <p:cNvPr id="12" name="TextBox 11"/>
          <p:cNvSpPr txBox="1"/>
          <p:nvPr/>
        </p:nvSpPr>
        <p:spPr>
          <a:xfrm>
            <a:off x="4250131" y="4139946"/>
            <a:ext cx="289681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KV transport, still to build</a:t>
            </a:r>
          </a:p>
        </p:txBody>
      </p:sp>
      <p:sp>
        <p:nvSpPr>
          <p:cNvPr id="13" name="dot"/>
          <p:cNvSpPr/>
          <p:nvPr/>
        </p:nvSpPr>
        <p:spPr>
          <a:xfrm>
            <a:off x="7512710"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12710"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NOW</a:t>
            </a:r>
          </a:p>
        </p:txBody>
      </p:sp>
      <p:sp>
        <p:nvSpPr>
          <p:cNvPr id="15" name="TextBox 14"/>
          <p:cNvSpPr txBox="1"/>
          <p:nvPr/>
        </p:nvSpPr>
        <p:spPr>
          <a:xfrm>
            <a:off x="7512710"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M1</a:t>
            </a:r>
          </a:p>
        </p:txBody>
      </p:sp>
      <p:sp>
        <p:nvSpPr>
          <p:cNvPr id="16" name="TextBox 15"/>
          <p:cNvSpPr txBox="1"/>
          <p:nvPr/>
        </p:nvSpPr>
        <p:spPr>
          <a:xfrm>
            <a:off x="7512710"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Several requests resident in one card</a:t>
            </a:r>
          </a:p>
        </p:txBody>
      </p:sp>
      <p:sp>
        <p:nvSpPr>
          <p:cNvPr id="17" name="dot"/>
          <p:cNvSpPr/>
          <p:nvPr/>
        </p:nvSpPr>
        <p:spPr>
          <a:xfrm>
            <a:off x="10775289"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75289"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NEXT</a:t>
            </a:r>
          </a:p>
        </p:txBody>
      </p:sp>
      <p:sp>
        <p:nvSpPr>
          <p:cNvPr id="19" name="TextBox 18"/>
          <p:cNvSpPr txBox="1"/>
          <p:nvPr/>
        </p:nvSpPr>
        <p:spPr>
          <a:xfrm>
            <a:off x="10775289"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M2</a:t>
            </a:r>
          </a:p>
        </p:txBody>
      </p:sp>
      <p:sp>
        <p:nvSpPr>
          <p:cNvPr id="20" name="TextBox 19"/>
          <p:cNvSpPr txBox="1"/>
          <p:nvPr/>
        </p:nvSpPr>
        <p:spPr>
          <a:xfrm>
            <a:off x="10775289"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Reuse architecture, settled by benchmark</a:t>
            </a:r>
          </a:p>
        </p:txBody>
      </p:sp>
      <p:sp>
        <p:nvSpPr>
          <p:cNvPr id="21" name="dot"/>
          <p:cNvSpPr/>
          <p:nvPr/>
        </p:nvSpPr>
        <p:spPr>
          <a:xfrm>
            <a:off x="14037868"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037868"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LATER</a:t>
            </a:r>
          </a:p>
        </p:txBody>
      </p:sp>
      <p:sp>
        <p:nvSpPr>
          <p:cNvPr id="23" name="TextBox 22"/>
          <p:cNvSpPr txBox="1"/>
          <p:nvPr/>
        </p:nvSpPr>
        <p:spPr>
          <a:xfrm>
            <a:off x="14037868"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M3 - M6</a:t>
            </a:r>
          </a:p>
        </p:txBody>
      </p:sp>
      <p:sp>
        <p:nvSpPr>
          <p:cNvPr id="24" name="TextBox 23"/>
          <p:cNvSpPr txBox="1"/>
          <p:nvPr/>
        </p:nvSpPr>
        <p:spPr>
          <a:xfrm>
            <a:off x="14037868"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Idle-PE tier, off-chip pool, policy, scenarios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PROGRESS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Since last week</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Force-decode was re-measured on the wafer and the conclusion reversed: the win is layer overlap, not skipped work.</a:t>
            </a:r>
          </a:p>
        </p:txBody>
      </p:sp>
      <p:sp>
        <p:nvSpPr>
          <p:cNvPr id="6" name="dot"/>
          <p:cNvSpPr/>
          <p:nvPr/>
        </p:nvSpPr>
        <p:spPr>
          <a:xfrm>
            <a:off x="987552" y="332612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198113"/>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forced token costs about 12% of a plain one, roughly 8.5 times cheaper, and that holds across a 15x context range.</a:t>
            </a:r>
          </a:p>
        </p:txBody>
      </p:sp>
      <p:sp>
        <p:nvSpPr>
          <p:cNvPr id="8" name="dot"/>
          <p:cNvSpPr/>
          <p:nvPr/>
        </p:nvSpPr>
        <p:spPr>
          <a:xfrm>
            <a:off x="987552" y="4039361"/>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3911346"/>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S6b merged, which closes S6, so M0's reuse line is complete on a single branch.</a:t>
            </a:r>
          </a:p>
        </p:txBody>
      </p:sp>
      <p:sp>
        <p:nvSpPr>
          <p:cNvPr id="10" name="dot"/>
          <p:cNvSpPr/>
          <p:nvPr/>
        </p:nvSpPr>
        <p:spPr>
          <a:xfrm>
            <a:off x="987552" y="4752594"/>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4624578"/>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Two more device sweeps landed: prefill at a 16,384-token prompt and decode at a 4,096-token context.</a:t>
            </a:r>
          </a:p>
        </p:txBody>
      </p:sp>
      <p:sp>
        <p:nvSpPr>
          <p:cNvPr id="12" name="dot"/>
          <p:cNvSpPr/>
          <p:nvPr/>
        </p:nvSpPr>
        <p:spPr>
          <a:xfrm>
            <a:off x="987552" y="5465826"/>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53312" y="5337810"/>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M1's slot contract was approved and its first subtask is already built and verified in simulation.</a:t>
            </a:r>
          </a:p>
        </p:txBody>
      </p:sp>
      <p:sp>
        <p:nvSpPr>
          <p:cNvPr id="14" name="dot"/>
          <p:cNvSpPr/>
          <p:nvPr/>
        </p:nvSpPr>
        <p:spPr>
          <a:xfrm>
            <a:off x="987552" y="617905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53312" y="6051042"/>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M2 grew from a single cost model into a cluster of coupled architecture questions.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01</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now works</a:t>
            </a:r>
          </a:p>
        </p:txBody>
      </p:sp>
      <p:sp>
        <p:nvSpPr>
          <p:cNvPr id="4" name="TextBox 3"/>
          <p:cNvSpPr txBox="1"/>
          <p:nvPr/>
        </p:nvSpPr>
        <p:spPr>
          <a:xfrm>
            <a:off x="987552" y="6099048"/>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Three mechanisms, one branch.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THE IDEA</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Reuse what is already there, and force-decode only the new text</a:t>
            </a:r>
          </a:p>
        </p:txBody>
      </p:sp>
      <p:pic>
        <p:nvPicPr>
          <p:cNvPr id="4" name="figure" descr="fig_forcedecode.png"/>
          <p:cNvPicPr>
            <a:picLocks noChangeAspect="1"/>
          </p:cNvPicPr>
          <p:nvPr/>
        </p:nvPicPr>
        <p:blipFill>
          <a:blip r:embed="rId2"/>
          <a:stretch>
            <a:fillRect/>
          </a:stretch>
        </p:blipFill>
        <p:spPr>
          <a:xfrm>
            <a:off x="1974738" y="2484882"/>
            <a:ext cx="14338523" cy="5271516"/>
          </a:xfrm>
          <a:prstGeom prst="rect">
            <a:avLst/>
          </a:prstGeom>
        </p:spPr>
      </p:pic>
      <p:sp>
        <p:nvSpPr>
          <p:cNvPr id="5" name="TextBox 4"/>
          <p:cNvSpPr txBox="1"/>
          <p:nvPr/>
        </p:nvSpPr>
        <p:spPr>
          <a:xfrm>
            <a:off x="987552" y="8030718"/>
            <a:ext cx="1631289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Force-decode runs ordinary decode steps, but the host supplies the token instead of the model sampling one, so the sampling work is skipped.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CAPABILITY</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is supported today</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keeps its KV across rounds and extends it, rather than rewinding to zero. Correctness checked in simulation, cost measured on the wafer.</a:t>
            </a:r>
          </a:p>
        </p:txBody>
      </p:sp>
      <p:sp>
        <p:nvSpPr>
          <p:cNvPr id="6" name="dot"/>
          <p:cNvSpPr/>
          <p:nvPr/>
        </p:nvSpPr>
        <p:spPr>
          <a:xfrm>
            <a:off x="987552" y="3728465"/>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600450"/>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Prefill can start from a resident prefix instead of token 0, and its output is byte-identical to a cold run, both in simulation and on the wafer.</a:t>
            </a:r>
          </a:p>
        </p:txBody>
      </p:sp>
      <p:sp>
        <p:nvSpPr>
          <p:cNvPr id="8" name="dot"/>
          <p:cNvSpPr/>
          <p:nvPr/>
        </p:nvSpPr>
        <p:spPr>
          <a:xfrm>
            <a:off x="987552" y="4844033"/>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4716018"/>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New text can be appended to a kept context by force-decoding it. Correctness checked in simulation; speed now measured on the wafer.</a:t>
            </a:r>
          </a:p>
        </p:txBody>
      </p:sp>
      <p:sp>
        <p:nvSpPr>
          <p:cNvPr id="10" name="dot"/>
          <p:cNvSpPr/>
          <p:nvPr/>
        </p:nvSpPr>
        <p:spPr>
          <a:xfrm>
            <a:off x="987552" y="5959601"/>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5831586"/>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Still one resident request per bank. Holding several at once is exactly what M1 adds.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02</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we measured</a:t>
            </a:r>
          </a:p>
        </p:txBody>
      </p:sp>
      <p:sp>
        <p:nvSpPr>
          <p:cNvPr id="4" name="TextBox 3"/>
          <p:cNvSpPr txBox="1"/>
          <p:nvPr/>
        </p:nvSpPr>
        <p:spPr>
          <a:xfrm>
            <a:off x="987552" y="6099048"/>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Three sweeps on real silicon, and a conclusion we had to reverse.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PREFILL, REAL WSE-3</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reuse fraction dominates; length only nudges it</a:t>
            </a:r>
          </a:p>
        </p:txBody>
      </p:sp>
      <p:sp>
        <p:nvSpPr>
          <p:cNvPr id="4" name="TextBox 3"/>
          <p:cNvSpPr txBox="1"/>
          <p:nvPr/>
        </p:nvSpPr>
        <p:spPr>
          <a:xfrm>
            <a:off x="987552" y="2210562"/>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Time saved by starting from a resident prefix. 524,288 PEs, one run per point.</a:t>
            </a:r>
          </a:p>
        </p:txBody>
      </p:sp>
      <p:sp>
        <p:nvSpPr>
          <p:cNvPr id="5" name="TextBox 4"/>
          <p:cNvSpPr txBox="1"/>
          <p:nvPr/>
        </p:nvSpPr>
        <p:spPr>
          <a:xfrm>
            <a:off x="987552" y="3070098"/>
            <a:ext cx="36597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PREFIX REUSED</a:t>
            </a:r>
          </a:p>
        </p:txBody>
      </p:sp>
      <p:sp>
        <p:nvSpPr>
          <p:cNvPr id="6" name="TextBox 5"/>
          <p:cNvSpPr txBox="1"/>
          <p:nvPr/>
        </p:nvSpPr>
        <p:spPr>
          <a:xfrm>
            <a:off x="4839302" y="3070098"/>
            <a:ext cx="43916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8,192-TOKEN PROMPT</a:t>
            </a:r>
          </a:p>
        </p:txBody>
      </p:sp>
      <p:sp>
        <p:nvSpPr>
          <p:cNvPr id="7" name="TextBox 6"/>
          <p:cNvSpPr txBox="1"/>
          <p:nvPr/>
        </p:nvSpPr>
        <p:spPr>
          <a:xfrm>
            <a:off x="9422998" y="3070098"/>
            <a:ext cx="43916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16,384-TOKEN PROMPT</a:t>
            </a:r>
          </a:p>
        </p:txBody>
      </p:sp>
      <p:sp>
        <p:nvSpPr>
          <p:cNvPr id="8" name="TextBox 7"/>
          <p:cNvSpPr txBox="1"/>
          <p:nvPr/>
        </p:nvSpPr>
        <p:spPr>
          <a:xfrm>
            <a:off x="14006694" y="3070098"/>
            <a:ext cx="32937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DIFFERENCE</a:t>
            </a:r>
          </a:p>
        </p:txBody>
      </p:sp>
      <p:sp>
        <p:nvSpPr>
          <p:cNvPr id="9" name="rule"/>
          <p:cNvSpPr/>
          <p:nvPr/>
        </p:nvSpPr>
        <p:spPr>
          <a:xfrm>
            <a:off x="987552" y="3536441"/>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774185"/>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none (cold)</a:t>
            </a:r>
          </a:p>
        </p:txBody>
      </p:sp>
      <p:sp>
        <p:nvSpPr>
          <p:cNvPr id="11" name="rule"/>
          <p:cNvSpPr/>
          <p:nvPr/>
        </p:nvSpPr>
        <p:spPr>
          <a:xfrm>
            <a:off x="4839302" y="3536441"/>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39302" y="3774185"/>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1,001 ms</a:t>
            </a:r>
          </a:p>
        </p:txBody>
      </p:sp>
      <p:sp>
        <p:nvSpPr>
          <p:cNvPr id="13" name="rule"/>
          <p:cNvSpPr/>
          <p:nvPr/>
        </p:nvSpPr>
        <p:spPr>
          <a:xfrm>
            <a:off x="9422998" y="3536441"/>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22998" y="3774185"/>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3,145 ms</a:t>
            </a:r>
          </a:p>
        </p:txBody>
      </p:sp>
      <p:sp>
        <p:nvSpPr>
          <p:cNvPr id="15" name="rule"/>
          <p:cNvSpPr/>
          <p:nvPr/>
        </p:nvSpPr>
        <p:spPr>
          <a:xfrm>
            <a:off x="14006694" y="3536441"/>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06694" y="3774185"/>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baseline</a:t>
            </a:r>
          </a:p>
        </p:txBody>
      </p:sp>
      <p:sp>
        <p:nvSpPr>
          <p:cNvPr id="17" name="rule"/>
          <p:cNvSpPr/>
          <p:nvPr/>
        </p:nvSpPr>
        <p:spPr>
          <a:xfrm>
            <a:off x="987552" y="435940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97146"/>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25 %</a:t>
            </a:r>
          </a:p>
        </p:txBody>
      </p:sp>
      <p:sp>
        <p:nvSpPr>
          <p:cNvPr id="19" name="rule"/>
          <p:cNvSpPr/>
          <p:nvPr/>
        </p:nvSpPr>
        <p:spPr>
          <a:xfrm>
            <a:off x="4839302" y="435940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39302" y="459714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-7.7 %</a:t>
            </a:r>
          </a:p>
        </p:txBody>
      </p:sp>
      <p:sp>
        <p:nvSpPr>
          <p:cNvPr id="21" name="rule"/>
          <p:cNvSpPr/>
          <p:nvPr/>
        </p:nvSpPr>
        <p:spPr>
          <a:xfrm>
            <a:off x="9422998" y="435940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22998" y="459714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-7.3 %</a:t>
            </a:r>
          </a:p>
        </p:txBody>
      </p:sp>
      <p:sp>
        <p:nvSpPr>
          <p:cNvPr id="23" name="rule"/>
          <p:cNvSpPr/>
          <p:nvPr/>
        </p:nvSpPr>
        <p:spPr>
          <a:xfrm>
            <a:off x="14006694" y="435940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006694" y="459714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-0.5</a:t>
            </a:r>
          </a:p>
        </p:txBody>
      </p:sp>
      <p:sp>
        <p:nvSpPr>
          <p:cNvPr id="25" name="rule"/>
          <p:cNvSpPr/>
          <p:nvPr/>
        </p:nvSpPr>
        <p:spPr>
          <a:xfrm>
            <a:off x="987552" y="518236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420106"/>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50 %</a:t>
            </a:r>
          </a:p>
        </p:txBody>
      </p:sp>
      <p:sp>
        <p:nvSpPr>
          <p:cNvPr id="27" name="rule"/>
          <p:cNvSpPr/>
          <p:nvPr/>
        </p:nvSpPr>
        <p:spPr>
          <a:xfrm>
            <a:off x="4839302" y="518236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39302" y="542010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-22.8 %</a:t>
            </a:r>
          </a:p>
        </p:txBody>
      </p:sp>
      <p:sp>
        <p:nvSpPr>
          <p:cNvPr id="29" name="rule"/>
          <p:cNvSpPr/>
          <p:nvPr/>
        </p:nvSpPr>
        <p:spPr>
          <a:xfrm>
            <a:off x="9422998" y="518236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22998" y="542010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-23.8 %</a:t>
            </a:r>
          </a:p>
        </p:txBody>
      </p:sp>
      <p:sp>
        <p:nvSpPr>
          <p:cNvPr id="31" name="rule"/>
          <p:cNvSpPr/>
          <p:nvPr/>
        </p:nvSpPr>
        <p:spPr>
          <a:xfrm>
            <a:off x="14006694" y="518236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06694" y="542010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a:t>
            </a:r>
          </a:p>
        </p:txBody>
      </p:sp>
      <p:sp>
        <p:nvSpPr>
          <p:cNvPr id="33" name="rule"/>
          <p:cNvSpPr/>
          <p:nvPr/>
        </p:nvSpPr>
        <p:spPr>
          <a:xfrm>
            <a:off x="987552" y="600532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243066"/>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75 %</a:t>
            </a:r>
          </a:p>
        </p:txBody>
      </p:sp>
      <p:sp>
        <p:nvSpPr>
          <p:cNvPr id="35" name="rule"/>
          <p:cNvSpPr/>
          <p:nvPr/>
        </p:nvSpPr>
        <p:spPr>
          <a:xfrm>
            <a:off x="4839302" y="600532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39302" y="624306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-45.2 %</a:t>
            </a:r>
          </a:p>
        </p:txBody>
      </p:sp>
      <p:sp>
        <p:nvSpPr>
          <p:cNvPr id="37" name="rule"/>
          <p:cNvSpPr/>
          <p:nvPr/>
        </p:nvSpPr>
        <p:spPr>
          <a:xfrm>
            <a:off x="9422998" y="600532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22998" y="624306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-49.8 %</a:t>
            </a:r>
          </a:p>
        </p:txBody>
      </p:sp>
      <p:sp>
        <p:nvSpPr>
          <p:cNvPr id="39" name="rule"/>
          <p:cNvSpPr/>
          <p:nvPr/>
        </p:nvSpPr>
        <p:spPr>
          <a:xfrm>
            <a:off x="14006694" y="600532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06694" y="624306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DECODE, REAL WSE-3</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Retain wins by skipping whole steps</a:t>
            </a:r>
          </a:p>
        </p:txBody>
      </p:sp>
      <p:sp>
        <p:nvSpPr>
          <p:cNvPr id="4" name="TextBox 3"/>
          <p:cNvSpPr txBox="1"/>
          <p:nvPr/>
        </p:nvSpPr>
        <p:spPr>
          <a:xfrm>
            <a:off x="987552" y="2484882"/>
            <a:ext cx="5487189" cy="1851660"/>
          </a:xfrm>
          <a:prstGeom prst="rect">
            <a:avLst/>
          </a:prstGeom>
          <a:noFill/>
        </p:spPr>
        <p:txBody>
          <a:bodyPr wrap="square" lIns="0" rIns="0" tIns="0" bIns="0" anchor="t">
            <a:spAutoFit/>
          </a:bodyPr>
          <a:lstStyle/>
          <a:p>
            <a:pPr algn="l">
              <a:lnSpc>
                <a:spcPct val="108000"/>
              </a:lnSpc>
            </a:pPr>
            <a:r>
              <a:rPr sz="13500" b="1" u="none" i="0">
                <a:solidFill>
                  <a:srgbClr val="6D28D9"/>
                </a:solidFill>
                <a:latin typeface="Arial"/>
              </a:rPr>
              <a:t>-49.3%</a:t>
            </a:r>
          </a:p>
        </p:txBody>
      </p:sp>
      <p:sp>
        <p:nvSpPr>
          <p:cNvPr id="5" name="TextBox 4"/>
          <p:cNvSpPr txBox="1"/>
          <p:nvPr/>
        </p:nvSpPr>
        <p:spPr>
          <a:xfrm>
            <a:off x="6977661" y="3008376"/>
            <a:ext cx="10322786"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second decode round at a 4,096-token context,
the point measured this week</a:t>
            </a:r>
          </a:p>
        </p:txBody>
      </p:sp>
      <p:sp>
        <p:nvSpPr>
          <p:cNvPr id="6" name="card"/>
          <p:cNvSpPr/>
          <p:nvPr/>
        </p:nvSpPr>
        <p:spPr>
          <a:xfrm>
            <a:off x="987552" y="4839462"/>
            <a:ext cx="5187696" cy="2148840"/>
          </a:xfrm>
          <a:prstGeom prst="roundRect">
            <a:avLst>
              <a:gd name="adj" fmla="val 6195"/>
            </a:avLst>
          </a:prstGeom>
          <a:solidFill>
            <a:srgbClr val="F2ED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5177790"/>
            <a:ext cx="4419600" cy="719328"/>
          </a:xfrm>
          <a:prstGeom prst="rect">
            <a:avLst/>
          </a:prstGeom>
          <a:noFill/>
        </p:spPr>
        <p:txBody>
          <a:bodyPr wrap="square" lIns="0" rIns="0" tIns="0" bIns="0" anchor="t">
            <a:spAutoFit/>
          </a:bodyPr>
          <a:lstStyle/>
          <a:p>
            <a:pPr algn="l">
              <a:lnSpc>
                <a:spcPct val="118000"/>
              </a:lnSpc>
            </a:pPr>
            <a:r>
              <a:rPr sz="4800" b="1" u="none" i="0">
                <a:solidFill>
                  <a:srgbClr val="6D28D9"/>
                </a:solidFill>
                <a:latin typeface="Arial"/>
              </a:rPr>
              <a:t>-51.4%</a:t>
            </a:r>
          </a:p>
        </p:txBody>
      </p:sp>
      <p:sp>
        <p:nvSpPr>
          <p:cNvPr id="8" name="TextBox 7"/>
          <p:cNvSpPr txBox="1"/>
          <p:nvPr/>
        </p:nvSpPr>
        <p:spPr>
          <a:xfrm>
            <a:off x="1371600" y="5991606"/>
            <a:ext cx="44196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Second round</a:t>
            </a:r>
          </a:p>
        </p:txBody>
      </p:sp>
      <p:sp>
        <p:nvSpPr>
          <p:cNvPr id="9" name="TextBox 8"/>
          <p:cNvSpPr txBox="1"/>
          <p:nvPr/>
        </p:nvSpPr>
        <p:spPr>
          <a:xfrm>
            <a:off x="1371600" y="6375654"/>
            <a:ext cx="441960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1,024-token context</a:t>
            </a:r>
          </a:p>
        </p:txBody>
      </p:sp>
      <p:sp>
        <p:nvSpPr>
          <p:cNvPr id="10" name="card"/>
          <p:cNvSpPr/>
          <p:nvPr/>
        </p:nvSpPr>
        <p:spPr>
          <a:xfrm>
            <a:off x="6550152" y="4839462"/>
            <a:ext cx="5187696" cy="2148840"/>
          </a:xfrm>
          <a:prstGeom prst="roundRect">
            <a:avLst>
              <a:gd name="adj" fmla="val 6195"/>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4200" y="5177790"/>
            <a:ext cx="4419600" cy="719328"/>
          </a:xfrm>
          <a:prstGeom prst="rect">
            <a:avLst/>
          </a:prstGeom>
          <a:noFill/>
        </p:spPr>
        <p:txBody>
          <a:bodyPr wrap="square" lIns="0" rIns="0" tIns="0" bIns="0" anchor="t">
            <a:spAutoFit/>
          </a:bodyPr>
          <a:lstStyle/>
          <a:p>
            <a:pPr algn="l">
              <a:lnSpc>
                <a:spcPct val="118000"/>
              </a:lnSpc>
            </a:pPr>
            <a:r>
              <a:rPr sz="4800" b="1" u="none" i="0">
                <a:solidFill>
                  <a:srgbClr val="1D4ED8"/>
                </a:solidFill>
                <a:latin typeface="Arial"/>
              </a:rPr>
              <a:t>-34.6%</a:t>
            </a:r>
          </a:p>
        </p:txBody>
      </p:sp>
      <p:sp>
        <p:nvSpPr>
          <p:cNvPr id="12" name="TextBox 11"/>
          <p:cNvSpPr txBox="1"/>
          <p:nvPr/>
        </p:nvSpPr>
        <p:spPr>
          <a:xfrm>
            <a:off x="6934200" y="5991606"/>
            <a:ext cx="44196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Both rounds together</a:t>
            </a:r>
          </a:p>
        </p:txBody>
      </p:sp>
      <p:sp>
        <p:nvSpPr>
          <p:cNvPr id="13" name="TextBox 12"/>
          <p:cNvSpPr txBox="1"/>
          <p:nvPr/>
        </p:nvSpPr>
        <p:spPr>
          <a:xfrm>
            <a:off x="6934200" y="6375654"/>
            <a:ext cx="441960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1,024-token context</a:t>
            </a:r>
          </a:p>
        </p:txBody>
      </p:sp>
      <p:sp>
        <p:nvSpPr>
          <p:cNvPr id="14" name="card"/>
          <p:cNvSpPr/>
          <p:nvPr/>
        </p:nvSpPr>
        <p:spPr>
          <a:xfrm>
            <a:off x="12112752" y="4839462"/>
            <a:ext cx="5187696" cy="2148840"/>
          </a:xfrm>
          <a:prstGeom prst="roundRect">
            <a:avLst>
              <a:gd name="adj" fmla="val 6195"/>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96800" y="5177790"/>
            <a:ext cx="4419600" cy="719328"/>
          </a:xfrm>
          <a:prstGeom prst="rect">
            <a:avLst/>
          </a:prstGeom>
          <a:noFill/>
        </p:spPr>
        <p:txBody>
          <a:bodyPr wrap="square" lIns="0" rIns="0" tIns="0" bIns="0" anchor="t">
            <a:spAutoFit/>
          </a:bodyPr>
          <a:lstStyle/>
          <a:p>
            <a:pPr algn="l">
              <a:lnSpc>
                <a:spcPct val="118000"/>
              </a:lnSpc>
            </a:pPr>
            <a:r>
              <a:rPr sz="4800" b="1" u="none" i="0">
                <a:solidFill>
                  <a:srgbClr val="047857"/>
                </a:solidFill>
                <a:latin typeface="Arial"/>
              </a:rPr>
              <a:t>+0.02%</a:t>
            </a:r>
          </a:p>
        </p:txBody>
      </p:sp>
      <p:sp>
        <p:nvSpPr>
          <p:cNvPr id="16" name="TextBox 15"/>
          <p:cNvSpPr txBox="1"/>
          <p:nvPr/>
        </p:nvSpPr>
        <p:spPr>
          <a:xfrm>
            <a:off x="12496800" y="5991606"/>
            <a:ext cx="44196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Equal-work control</a:t>
            </a:r>
          </a:p>
        </p:txBody>
      </p:sp>
      <p:sp>
        <p:nvSpPr>
          <p:cNvPr id="17" name="TextBox 16"/>
          <p:cNvSpPr txBox="1"/>
          <p:nvPr/>
        </p:nvSpPr>
        <p:spPr>
          <a:xfrm>
            <a:off x="12496800" y="6375654"/>
            <a:ext cx="441960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a retained step is not cheaper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HOW IT WORKS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Two reasons a forced step could be cheaper</a:t>
            </a:r>
          </a:p>
        </p:txBody>
      </p:sp>
      <p:pic>
        <p:nvPicPr>
          <p:cNvPr id="4" name="figure" descr="fig_mechanism.png"/>
          <p:cNvPicPr>
            <a:picLocks noChangeAspect="1"/>
          </p:cNvPicPr>
          <p:nvPr/>
        </p:nvPicPr>
        <p:blipFill>
          <a:blip r:embed="rId2"/>
          <a:stretch>
            <a:fillRect/>
          </a:stretch>
        </p:blipFill>
        <p:spPr>
          <a:xfrm>
            <a:off x="1974738" y="2484882"/>
            <a:ext cx="14338523" cy="5271516"/>
          </a:xfrm>
          <a:prstGeom prst="rect">
            <a:avLst/>
          </a:prstGeom>
        </p:spPr>
      </p:pic>
      <p:sp>
        <p:nvSpPr>
          <p:cNvPr id="5" name="TextBox 4"/>
          <p:cNvSpPr txBox="1"/>
          <p:nvPr/>
        </p:nvSpPr>
        <p:spPr>
          <a:xfrm>
            <a:off x="987552" y="8030718"/>
            <a:ext cx="1631289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 plain step cannot start until the one before it has picked its token. Supplying the token removes that stage, and removes the wait along with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FORCE-DECODE, REAL WSE-3</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win is layer overlap, and the formula predicts it</a:t>
            </a:r>
          </a:p>
        </p:txBody>
      </p:sp>
      <p:pic>
        <p:nvPicPr>
          <p:cNvPr id="4" name="figure" descr="fig_verdict.png"/>
          <p:cNvPicPr>
            <a:picLocks noChangeAspect="1"/>
          </p:cNvPicPr>
          <p:nvPr/>
        </p:nvPicPr>
        <p:blipFill>
          <a:blip r:embed="rId2"/>
          <a:stretch>
            <a:fillRect/>
          </a:stretch>
        </p:blipFill>
        <p:spPr>
          <a:xfrm>
            <a:off x="2651899" y="2484882"/>
            <a:ext cx="12984200" cy="4944618"/>
          </a:xfrm>
          <a:prstGeom prst="rect">
            <a:avLst/>
          </a:prstGeom>
        </p:spPr>
      </p:pic>
      <p:sp>
        <p:nvSpPr>
          <p:cNvPr id="5" name="TextBox 4"/>
          <p:cNvSpPr txBox="1"/>
          <p:nvPr/>
        </p:nvSpPr>
        <p:spPr>
          <a:xfrm>
            <a:off x="987552" y="7703820"/>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 forced token costs about 12% of a plain one, roughly 8.5 times cheaper. 524,288 PEs, 28 layers over 8 blocks, vocabulary 151,936. Device runs are timing-only.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FINDING</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We had this backwards a week ago</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Last week we said the saving was skipped work. That is now falsified, not narrowed: on the wafer it is layer overlap.</a:t>
            </a:r>
          </a:p>
        </p:txBody>
      </p:sp>
      <p:sp>
        <p:nvSpPr>
          <p:cNvPr id="6" name="dot"/>
          <p:cNvSpPr/>
          <p:nvPr/>
        </p:nvSpPr>
        <p:spPr>
          <a:xfrm>
            <a:off x="987552" y="332612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198113"/>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old test could not have decided it. Once forced steps run open-loop, both explanations predict a straight line.</a:t>
            </a:r>
          </a:p>
        </p:txBody>
      </p:sp>
      <p:sp>
        <p:nvSpPr>
          <p:cNvPr id="8" name="dot"/>
          <p:cNvSpPr/>
          <p:nvPr/>
        </p:nvSpPr>
        <p:spPr>
          <a:xfrm>
            <a:off x="987552" y="4039361"/>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3911346"/>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magnitudes never fitted either. The skipped stage is about 5% of a step, yet the saving was about 71%.</a:t>
            </a:r>
          </a:p>
        </p:txBody>
      </p:sp>
      <p:sp>
        <p:nvSpPr>
          <p:cNvPr id="10" name="dot"/>
          <p:cNvSpPr/>
          <p:nvPr/>
        </p:nvSpPr>
        <p:spPr>
          <a:xfrm>
            <a:off x="987552" y="4752594"/>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4624578"/>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size of the win is set by how the layers are spread across the block pipeline, not by vocabulary as we had predicted.</a:t>
            </a:r>
          </a:p>
        </p:txBody>
      </p:sp>
      <p:sp>
        <p:nvSpPr>
          <p:cNvPr id="12" name="dot"/>
          <p:cNvSpPr/>
          <p:nvPr/>
        </p:nvSpPr>
        <p:spPr>
          <a:xfrm>
            <a:off x="987552" y="5868162"/>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53312" y="5740146"/>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It also explains the old 28%: seven layers at two per block gives 28.6%, which is what we had measured.</a:t>
            </a:r>
          </a:p>
        </p:txBody>
      </p:sp>
      <p:sp>
        <p:nvSpPr>
          <p:cNvPr id="14" name="dot"/>
          <p:cNvSpPr/>
          <p:nvPr/>
        </p:nvSpPr>
        <p:spPr>
          <a:xfrm>
            <a:off x="987552" y="6581394"/>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53312" y="6453378"/>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stale divisor made absolute per-token figures about five times too low. Ratios hold, but throughput baselines need re-checking.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03</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M1, and what to decide</a:t>
            </a:r>
          </a:p>
        </p:txBody>
      </p:sp>
      <p:sp>
        <p:nvSpPr>
          <p:cNvPr id="4" name="TextBox 3"/>
          <p:cNvSpPr txBox="1"/>
          <p:nvPr/>
        </p:nvSpPr>
        <p:spPr>
          <a:xfrm>
            <a:off x="987552" y="6099048"/>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Several requests in one card, and the architecture questions behind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M1 CONTRACT</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One number becomes two: capacity and compute</a:t>
            </a:r>
          </a:p>
        </p:txBody>
      </p:sp>
      <p:pic>
        <p:nvPicPr>
          <p:cNvPr id="4" name="figure" descr="fig_slots.png"/>
          <p:cNvPicPr>
            <a:picLocks noChangeAspect="1"/>
          </p:cNvPicPr>
          <p:nvPr/>
        </p:nvPicPr>
        <p:blipFill>
          <a:blip r:embed="rId2"/>
          <a:stretch>
            <a:fillRect/>
          </a:stretch>
        </p:blipFill>
        <p:spPr>
          <a:xfrm>
            <a:off x="1974738" y="2484882"/>
            <a:ext cx="14338523" cy="5271516"/>
          </a:xfrm>
          <a:prstGeom prst="rect">
            <a:avLst/>
          </a:prstGeom>
        </p:spPr>
      </p:pic>
      <p:sp>
        <p:nvSpPr>
          <p:cNvPr id="5" name="TextBox 4"/>
          <p:cNvSpPr txBox="1"/>
          <p:nvPr/>
        </p:nvSpPr>
        <p:spPr>
          <a:xfrm>
            <a:off x="987552" y="8030718"/>
            <a:ext cx="1631289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Slots size the cache, batch sizes the compute. The device is told one new thing, which slot each lane is on; everything else stays on the host.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M1 PLAN</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Six subtasks, the first two now done</a:t>
            </a:r>
          </a:p>
        </p:txBody>
      </p:sp>
      <p:sp>
        <p:nvSpPr>
          <p:cNvPr id="4" name="TextBox 3"/>
          <p:cNvSpPr txBox="1"/>
          <p:nvPr/>
        </p:nvSpPr>
        <p:spPr>
          <a:xfrm>
            <a:off x="987552" y="2484882"/>
            <a:ext cx="174853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STEP</a:t>
            </a:r>
          </a:p>
        </p:txBody>
      </p:sp>
      <p:sp>
        <p:nvSpPr>
          <p:cNvPr id="5" name="TextBox 4"/>
          <p:cNvSpPr txBox="1"/>
          <p:nvPr/>
        </p:nvSpPr>
        <p:spPr>
          <a:xfrm>
            <a:off x="2928112" y="2484882"/>
            <a:ext cx="594502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DELIVERS</a:t>
            </a:r>
          </a:p>
        </p:txBody>
      </p:sp>
      <p:sp>
        <p:nvSpPr>
          <p:cNvPr id="6" name="TextBox 5"/>
          <p:cNvSpPr txBox="1"/>
          <p:nvPr/>
        </p:nvSpPr>
        <p:spPr>
          <a:xfrm>
            <a:off x="9065158" y="2484882"/>
            <a:ext cx="27976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STATUS</a:t>
            </a:r>
          </a:p>
        </p:txBody>
      </p:sp>
      <p:sp>
        <p:nvSpPr>
          <p:cNvPr id="7" name="TextBox 6"/>
          <p:cNvSpPr txBox="1"/>
          <p:nvPr/>
        </p:nvSpPr>
        <p:spPr>
          <a:xfrm>
            <a:off x="12054840" y="2484882"/>
            <a:ext cx="524560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NOTE</a:t>
            </a:r>
          </a:p>
        </p:txBody>
      </p:sp>
      <p:sp>
        <p:nvSpPr>
          <p:cNvPr id="8" name="rule"/>
          <p:cNvSpPr/>
          <p:nvPr/>
        </p:nvSpPr>
        <p:spPr>
          <a:xfrm>
            <a:off x="987552" y="295122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318897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S0</a:t>
            </a:r>
          </a:p>
        </p:txBody>
      </p:sp>
      <p:sp>
        <p:nvSpPr>
          <p:cNvPr id="10" name="rule"/>
          <p:cNvSpPr/>
          <p:nvPr/>
        </p:nvSpPr>
        <p:spPr>
          <a:xfrm>
            <a:off x="2928112" y="295122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8112" y="318897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Slot addressing and metadata contract</a:t>
            </a:r>
          </a:p>
        </p:txBody>
      </p:sp>
      <p:sp>
        <p:nvSpPr>
          <p:cNvPr id="12" name="rule"/>
          <p:cNvSpPr/>
          <p:nvPr/>
        </p:nvSpPr>
        <p:spPr>
          <a:xfrm>
            <a:off x="9065158" y="295122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p:cNvSpPr/>
          <p:nvPr/>
        </p:nvSpPr>
        <p:spPr>
          <a:xfrm>
            <a:off x="9065158" y="3188970"/>
            <a:ext cx="1154465" cy="495299"/>
          </a:xfrm>
          <a:prstGeom prst="roundRect">
            <a:avLst>
              <a:gd name="adj" fmla="val 50000"/>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39478" y="3273170"/>
            <a:ext cx="605825" cy="326898"/>
          </a:xfrm>
          <a:prstGeom prst="rect">
            <a:avLst/>
          </a:prstGeom>
          <a:noFill/>
        </p:spPr>
        <p:txBody>
          <a:bodyPr wrap="square" lIns="0" rIns="0" tIns="0" bIns="0" anchor="t">
            <a:spAutoFit/>
          </a:bodyPr>
          <a:lstStyle/>
          <a:p>
            <a:pPr algn="l">
              <a:lnSpc>
                <a:spcPct val="132000"/>
              </a:lnSpc>
            </a:pPr>
            <a:r>
              <a:rPr sz="1950" b="0" u="none" i="0">
                <a:solidFill>
                  <a:srgbClr val="047857"/>
                </a:solidFill>
                <a:latin typeface="Arial"/>
              </a:rPr>
              <a:t>done</a:t>
            </a:r>
          </a:p>
        </p:txBody>
      </p:sp>
      <p:sp>
        <p:nvSpPr>
          <p:cNvPr id="15" name="rule"/>
          <p:cNvSpPr/>
          <p:nvPr/>
        </p:nvSpPr>
        <p:spPr>
          <a:xfrm>
            <a:off x="12054840" y="295122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054840" y="318897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Reviewed and approved, 26 July</a:t>
            </a:r>
          </a:p>
        </p:txBody>
      </p:sp>
      <p:sp>
        <p:nvSpPr>
          <p:cNvPr id="17" name="rule"/>
          <p:cNvSpPr/>
          <p:nvPr/>
        </p:nvSpPr>
        <p:spPr>
          <a:xfrm>
            <a:off x="987552" y="377418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01193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S1</a:t>
            </a:r>
          </a:p>
        </p:txBody>
      </p:sp>
      <p:sp>
        <p:nvSpPr>
          <p:cNvPr id="19" name="rule"/>
          <p:cNvSpPr/>
          <p:nvPr/>
        </p:nvSpPr>
        <p:spPr>
          <a:xfrm>
            <a:off x="2928112" y="377418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8112" y="401193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Multi-slot cache, inert</a:t>
            </a:r>
          </a:p>
        </p:txBody>
      </p:sp>
      <p:sp>
        <p:nvSpPr>
          <p:cNvPr id="21" name="rule"/>
          <p:cNvSpPr/>
          <p:nvPr/>
        </p:nvSpPr>
        <p:spPr>
          <a:xfrm>
            <a:off x="9065158" y="377418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p:cNvSpPr/>
          <p:nvPr/>
        </p:nvSpPr>
        <p:spPr>
          <a:xfrm>
            <a:off x="9065158" y="4011930"/>
            <a:ext cx="1154465" cy="495299"/>
          </a:xfrm>
          <a:prstGeom prst="roundRect">
            <a:avLst>
              <a:gd name="adj" fmla="val 50000"/>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39478" y="4096131"/>
            <a:ext cx="605825" cy="326898"/>
          </a:xfrm>
          <a:prstGeom prst="rect">
            <a:avLst/>
          </a:prstGeom>
          <a:noFill/>
        </p:spPr>
        <p:txBody>
          <a:bodyPr wrap="square" lIns="0" rIns="0" tIns="0" bIns="0" anchor="t">
            <a:spAutoFit/>
          </a:bodyPr>
          <a:lstStyle/>
          <a:p>
            <a:pPr algn="l">
              <a:lnSpc>
                <a:spcPct val="132000"/>
              </a:lnSpc>
            </a:pPr>
            <a:r>
              <a:rPr sz="1950" b="0" u="none" i="0">
                <a:solidFill>
                  <a:srgbClr val="047857"/>
                </a:solidFill>
                <a:latin typeface="Arial"/>
              </a:rPr>
              <a:t>done</a:t>
            </a:r>
          </a:p>
        </p:txBody>
      </p:sp>
      <p:sp>
        <p:nvSpPr>
          <p:cNvPr id="24" name="rule"/>
          <p:cNvSpPr/>
          <p:nvPr/>
        </p:nvSpPr>
        <p:spPr>
          <a:xfrm>
            <a:off x="12054840" y="377418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054840" y="401193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Bit-identical on both gates, in simulation</a:t>
            </a:r>
          </a:p>
        </p:txBody>
      </p:sp>
      <p:sp>
        <p:nvSpPr>
          <p:cNvPr id="26" name="rule"/>
          <p:cNvSpPr/>
          <p:nvPr/>
        </p:nvSpPr>
        <p:spPr>
          <a:xfrm>
            <a:off x="987552" y="459714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483489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S2</a:t>
            </a:r>
          </a:p>
        </p:txBody>
      </p:sp>
      <p:sp>
        <p:nvSpPr>
          <p:cNvPr id="28" name="rule"/>
          <p:cNvSpPr/>
          <p:nvPr/>
        </p:nvSpPr>
        <p:spPr>
          <a:xfrm>
            <a:off x="2928112" y="459714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8112" y="483489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Retain and extend across a changing active set</a:t>
            </a:r>
          </a:p>
        </p:txBody>
      </p:sp>
      <p:sp>
        <p:nvSpPr>
          <p:cNvPr id="30" name="rule"/>
          <p:cNvSpPr/>
          <p:nvPr/>
        </p:nvSpPr>
        <p:spPr>
          <a:xfrm>
            <a:off x="9065158" y="459714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ip"/>
          <p:cNvSpPr/>
          <p:nvPr/>
        </p:nvSpPr>
        <p:spPr>
          <a:xfrm>
            <a:off x="9065158" y="4834890"/>
            <a:ext cx="1484467" cy="495299"/>
          </a:xfrm>
          <a:prstGeom prst="roundRect">
            <a:avLst>
              <a:gd name="adj" fmla="val 50000"/>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39478" y="4919091"/>
            <a:ext cx="935827" cy="326898"/>
          </a:xfrm>
          <a:prstGeom prst="rect">
            <a:avLst/>
          </a:prstGeom>
          <a:noFill/>
        </p:spPr>
        <p:txBody>
          <a:bodyPr wrap="square" lIns="0" rIns="0" tIns="0" bIns="0" anchor="t">
            <a:spAutoFit/>
          </a:bodyPr>
          <a:lstStyle/>
          <a:p>
            <a:pPr algn="l">
              <a:lnSpc>
                <a:spcPct val="132000"/>
              </a:lnSpc>
            </a:pPr>
            <a:r>
              <a:rPr sz="1950" b="0" u="none" i="0">
                <a:solidFill>
                  <a:srgbClr val="1D4ED8"/>
                </a:solidFill>
                <a:latin typeface="Arial"/>
              </a:rPr>
              <a:t>on track</a:t>
            </a:r>
          </a:p>
        </p:txBody>
      </p:sp>
      <p:sp>
        <p:nvSpPr>
          <p:cNvPr id="33" name="rule"/>
          <p:cNvSpPr/>
          <p:nvPr/>
        </p:nvSpPr>
        <p:spPr>
          <a:xfrm>
            <a:off x="12054840" y="459714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054840" y="483489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Next: per-slot lengths on the host</a:t>
            </a:r>
          </a:p>
        </p:txBody>
      </p:sp>
      <p:sp>
        <p:nvSpPr>
          <p:cNvPr id="35" name="rule"/>
          <p:cNvSpPr/>
          <p:nvPr/>
        </p:nvSpPr>
        <p:spPr>
          <a:xfrm>
            <a:off x="987552" y="542010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87552" y="565785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S3</a:t>
            </a:r>
          </a:p>
        </p:txBody>
      </p:sp>
      <p:sp>
        <p:nvSpPr>
          <p:cNvPr id="37" name="rule"/>
          <p:cNvSpPr/>
          <p:nvPr/>
        </p:nvSpPr>
        <p:spPr>
          <a:xfrm>
            <a:off x="2928112" y="542010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28112" y="565785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Hit detection, eviction, miss handling</a:t>
            </a:r>
          </a:p>
        </p:txBody>
      </p:sp>
      <p:sp>
        <p:nvSpPr>
          <p:cNvPr id="39" name="rule"/>
          <p:cNvSpPr/>
          <p:nvPr/>
        </p:nvSpPr>
        <p:spPr>
          <a:xfrm>
            <a:off x="9065158" y="542010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ip"/>
          <p:cNvSpPr/>
          <p:nvPr/>
        </p:nvSpPr>
        <p:spPr>
          <a:xfrm>
            <a:off x="9065158" y="565785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39478" y="574205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42" name="rule"/>
          <p:cNvSpPr/>
          <p:nvPr/>
        </p:nvSpPr>
        <p:spPr>
          <a:xfrm>
            <a:off x="12054840" y="542010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054840" y="565785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 miss rebuilds by force-decoding</a:t>
            </a:r>
          </a:p>
        </p:txBody>
      </p:sp>
      <p:sp>
        <p:nvSpPr>
          <p:cNvPr id="44" name="rule"/>
          <p:cNvSpPr/>
          <p:nvPr/>
        </p:nvSpPr>
        <p:spPr>
          <a:xfrm>
            <a:off x="987552" y="624306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87552" y="648081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S4</a:t>
            </a:r>
          </a:p>
        </p:txBody>
      </p:sp>
      <p:sp>
        <p:nvSpPr>
          <p:cNvPr id="46" name="rule"/>
          <p:cNvSpPr/>
          <p:nvPr/>
        </p:nvSpPr>
        <p:spPr>
          <a:xfrm>
            <a:off x="2928112" y="624306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28112" y="648081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Requests-per-bank capacity curve</a:t>
            </a:r>
          </a:p>
        </p:txBody>
      </p:sp>
      <p:sp>
        <p:nvSpPr>
          <p:cNvPr id="48" name="rule"/>
          <p:cNvSpPr/>
          <p:nvPr/>
        </p:nvSpPr>
        <p:spPr>
          <a:xfrm>
            <a:off x="9065158" y="624306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065158" y="648081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39478" y="656501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51" name="rule"/>
          <p:cNvSpPr/>
          <p:nvPr/>
        </p:nvSpPr>
        <p:spPr>
          <a:xfrm>
            <a:off x="12054840" y="624306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054840" y="648081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Needs a geometry near the SRAM budget</a:t>
            </a:r>
          </a:p>
        </p:txBody>
      </p:sp>
      <p:sp>
        <p:nvSpPr>
          <p:cNvPr id="53" name="rule"/>
          <p:cNvSpPr/>
          <p:nvPr/>
        </p:nvSpPr>
        <p:spPr>
          <a:xfrm>
            <a:off x="987552" y="706602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87552" y="730377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S5</a:t>
            </a:r>
          </a:p>
        </p:txBody>
      </p:sp>
      <p:sp>
        <p:nvSpPr>
          <p:cNvPr id="55" name="rule"/>
          <p:cNvSpPr/>
          <p:nvPr/>
        </p:nvSpPr>
        <p:spPr>
          <a:xfrm>
            <a:off x="2928112" y="706602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8112" y="730377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End-to-end verification</a:t>
            </a:r>
          </a:p>
        </p:txBody>
      </p:sp>
      <p:sp>
        <p:nvSpPr>
          <p:cNvPr id="57" name="rule"/>
          <p:cNvSpPr/>
          <p:nvPr/>
        </p:nvSpPr>
        <p:spPr>
          <a:xfrm>
            <a:off x="9065158" y="706602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ip"/>
          <p:cNvSpPr/>
          <p:nvPr/>
        </p:nvSpPr>
        <p:spPr>
          <a:xfrm>
            <a:off x="9065158" y="730377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339478" y="738797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60" name="rule"/>
          <p:cNvSpPr/>
          <p:nvPr/>
        </p:nvSpPr>
        <p:spPr>
          <a:xfrm>
            <a:off x="12054840" y="706602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054840" y="730377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Against a teacher-forced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TO DISCUSS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M2 questions</a:t>
            </a:r>
          </a:p>
        </p:txBody>
      </p:sp>
      <p:sp>
        <p:nvSpPr>
          <p:cNvPr id="4" name="TextBox 3"/>
          <p:cNvSpPr txBox="1"/>
          <p:nvPr/>
        </p:nvSpPr>
        <p:spPr>
          <a:xfrm>
            <a:off x="987552" y="2484882"/>
            <a:ext cx="8010144"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WHY TOGETHER</a:t>
            </a:r>
          </a:p>
        </p:txBody>
      </p:sp>
      <p:sp>
        <p:nvSpPr>
          <p:cNvPr id="5" name="TextBox 4"/>
          <p:cNvSpPr txBox="1"/>
          <p:nvPr/>
        </p:nvSpPr>
        <p:spPr>
          <a:xfrm>
            <a:off x="987552" y="3051810"/>
            <a:ext cx="8010144"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One architecture, not four separate calls</a:t>
            </a:r>
          </a:p>
        </p:txBody>
      </p:sp>
      <p:sp>
        <p:nvSpPr>
          <p:cNvPr id="6" name="TextBox 5"/>
          <p:cNvSpPr txBox="1"/>
          <p:nvPr/>
        </p:nvSpPr>
        <p:spPr>
          <a:xfrm>
            <a:off x="987552" y="4729733"/>
            <a:ext cx="8010144" cy="281635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These choices constrain each other. Paging's page table is exactly the per-PE mapping a distributed control plane would need, so picking one nearly picks the other. M1 commits to the simplest working defaults, fixed slots with control on the host and the cache in decode, and M2 tests each against a small benchmark rather than settling it by argument.</a:t>
            </a:r>
          </a:p>
        </p:txBody>
      </p:sp>
      <p:sp>
        <p:nvSpPr>
          <p:cNvPr id="7" name="card"/>
          <p:cNvSpPr/>
          <p:nvPr/>
        </p:nvSpPr>
        <p:spPr>
          <a:xfrm>
            <a:off x="9528048" y="2484882"/>
            <a:ext cx="7772400" cy="5404104"/>
          </a:xfrm>
          <a:prstGeom prst="roundRect">
            <a:avLst>
              <a:gd name="adj" fmla="val 6195"/>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0" y="3015234"/>
            <a:ext cx="67116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FOUR COUPLED QUESTIONS</a:t>
            </a:r>
          </a:p>
        </p:txBody>
      </p:sp>
      <p:sp>
        <p:nvSpPr>
          <p:cNvPr id="9" name="TextBox 8"/>
          <p:cNvSpPr txBox="1"/>
          <p:nvPr/>
        </p:nvSpPr>
        <p:spPr>
          <a:xfrm>
            <a:off x="10058400" y="3499865"/>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01</a:t>
            </a:r>
          </a:p>
        </p:txBody>
      </p:sp>
      <p:sp>
        <p:nvSpPr>
          <p:cNvPr id="10" name="TextBox 9"/>
          <p:cNvSpPr txBox="1"/>
          <p:nvPr/>
        </p:nvSpPr>
        <p:spPr>
          <a:xfrm>
            <a:off x="10579608" y="3499865"/>
            <a:ext cx="6190488"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Does the control plane live on the host, or distributed across the compute PEs?</a:t>
            </a:r>
          </a:p>
        </p:txBody>
      </p:sp>
      <p:sp>
        <p:nvSpPr>
          <p:cNvPr id="11" name="rule"/>
          <p:cNvSpPr/>
          <p:nvPr/>
        </p:nvSpPr>
        <p:spPr>
          <a:xfrm>
            <a:off x="10058400" y="4472787"/>
            <a:ext cx="67116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0" y="4652009"/>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02</a:t>
            </a:r>
          </a:p>
        </p:txBody>
      </p:sp>
      <p:sp>
        <p:nvSpPr>
          <p:cNvPr id="13" name="TextBox 12"/>
          <p:cNvSpPr txBox="1"/>
          <p:nvPr/>
        </p:nvSpPr>
        <p:spPr>
          <a:xfrm>
            <a:off x="10579608" y="4652009"/>
            <a:ext cx="6190488"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Fixed-size slots, or paging for copy-free prefix sharing?</a:t>
            </a:r>
          </a:p>
        </p:txBody>
      </p:sp>
      <p:sp>
        <p:nvSpPr>
          <p:cNvPr id="14" name="rule"/>
          <p:cNvSpPr/>
          <p:nvPr/>
        </p:nvSpPr>
        <p:spPr>
          <a:xfrm>
            <a:off x="10058400" y="5624931"/>
            <a:ext cx="67116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0" y="5804153"/>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03</a:t>
            </a:r>
          </a:p>
        </p:txBody>
      </p:sp>
      <p:sp>
        <p:nvSpPr>
          <p:cNvPr id="16" name="TextBox 15"/>
          <p:cNvSpPr txBox="1"/>
          <p:nvPr/>
        </p:nvSpPr>
        <p:spPr>
          <a:xfrm>
            <a:off x="10579608" y="5804153"/>
            <a:ext cx="6190488"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On a hit, continue in decode, or ship the KV back to prefill?</a:t>
            </a:r>
          </a:p>
        </p:txBody>
      </p:sp>
      <p:sp>
        <p:nvSpPr>
          <p:cNvPr id="17" name="rule"/>
          <p:cNvSpPr/>
          <p:nvPr/>
        </p:nvSpPr>
        <p:spPr>
          <a:xfrm>
            <a:off x="10058400" y="6777075"/>
            <a:ext cx="67116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6956297"/>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04</a:t>
            </a:r>
          </a:p>
        </p:txBody>
      </p:sp>
      <p:sp>
        <p:nvSpPr>
          <p:cNvPr id="19" name="TextBox 18"/>
          <p:cNvSpPr txBox="1"/>
          <p:nvPr/>
        </p:nvSpPr>
        <p:spPr>
          <a:xfrm>
            <a:off x="10579608" y="6956297"/>
            <a:ext cx="619048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Does the cache live in decode or in prefill?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ALSO TO DISCUSS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Open routing calls</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cluster was available all along, so the standing assumption that it was down was stale. Does M0's transport work restart now?</a:t>
            </a:r>
          </a:p>
        </p:txBody>
      </p:sp>
      <p:sp>
        <p:nvSpPr>
          <p:cNvPr id="6" name="dot"/>
          <p:cNvSpPr/>
          <p:nvPr/>
        </p:nvSpPr>
        <p:spPr>
          <a:xfrm>
            <a:off x="987552" y="3728465"/>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600450"/>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Device runs are timing-only, with no correctness gate at device scale. When do we add one?</a:t>
            </a:r>
          </a:p>
        </p:txBody>
      </p:sp>
      <p:sp>
        <p:nvSpPr>
          <p:cNvPr id="8" name="dot"/>
          <p:cNvSpPr/>
          <p:nvPr/>
        </p:nvSpPr>
        <p:spPr>
          <a:xfrm>
            <a:off x="987552" y="44416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4313682"/>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forced token at 56 to 67 microseconds looks faster than our recorded prefill rate. A like-for-like run would settle force-decode against ship-to-prefill.</a:t>
            </a:r>
          </a:p>
        </p:txBody>
      </p:sp>
      <p:sp>
        <p:nvSpPr>
          <p:cNvPr id="10" name="dot"/>
          <p:cNvSpPr/>
          <p:nvPr/>
        </p:nvSpPr>
        <p:spPr>
          <a:xfrm>
            <a:off x="987552" y="5557266"/>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5429250"/>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Continuous batching: M1 builds the substrate, but running requests concurrently needs ingress, egress and a scheduler reworked. Which milestone owns it?</a:t>
            </a:r>
          </a:p>
        </p:txBody>
      </p:sp>
      <p:sp>
        <p:nvSpPr>
          <p:cNvPr id="12" name="dot"/>
          <p:cNvSpPr/>
          <p:nvPr/>
        </p:nvSpPr>
        <p:spPr>
          <a:xfrm>
            <a:off x="987552" y="6672833"/>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53312" y="6544818"/>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Ragged batch, meaning lanes at different sequence positions. M1 declined it, but continuous batching needs it.</a:t>
            </a:r>
          </a:p>
        </p:txBody>
      </p:sp>
      <p:sp>
        <p:nvSpPr>
          <p:cNvPr id="14" name="dot"/>
          <p:cNvSpPr/>
          <p:nvPr/>
        </p:nvSpPr>
        <p:spPr>
          <a:xfrm>
            <a:off x="987552" y="7386066"/>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53312" y="7258050"/>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Do we run the control-plane comparison inside M1, or on a branch forked after M1-S2?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NEXT STEPS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happens next</a:t>
            </a:r>
          </a:p>
        </p:txBody>
      </p:sp>
      <p:sp>
        <p:nvSpPr>
          <p:cNvPr id="4" name="rule"/>
          <p:cNvSpPr/>
          <p:nvPr/>
        </p:nvSpPr>
        <p:spPr>
          <a:xfrm>
            <a:off x="987552" y="248488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2740913"/>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Le Xu</a:t>
            </a:r>
          </a:p>
        </p:txBody>
      </p:sp>
      <p:sp>
        <p:nvSpPr>
          <p:cNvPr id="6" name="TextBox 5"/>
          <p:cNvSpPr txBox="1"/>
          <p:nvPr/>
        </p:nvSpPr>
        <p:spPr>
          <a:xfrm>
            <a:off x="3200400" y="2704337"/>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Commit the S1 working tree, which is the one thing holding up S2.</a:t>
            </a:r>
          </a:p>
        </p:txBody>
      </p:sp>
      <p:sp>
        <p:nvSpPr>
          <p:cNvPr id="7" name="rule"/>
          <p:cNvSpPr/>
          <p:nvPr/>
        </p:nvSpPr>
        <p:spPr>
          <a:xfrm>
            <a:off x="987552" y="3316986"/>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573018"/>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Le Xu</a:t>
            </a:r>
          </a:p>
        </p:txBody>
      </p:sp>
      <p:sp>
        <p:nvSpPr>
          <p:cNvPr id="9" name="TextBox 8"/>
          <p:cNvSpPr txBox="1"/>
          <p:nvPr/>
        </p:nvSpPr>
        <p:spPr>
          <a:xfrm>
            <a:off x="3200400" y="3536441"/>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Build S2: per-slot lengths on the host, across a changing active set.</a:t>
            </a:r>
          </a:p>
        </p:txBody>
      </p:sp>
      <p:sp>
        <p:nvSpPr>
          <p:cNvPr id="10" name="rule"/>
          <p:cNvSpPr/>
          <p:nvPr/>
        </p:nvSpPr>
        <p:spPr>
          <a:xfrm>
            <a:off x="987552" y="4149089"/>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405122"/>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Team</a:t>
            </a:r>
          </a:p>
        </p:txBody>
      </p:sp>
      <p:sp>
        <p:nvSpPr>
          <p:cNvPr id="12" name="TextBox 11"/>
          <p:cNvSpPr txBox="1"/>
          <p:nvPr/>
        </p:nvSpPr>
        <p:spPr>
          <a:xfrm>
            <a:off x="3200400" y="4368546"/>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Decide which of the M2 questions gets a benchmark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4133087"/>
            <a:ext cx="16312896" cy="987552"/>
          </a:xfrm>
          <a:prstGeom prst="rect">
            <a:avLst/>
          </a:prstGeom>
          <a:noFill/>
        </p:spPr>
        <p:txBody>
          <a:bodyPr wrap="square" lIns="0" rIns="0" tIns="0" bIns="0" anchor="t">
            <a:spAutoFit/>
          </a:bodyPr>
          <a:lstStyle/>
          <a:p>
            <a:pPr algn="l">
              <a:lnSpc>
                <a:spcPct val="108000"/>
              </a:lnSpc>
            </a:pPr>
            <a:r>
              <a:rPr sz="7200" b="1" u="none" i="0">
                <a:solidFill>
                  <a:srgbClr val="18181B"/>
                </a:solidFill>
                <a:latin typeface="Arial"/>
              </a:rPr>
              <a:t>Questions?</a:t>
            </a:r>
          </a:p>
        </p:txBody>
      </p:sp>
      <p:sp>
        <p:nvSpPr>
          <p:cNvPr id="5" name="TextBox 4"/>
          <p:cNvSpPr txBox="1"/>
          <p:nvPr/>
        </p:nvSpPr>
        <p:spPr>
          <a:xfrm>
            <a:off x="987552" y="5477256"/>
            <a:ext cx="118872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Plan in ROADMAP.md, current state in PROGRESS.md, detail in milestones/M1-intra-pe-reuse.md.</a:t>
            </a:r>
          </a:p>
        </p:txBody>
      </p:sp>
      <p:sp>
        <p:nvSpPr>
          <p:cNvPr id="6" name="rule"/>
          <p:cNvSpPr/>
          <p:nvPr/>
        </p:nvSpPr>
        <p:spPr>
          <a:xfrm>
            <a:off x="987552" y="8814816"/>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9125712"/>
            <a:ext cx="31774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lxu5398@gmail.com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798</Words>
  <Application>Microsoft Macintosh PowerPoint</Application>
  <PresentationFormat>Custom</PresentationFormat>
  <Paragraphs>166</Paragraphs>
  <Slides>13</Slides>
  <Notes>13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Le Xu</cp:lastModifiedBy>
  <cp:revision>2</cp:revision>
  <dcterms:created xsi:type="dcterms:W3CDTF">2026-07-20T11:59:30Z</dcterms:created>
  <dcterms:modified xsi:type="dcterms:W3CDTF">2026-07-20T11:59:59Z</dcterms:modified>
</cp:coreProperties>
</file>