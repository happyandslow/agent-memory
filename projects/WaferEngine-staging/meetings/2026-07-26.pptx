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 id="264" r:id="rId6"/>
    <p:sldId id="265" r:id="rId5"/>
    <p:sldId id="266" r:id="rId4"/>
    <p:sldId id="267" r:id="rId3"/>
    <p:sldId id="268" r:id="rId2"/>
    <p:sldId id="269" r:id="rId20"/>
    <p:sldId id="270" r:id="rId21"/>
    <p:sldId id="271" r:id="rId22"/>
    <p:sldId id="272" r:id="rId23"/>
    <p:sldId id="273" r:id="rId24"/>
    <p:sldId id="274" r:id="rId2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79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Last week's deck covered S6a on real silicon. This week: force-decode lands, S6 closes, and M1 is planned.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M0's transport half stays blocked on the CS-3 cluster being down; M1 runs in simulation and does not wait for it.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two device sweeps completed on 21 July, one day after last week's deck. The two reversals: the device now gets one slot per lane rather than a single slot number, because eviction victims are not contiguous across lanes; and per-slot lengths stay on the host rather than being counted on the device.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key point: a second turn no longer has to re-read the first turn from token 0.</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16,384 column completed this week. Every reuse round was byte-identical to the cold round. Saving is sub-linear because a reused prefix is always the cheapest part of the prompt: the last chunk costs about 7x the first.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control row is the point: when both arms run the same number of steps, retain is 0.02% slower. Its whole value is that steps already taken are not taken again. So the saving tracks the fraction of decode steps skipped, not the sequence length.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two effects cannot be switched on and off independently in the kernel: dropping the picking stage without also dropping the drain that feeds it unbalances the fabric and hangs. So they have to be told apart by the shape of the curve on the next slide.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Same configuration, pipelined against non-pipelined, was 17,149 to 13,096 cycles per token, a 24% saving. Correctness held at 9.8e-5 against the oracle.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Batch is a scheduling subset of the slots, not a storage axis. A slot-by-batch grid would over-allocate.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S1 passed two gates in simulation: bit-identical to the pre-change build over 48 records, and bit-identical again with four slots and the active set mapped to slots 3 and 0, with the unused slots still exactly zero. Capacity is not exercised at this geometry. The code is still uncommitted in the working tree.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Paging would chop the attention inner loop into roughly 16 short pieces at 256 tokens and 16-token pages, which is why M1 does not start there.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ot"/>
          <p:cNvSpPr/>
          <p:nvPr/>
        </p:nvSpPr>
        <p:spPr>
          <a:xfrm>
            <a:off x="987552" y="9144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527048" y="960120"/>
            <a:ext cx="54864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WaferEngine · CS-3</a:t>
            </a:r>
          </a:p>
        </p:txBody>
      </p:sp>
      <p:sp>
        <p:nvSpPr>
          <p:cNvPr id="4" name="TextBox 3"/>
          <p:cNvSpPr txBox="1"/>
          <p:nvPr/>
        </p:nvSpPr>
        <p:spPr>
          <a:xfrm>
            <a:off x="987552" y="3355848"/>
            <a:ext cx="16312896" cy="301752"/>
          </a:xfrm>
          <a:prstGeom prst="rect">
            <a:avLst/>
          </a:prstGeom>
          <a:noFill/>
        </p:spPr>
        <p:txBody>
          <a:bodyPr wrap="square" lIns="0" rIns="0" tIns="0" bIns="0" anchor="t">
            <a:spAutoFit/>
          </a:bodyPr>
          <a:lstStyle/>
          <a:p>
            <a:pPr algn="l">
              <a:lnSpc>
                <a:spcPct val="132000"/>
              </a:lnSpc>
            </a:pPr>
            <a:r>
              <a:rPr sz="1800" b="0" u="none" i="0" spc="150">
                <a:solidFill>
                  <a:srgbClr val="6D28D9"/>
                </a:solidFill>
                <a:latin typeface="Arial"/>
              </a:rPr>
              <a:t>WEEKLY UPDATE</a:t>
            </a:r>
          </a:p>
        </p:txBody>
      </p:sp>
      <p:sp>
        <p:nvSpPr>
          <p:cNvPr id="5" name="TextBox 4"/>
          <p:cNvSpPr txBox="1"/>
          <p:nvPr/>
        </p:nvSpPr>
        <p:spPr>
          <a:xfrm>
            <a:off x="987552" y="4005072"/>
            <a:ext cx="16312896" cy="2221992"/>
          </a:xfrm>
          <a:prstGeom prst="rect">
            <a:avLst/>
          </a:prstGeom>
          <a:noFill/>
        </p:spPr>
        <p:txBody>
          <a:bodyPr wrap="square" lIns="0" rIns="0" tIns="0" bIns="0" anchor="t">
            <a:spAutoFit/>
          </a:bodyPr>
          <a:lstStyle/>
          <a:p>
            <a:pPr algn="l">
              <a:lnSpc>
                <a:spcPct val="108000"/>
              </a:lnSpc>
            </a:pPr>
            <a:r>
              <a:rPr sz="8100" b="1" u="none" i="0">
                <a:solidFill>
                  <a:srgbClr val="18181B"/>
                </a:solidFill>
                <a:latin typeface="Arial"/>
              </a:rPr>
              <a:t>KV reuse inside one card now works end to end</a:t>
            </a:r>
          </a:p>
        </p:txBody>
      </p:sp>
      <p:sp>
        <p:nvSpPr>
          <p:cNvPr id="6" name="TextBox 5"/>
          <p:cNvSpPr txBox="1"/>
          <p:nvPr/>
        </p:nvSpPr>
        <p:spPr>
          <a:xfrm>
            <a:off x="987552" y="6519672"/>
            <a:ext cx="12344400" cy="1005840"/>
          </a:xfrm>
          <a:prstGeom prst="rect">
            <a:avLst/>
          </a:prstGeom>
          <a:noFill/>
        </p:spPr>
        <p:txBody>
          <a:bodyPr wrap="square" lIns="0" rIns="0" tIns="0" bIns="0" anchor="t">
            <a:spAutoFit/>
          </a:bodyPr>
          <a:lstStyle/>
          <a:p>
            <a:pPr algn="l">
              <a:lnSpc>
                <a:spcPct val="132000"/>
              </a:lnSpc>
            </a:pPr>
            <a:r>
              <a:rPr sz="3000" b="0" u="none" i="0">
                <a:solidFill>
                  <a:srgbClr val="52525B"/>
                </a:solidFill>
                <a:latin typeface="Arial"/>
              </a:rPr>
              <a:t>S6 closes M0's reuse line. M1 opens on holding several requests at once.</a:t>
            </a:r>
          </a:p>
        </p:txBody>
      </p:sp>
      <p:sp>
        <p:nvSpPr>
          <p:cNvPr id="7" name="rule"/>
          <p:cNvSpPr/>
          <p:nvPr/>
        </p:nvSpPr>
        <p:spPr>
          <a:xfrm>
            <a:off x="987552" y="8485632"/>
            <a:ext cx="163037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8796528"/>
            <a:ext cx="1345168"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OWNER</a:t>
            </a:r>
          </a:p>
        </p:txBody>
      </p:sp>
      <p:sp>
        <p:nvSpPr>
          <p:cNvPr id="9" name="TextBox 8"/>
          <p:cNvSpPr txBox="1"/>
          <p:nvPr/>
        </p:nvSpPr>
        <p:spPr>
          <a:xfrm>
            <a:off x="987552" y="9125712"/>
            <a:ext cx="13451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Le Xu</a:t>
            </a:r>
          </a:p>
        </p:txBody>
      </p:sp>
      <p:sp>
        <p:nvSpPr>
          <p:cNvPr id="10" name="TextBox 9"/>
          <p:cNvSpPr txBox="1"/>
          <p:nvPr/>
        </p:nvSpPr>
        <p:spPr>
          <a:xfrm>
            <a:off x="2332720" y="8796528"/>
            <a:ext cx="2887027"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PERIOD</a:t>
            </a:r>
          </a:p>
        </p:txBody>
      </p:sp>
      <p:sp>
        <p:nvSpPr>
          <p:cNvPr id="11" name="TextBox 10"/>
          <p:cNvSpPr txBox="1"/>
          <p:nvPr/>
        </p:nvSpPr>
        <p:spPr>
          <a:xfrm>
            <a:off x="2332720" y="9125712"/>
            <a:ext cx="288702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20 - 26 July 2026</a:t>
            </a:r>
          </a:p>
        </p:txBody>
      </p:sp>
      <p:sp>
        <p:nvSpPr>
          <p:cNvPr id="12" name="TextBox 11"/>
          <p:cNvSpPr txBox="1"/>
          <p:nvPr/>
        </p:nvSpPr>
        <p:spPr>
          <a:xfrm>
            <a:off x="5219747" y="8796528"/>
            <a:ext cx="4343757"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FOCUS</a:t>
            </a:r>
          </a:p>
        </p:txBody>
      </p:sp>
      <p:sp>
        <p:nvSpPr>
          <p:cNvPr id="13" name="TextBox 12"/>
          <p:cNvSpPr txBox="1"/>
          <p:nvPr/>
        </p:nvSpPr>
        <p:spPr>
          <a:xfrm>
            <a:off x="5219747" y="9125712"/>
            <a:ext cx="43437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M0 closes Line 1, M1 opens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ROADMAP</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Where we are</a:t>
            </a:r>
          </a:p>
        </p:txBody>
      </p:sp>
      <p:sp>
        <p:nvSpPr>
          <p:cNvPr id="4" name="rule"/>
          <p:cNvSpPr/>
          <p:nvPr/>
        </p:nvSpPr>
        <p:spPr>
          <a:xfrm>
            <a:off x="1280160" y="2585465"/>
            <a:ext cx="13324636" cy="18288"/>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ot"/>
          <p:cNvSpPr/>
          <p:nvPr/>
        </p:nvSpPr>
        <p:spPr>
          <a:xfrm>
            <a:off x="987552" y="2484882"/>
            <a:ext cx="228600" cy="2286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942082"/>
            <a:ext cx="289681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DONE</a:t>
            </a:r>
          </a:p>
        </p:txBody>
      </p:sp>
      <p:sp>
        <p:nvSpPr>
          <p:cNvPr id="7" name="TextBox 6"/>
          <p:cNvSpPr txBox="1"/>
          <p:nvPr/>
        </p:nvSpPr>
        <p:spPr>
          <a:xfrm>
            <a:off x="987552" y="3435858"/>
            <a:ext cx="2896819" cy="502920"/>
          </a:xfrm>
          <a:prstGeom prst="rect">
            <a:avLst/>
          </a:prstGeom>
          <a:noFill/>
        </p:spPr>
        <p:txBody>
          <a:bodyPr wrap="square" lIns="0" rIns="0" tIns="0" bIns="0" anchor="t">
            <a:spAutoFit/>
          </a:bodyPr>
          <a:lstStyle/>
          <a:p>
            <a:pPr algn="l">
              <a:lnSpc>
                <a:spcPct val="132000"/>
              </a:lnSpc>
            </a:pPr>
            <a:r>
              <a:rPr sz="3000" b="0" u="none" i="0">
                <a:solidFill>
                  <a:srgbClr val="18181B"/>
                </a:solidFill>
                <a:latin typeface="Arial"/>
              </a:rPr>
              <a:t>M0, Line 1</a:t>
            </a:r>
          </a:p>
        </p:txBody>
      </p:sp>
      <p:sp>
        <p:nvSpPr>
          <p:cNvPr id="8" name="TextBox 7"/>
          <p:cNvSpPr txBox="1"/>
          <p:nvPr/>
        </p:nvSpPr>
        <p:spPr>
          <a:xfrm>
            <a:off x="987552" y="4139946"/>
            <a:ext cx="289681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PE-internal KV reuse: retain and force-decode</a:t>
            </a:r>
          </a:p>
        </p:txBody>
      </p:sp>
      <p:sp>
        <p:nvSpPr>
          <p:cNvPr id="9" name="dot"/>
          <p:cNvSpPr/>
          <p:nvPr/>
        </p:nvSpPr>
        <p:spPr>
          <a:xfrm>
            <a:off x="4250131" y="2484882"/>
            <a:ext cx="228600" cy="228600"/>
          </a:xfrm>
          <a:prstGeom prst="ellipse">
            <a:avLst/>
          </a:prstGeom>
          <a:solidFill>
            <a:srgbClr val="A1A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0131" y="2942082"/>
            <a:ext cx="289681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PARKED</a:t>
            </a:r>
          </a:p>
        </p:txBody>
      </p:sp>
      <p:sp>
        <p:nvSpPr>
          <p:cNvPr id="11" name="TextBox 10"/>
          <p:cNvSpPr txBox="1"/>
          <p:nvPr/>
        </p:nvSpPr>
        <p:spPr>
          <a:xfrm>
            <a:off x="4250131" y="3435858"/>
            <a:ext cx="2896819" cy="502920"/>
          </a:xfrm>
          <a:prstGeom prst="rect">
            <a:avLst/>
          </a:prstGeom>
          <a:noFill/>
        </p:spPr>
        <p:txBody>
          <a:bodyPr wrap="square" lIns="0" rIns="0" tIns="0" bIns="0" anchor="t">
            <a:spAutoFit/>
          </a:bodyPr>
          <a:lstStyle/>
          <a:p>
            <a:pPr algn="l">
              <a:lnSpc>
                <a:spcPct val="132000"/>
              </a:lnSpc>
            </a:pPr>
            <a:r>
              <a:rPr sz="3000" b="0" u="none" i="0">
                <a:solidFill>
                  <a:srgbClr val="18181B"/>
                </a:solidFill>
                <a:latin typeface="Arial"/>
              </a:rPr>
              <a:t>M0, Line 2</a:t>
            </a:r>
          </a:p>
        </p:txBody>
      </p:sp>
      <p:sp>
        <p:nvSpPr>
          <p:cNvPr id="12" name="TextBox 11"/>
          <p:cNvSpPr txBox="1"/>
          <p:nvPr/>
        </p:nvSpPr>
        <p:spPr>
          <a:xfrm>
            <a:off x="4250131" y="4139946"/>
            <a:ext cx="289681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KV transport, waiting on the cluster</a:t>
            </a:r>
          </a:p>
        </p:txBody>
      </p:sp>
      <p:sp>
        <p:nvSpPr>
          <p:cNvPr id="13" name="dot"/>
          <p:cNvSpPr/>
          <p:nvPr/>
        </p:nvSpPr>
        <p:spPr>
          <a:xfrm>
            <a:off x="7512710" y="2484882"/>
            <a:ext cx="228600" cy="228600"/>
          </a:xfrm>
          <a:prstGeom prst="ellipse">
            <a:avLst/>
          </a:prstGeom>
          <a:solidFill>
            <a:srgbClr val="A1A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12710" y="2942082"/>
            <a:ext cx="289681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NOW</a:t>
            </a:r>
          </a:p>
        </p:txBody>
      </p:sp>
      <p:sp>
        <p:nvSpPr>
          <p:cNvPr id="15" name="TextBox 14"/>
          <p:cNvSpPr txBox="1"/>
          <p:nvPr/>
        </p:nvSpPr>
        <p:spPr>
          <a:xfrm>
            <a:off x="7512710" y="3435858"/>
            <a:ext cx="2896819" cy="502920"/>
          </a:xfrm>
          <a:prstGeom prst="rect">
            <a:avLst/>
          </a:prstGeom>
          <a:noFill/>
        </p:spPr>
        <p:txBody>
          <a:bodyPr wrap="square" lIns="0" rIns="0" tIns="0" bIns="0" anchor="t">
            <a:spAutoFit/>
          </a:bodyPr>
          <a:lstStyle/>
          <a:p>
            <a:pPr algn="l">
              <a:lnSpc>
                <a:spcPct val="132000"/>
              </a:lnSpc>
            </a:pPr>
            <a:r>
              <a:rPr sz="3000" b="0" u="none" i="0">
                <a:solidFill>
                  <a:srgbClr val="18181B"/>
                </a:solidFill>
                <a:latin typeface="Arial"/>
              </a:rPr>
              <a:t>M1</a:t>
            </a:r>
          </a:p>
        </p:txBody>
      </p:sp>
      <p:sp>
        <p:nvSpPr>
          <p:cNvPr id="16" name="TextBox 15"/>
          <p:cNvSpPr txBox="1"/>
          <p:nvPr/>
        </p:nvSpPr>
        <p:spPr>
          <a:xfrm>
            <a:off x="7512710" y="4139946"/>
            <a:ext cx="289681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Several requests resident in one card</a:t>
            </a:r>
          </a:p>
        </p:txBody>
      </p:sp>
      <p:sp>
        <p:nvSpPr>
          <p:cNvPr id="17" name="dot"/>
          <p:cNvSpPr/>
          <p:nvPr/>
        </p:nvSpPr>
        <p:spPr>
          <a:xfrm>
            <a:off x="10775289" y="2484882"/>
            <a:ext cx="228600" cy="228600"/>
          </a:xfrm>
          <a:prstGeom prst="ellipse">
            <a:avLst/>
          </a:prstGeom>
          <a:solidFill>
            <a:srgbClr val="A1A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75289" y="2942082"/>
            <a:ext cx="289681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NEXT</a:t>
            </a:r>
          </a:p>
        </p:txBody>
      </p:sp>
      <p:sp>
        <p:nvSpPr>
          <p:cNvPr id="19" name="TextBox 18"/>
          <p:cNvSpPr txBox="1"/>
          <p:nvPr/>
        </p:nvSpPr>
        <p:spPr>
          <a:xfrm>
            <a:off x="10775289" y="3435858"/>
            <a:ext cx="2896819" cy="502920"/>
          </a:xfrm>
          <a:prstGeom prst="rect">
            <a:avLst/>
          </a:prstGeom>
          <a:noFill/>
        </p:spPr>
        <p:txBody>
          <a:bodyPr wrap="square" lIns="0" rIns="0" tIns="0" bIns="0" anchor="t">
            <a:spAutoFit/>
          </a:bodyPr>
          <a:lstStyle/>
          <a:p>
            <a:pPr algn="l">
              <a:lnSpc>
                <a:spcPct val="132000"/>
              </a:lnSpc>
            </a:pPr>
            <a:r>
              <a:rPr sz="3000" b="0" u="none" i="0">
                <a:solidFill>
                  <a:srgbClr val="18181B"/>
                </a:solidFill>
                <a:latin typeface="Arial"/>
              </a:rPr>
              <a:t>M2</a:t>
            </a:r>
          </a:p>
        </p:txBody>
      </p:sp>
      <p:sp>
        <p:nvSpPr>
          <p:cNvPr id="20" name="TextBox 19"/>
          <p:cNvSpPr txBox="1"/>
          <p:nvPr/>
        </p:nvSpPr>
        <p:spPr>
          <a:xfrm>
            <a:off x="10775289" y="4139946"/>
            <a:ext cx="289681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Reuse architecture, settled by benchmark</a:t>
            </a:r>
          </a:p>
        </p:txBody>
      </p:sp>
      <p:sp>
        <p:nvSpPr>
          <p:cNvPr id="21" name="dot"/>
          <p:cNvSpPr/>
          <p:nvPr/>
        </p:nvSpPr>
        <p:spPr>
          <a:xfrm>
            <a:off x="14037868" y="2484882"/>
            <a:ext cx="228600" cy="228600"/>
          </a:xfrm>
          <a:prstGeom prst="ellipse">
            <a:avLst/>
          </a:prstGeom>
          <a:solidFill>
            <a:srgbClr val="A1A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037868" y="2942082"/>
            <a:ext cx="289681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LATER</a:t>
            </a:r>
          </a:p>
        </p:txBody>
      </p:sp>
      <p:sp>
        <p:nvSpPr>
          <p:cNvPr id="23" name="TextBox 22"/>
          <p:cNvSpPr txBox="1"/>
          <p:nvPr/>
        </p:nvSpPr>
        <p:spPr>
          <a:xfrm>
            <a:off x="14037868" y="3435858"/>
            <a:ext cx="2896819" cy="502920"/>
          </a:xfrm>
          <a:prstGeom prst="rect">
            <a:avLst/>
          </a:prstGeom>
          <a:noFill/>
        </p:spPr>
        <p:txBody>
          <a:bodyPr wrap="square" lIns="0" rIns="0" tIns="0" bIns="0" anchor="t">
            <a:spAutoFit/>
          </a:bodyPr>
          <a:lstStyle/>
          <a:p>
            <a:pPr algn="l">
              <a:lnSpc>
                <a:spcPct val="132000"/>
              </a:lnSpc>
            </a:pPr>
            <a:r>
              <a:rPr sz="3000" b="0" u="none" i="0">
                <a:solidFill>
                  <a:srgbClr val="18181B"/>
                </a:solidFill>
                <a:latin typeface="Arial"/>
              </a:rPr>
              <a:t>M3 - M6</a:t>
            </a:r>
          </a:p>
        </p:txBody>
      </p:sp>
      <p:sp>
        <p:nvSpPr>
          <p:cNvPr id="24" name="TextBox 23"/>
          <p:cNvSpPr txBox="1"/>
          <p:nvPr/>
        </p:nvSpPr>
        <p:spPr>
          <a:xfrm>
            <a:off x="14037868" y="4139946"/>
            <a:ext cx="289681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Idle-PE tier, off-chip pool, policy, scenarios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PROGRESS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Since last week</a:t>
            </a:r>
          </a:p>
        </p:txBody>
      </p:sp>
      <p:sp>
        <p:nvSpPr>
          <p:cNvPr id="4" name="dot"/>
          <p:cNvSpPr/>
          <p:nvPr/>
        </p:nvSpPr>
        <p:spPr>
          <a:xfrm>
            <a:off x="987552" y="2612898"/>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3312" y="2484882"/>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Force-decode (S6b) was designed, built in three stages and verified in simulation, then merged.</a:t>
            </a:r>
          </a:p>
        </p:txBody>
      </p:sp>
      <p:sp>
        <p:nvSpPr>
          <p:cNvPr id="6" name="dot"/>
          <p:cNvSpPr/>
          <p:nvPr/>
        </p:nvSpPr>
        <p:spPr>
          <a:xfrm>
            <a:off x="987552" y="3326129"/>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3198113"/>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That closes S6, so M0's reuse line is complete: decode retain, prefill warm-start and force-decode all sit on one branch.</a:t>
            </a:r>
          </a:p>
        </p:txBody>
      </p:sp>
      <p:sp>
        <p:nvSpPr>
          <p:cNvPr id="8" name="dot"/>
          <p:cNvSpPr/>
          <p:nvPr/>
        </p:nvSpPr>
        <p:spPr>
          <a:xfrm>
            <a:off x="987552" y="4441697"/>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4313681"/>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Two device sweeps finished on real silicon: prefill at a 16,384-token prompt and decode at a 4,096-token context.</a:t>
            </a:r>
          </a:p>
        </p:txBody>
      </p:sp>
      <p:sp>
        <p:nvSpPr>
          <p:cNvPr id="10" name="dot"/>
          <p:cNvSpPr/>
          <p:nvPr/>
        </p:nvSpPr>
        <p:spPr>
          <a:xfrm>
            <a:off x="987552" y="5154929"/>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5026914"/>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M1's slot contract was reviewed and approved, and the first subtask is already built and verified in simulation.</a:t>
            </a:r>
          </a:p>
        </p:txBody>
      </p:sp>
      <p:sp>
        <p:nvSpPr>
          <p:cNvPr id="12" name="dot"/>
          <p:cNvSpPr/>
          <p:nvPr/>
        </p:nvSpPr>
        <p:spPr>
          <a:xfrm>
            <a:off x="987552" y="5868162"/>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5740146"/>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Building it reversed two things the contract had assumed, so the design is now shaped by code rather than by argument.</a:t>
            </a:r>
          </a:p>
        </p:txBody>
      </p:sp>
      <p:sp>
        <p:nvSpPr>
          <p:cNvPr id="14" name="dot"/>
          <p:cNvSpPr/>
          <p:nvPr/>
        </p:nvSpPr>
        <p:spPr>
          <a:xfrm>
            <a:off x="987552" y="6983729"/>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6855714"/>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M2 grew from a single cost model into a cluster of coupled architecture questions, each to be settled by a benchmark.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3877056"/>
            <a:ext cx="16312896" cy="1110996"/>
          </a:xfrm>
          <a:prstGeom prst="rect">
            <a:avLst/>
          </a:prstGeom>
          <a:noFill/>
        </p:spPr>
        <p:txBody>
          <a:bodyPr wrap="square" lIns="0" rIns="0" tIns="0" bIns="0" anchor="t">
            <a:spAutoFit/>
          </a:bodyPr>
          <a:lstStyle/>
          <a:p>
            <a:pPr algn="l">
              <a:lnSpc>
                <a:spcPct val="108000"/>
              </a:lnSpc>
            </a:pPr>
            <a:r>
              <a:rPr sz="8100" b="1" u="none" i="0">
                <a:solidFill>
                  <a:srgbClr val="6D28D9"/>
                </a:solidFill>
                <a:latin typeface="Arial"/>
              </a:rPr>
              <a:t>01</a:t>
            </a:r>
          </a:p>
        </p:txBody>
      </p:sp>
      <p:sp>
        <p:nvSpPr>
          <p:cNvPr id="3" name="TextBox 2"/>
          <p:cNvSpPr txBox="1"/>
          <p:nvPr/>
        </p:nvSpPr>
        <p:spPr>
          <a:xfrm>
            <a:off x="987552" y="5239512"/>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What now works</a:t>
            </a:r>
          </a:p>
        </p:txBody>
      </p:sp>
      <p:sp>
        <p:nvSpPr>
          <p:cNvPr id="4" name="TextBox 3"/>
          <p:cNvSpPr txBox="1"/>
          <p:nvPr/>
        </p:nvSpPr>
        <p:spPr>
          <a:xfrm>
            <a:off x="987552" y="6099048"/>
            <a:ext cx="11887200" cy="402336"/>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Three mechanisms, one branch.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THE IDEA</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Reuse what is already there, and force-decode only the new text</a:t>
            </a:r>
          </a:p>
        </p:txBody>
      </p:sp>
      <p:pic>
        <p:nvPicPr>
          <p:cNvPr id="4" name="figure" descr="fig_forcedecode.png"/>
          <p:cNvPicPr>
            <a:picLocks noChangeAspect="1"/>
          </p:cNvPicPr>
          <p:nvPr/>
        </p:nvPicPr>
        <p:blipFill>
          <a:blip r:embed="rId2"/>
          <a:stretch>
            <a:fillRect/>
          </a:stretch>
        </p:blipFill>
        <p:spPr>
          <a:xfrm>
            <a:off x="1974738" y="2484882"/>
            <a:ext cx="14338523" cy="5271516"/>
          </a:xfrm>
          <a:prstGeom prst="rect">
            <a:avLst/>
          </a:prstGeom>
        </p:spPr>
      </p:pic>
      <p:sp>
        <p:nvSpPr>
          <p:cNvPr id="5" name="TextBox 4"/>
          <p:cNvSpPr txBox="1"/>
          <p:nvPr/>
        </p:nvSpPr>
        <p:spPr>
          <a:xfrm>
            <a:off x="987552" y="8030718"/>
            <a:ext cx="1631289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Force-decode runs ordinary decode steps, but the host supplies the token instead of the model sampling one, so the sampling work is skipped.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CAPABILITY</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What is supported today</a:t>
            </a:r>
          </a:p>
        </p:txBody>
      </p:sp>
      <p:sp>
        <p:nvSpPr>
          <p:cNvPr id="4" name="dot"/>
          <p:cNvSpPr/>
          <p:nvPr/>
        </p:nvSpPr>
        <p:spPr>
          <a:xfrm>
            <a:off x="987552" y="2612898"/>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3312" y="2484882"/>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Decode keeps its KV across rounds and extends it, rather than rewinding to zero. Correctness checked in simulation, cost measured on the wafer.</a:t>
            </a:r>
          </a:p>
        </p:txBody>
      </p:sp>
      <p:sp>
        <p:nvSpPr>
          <p:cNvPr id="6" name="dot"/>
          <p:cNvSpPr/>
          <p:nvPr/>
        </p:nvSpPr>
        <p:spPr>
          <a:xfrm>
            <a:off x="987552" y="3728465"/>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3600450"/>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Prefill can start from a resident prefix instead of token 0, and its output is byte-identical to a cold run, both in simulation and on the wafer.</a:t>
            </a:r>
          </a:p>
        </p:txBody>
      </p:sp>
      <p:sp>
        <p:nvSpPr>
          <p:cNvPr id="8" name="dot"/>
          <p:cNvSpPr/>
          <p:nvPr/>
        </p:nvSpPr>
        <p:spPr>
          <a:xfrm>
            <a:off x="987552" y="4844033"/>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4716018"/>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New text can be appended to a kept context by force-decoding it. Verified in simulation only so far.</a:t>
            </a:r>
          </a:p>
        </p:txBody>
      </p:sp>
      <p:sp>
        <p:nvSpPr>
          <p:cNvPr id="10" name="dot"/>
          <p:cNvSpPr/>
          <p:nvPr/>
        </p:nvSpPr>
        <p:spPr>
          <a:xfrm>
            <a:off x="987552" y="5557266"/>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5429250"/>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Still one resident request per bank. Holding several at once is exactly what M1 adds.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3877056"/>
            <a:ext cx="16312896" cy="1110996"/>
          </a:xfrm>
          <a:prstGeom prst="rect">
            <a:avLst/>
          </a:prstGeom>
          <a:noFill/>
        </p:spPr>
        <p:txBody>
          <a:bodyPr wrap="square" lIns="0" rIns="0" tIns="0" bIns="0" anchor="t">
            <a:spAutoFit/>
          </a:bodyPr>
          <a:lstStyle/>
          <a:p>
            <a:pPr algn="l">
              <a:lnSpc>
                <a:spcPct val="108000"/>
              </a:lnSpc>
            </a:pPr>
            <a:r>
              <a:rPr sz="8100" b="1" u="none" i="0">
                <a:solidFill>
                  <a:srgbClr val="6D28D9"/>
                </a:solidFill>
                <a:latin typeface="Arial"/>
              </a:rPr>
              <a:t>02</a:t>
            </a:r>
          </a:p>
        </p:txBody>
      </p:sp>
      <p:sp>
        <p:nvSpPr>
          <p:cNvPr id="3" name="TextBox 2"/>
          <p:cNvSpPr txBox="1"/>
          <p:nvPr/>
        </p:nvSpPr>
        <p:spPr>
          <a:xfrm>
            <a:off x="987552" y="5239512"/>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What we measured</a:t>
            </a:r>
          </a:p>
        </p:txBody>
      </p:sp>
      <p:sp>
        <p:nvSpPr>
          <p:cNvPr id="4" name="TextBox 3"/>
          <p:cNvSpPr txBox="1"/>
          <p:nvPr/>
        </p:nvSpPr>
        <p:spPr>
          <a:xfrm>
            <a:off x="987552" y="6099048"/>
            <a:ext cx="11887200" cy="402336"/>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Two sweeps on real silicon, one finding that changed our mind.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PREFILL, REAL WSE-3</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reuse fraction dominates; length only nudges it</a:t>
            </a:r>
          </a:p>
        </p:txBody>
      </p:sp>
      <p:sp>
        <p:nvSpPr>
          <p:cNvPr id="4" name="TextBox 3"/>
          <p:cNvSpPr txBox="1"/>
          <p:nvPr/>
        </p:nvSpPr>
        <p:spPr>
          <a:xfrm>
            <a:off x="987552" y="2210562"/>
            <a:ext cx="11887200" cy="402336"/>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Time saved by starting from a resident prefix. 524,288 PEs, one run per point.</a:t>
            </a:r>
          </a:p>
        </p:txBody>
      </p:sp>
      <p:sp>
        <p:nvSpPr>
          <p:cNvPr id="5" name="TextBox 4"/>
          <p:cNvSpPr txBox="1"/>
          <p:nvPr/>
        </p:nvSpPr>
        <p:spPr>
          <a:xfrm>
            <a:off x="987552" y="3070098"/>
            <a:ext cx="365972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PREFIX REUSED</a:t>
            </a:r>
          </a:p>
        </p:txBody>
      </p:sp>
      <p:sp>
        <p:nvSpPr>
          <p:cNvPr id="6" name="TextBox 5"/>
          <p:cNvSpPr txBox="1"/>
          <p:nvPr/>
        </p:nvSpPr>
        <p:spPr>
          <a:xfrm>
            <a:off x="4839302" y="3070098"/>
            <a:ext cx="43916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8,192-TOKEN PROMPT</a:t>
            </a:r>
          </a:p>
        </p:txBody>
      </p:sp>
      <p:sp>
        <p:nvSpPr>
          <p:cNvPr id="7" name="TextBox 6"/>
          <p:cNvSpPr txBox="1"/>
          <p:nvPr/>
        </p:nvSpPr>
        <p:spPr>
          <a:xfrm>
            <a:off x="9422998" y="3070098"/>
            <a:ext cx="43916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16,384-TOKEN PROMPT</a:t>
            </a:r>
          </a:p>
        </p:txBody>
      </p:sp>
      <p:sp>
        <p:nvSpPr>
          <p:cNvPr id="8" name="TextBox 7"/>
          <p:cNvSpPr txBox="1"/>
          <p:nvPr/>
        </p:nvSpPr>
        <p:spPr>
          <a:xfrm>
            <a:off x="14006694" y="3070098"/>
            <a:ext cx="329375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DIFFERENCE</a:t>
            </a:r>
          </a:p>
        </p:txBody>
      </p:sp>
      <p:sp>
        <p:nvSpPr>
          <p:cNvPr id="9" name="rule"/>
          <p:cNvSpPr/>
          <p:nvPr/>
        </p:nvSpPr>
        <p:spPr>
          <a:xfrm>
            <a:off x="987552" y="3536441"/>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774185"/>
            <a:ext cx="36597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none (cold)</a:t>
            </a:r>
          </a:p>
        </p:txBody>
      </p:sp>
      <p:sp>
        <p:nvSpPr>
          <p:cNvPr id="11" name="rule"/>
          <p:cNvSpPr/>
          <p:nvPr/>
        </p:nvSpPr>
        <p:spPr>
          <a:xfrm>
            <a:off x="4839302" y="3536441"/>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39302" y="3774185"/>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1,001 ms</a:t>
            </a:r>
          </a:p>
        </p:txBody>
      </p:sp>
      <p:sp>
        <p:nvSpPr>
          <p:cNvPr id="13" name="rule"/>
          <p:cNvSpPr/>
          <p:nvPr/>
        </p:nvSpPr>
        <p:spPr>
          <a:xfrm>
            <a:off x="9422998" y="3536441"/>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2998" y="3774185"/>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3,145 ms</a:t>
            </a:r>
          </a:p>
        </p:txBody>
      </p:sp>
      <p:sp>
        <p:nvSpPr>
          <p:cNvPr id="15" name="rule"/>
          <p:cNvSpPr/>
          <p:nvPr/>
        </p:nvSpPr>
        <p:spPr>
          <a:xfrm>
            <a:off x="14006694" y="3536441"/>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06694" y="3774185"/>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baseline</a:t>
            </a:r>
          </a:p>
        </p:txBody>
      </p:sp>
      <p:sp>
        <p:nvSpPr>
          <p:cNvPr id="17" name="rule"/>
          <p:cNvSpPr/>
          <p:nvPr/>
        </p:nvSpPr>
        <p:spPr>
          <a:xfrm>
            <a:off x="987552" y="4359402"/>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97146"/>
            <a:ext cx="36597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25 %</a:t>
            </a:r>
          </a:p>
        </p:txBody>
      </p:sp>
      <p:sp>
        <p:nvSpPr>
          <p:cNvPr id="19" name="rule"/>
          <p:cNvSpPr/>
          <p:nvPr/>
        </p:nvSpPr>
        <p:spPr>
          <a:xfrm>
            <a:off x="4839302" y="435940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39302" y="459714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-7.7 %</a:t>
            </a:r>
          </a:p>
        </p:txBody>
      </p:sp>
      <p:sp>
        <p:nvSpPr>
          <p:cNvPr id="21" name="rule"/>
          <p:cNvSpPr/>
          <p:nvPr/>
        </p:nvSpPr>
        <p:spPr>
          <a:xfrm>
            <a:off x="9422998" y="435940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22998" y="459714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-7.3 %</a:t>
            </a:r>
          </a:p>
        </p:txBody>
      </p:sp>
      <p:sp>
        <p:nvSpPr>
          <p:cNvPr id="23" name="rule"/>
          <p:cNvSpPr/>
          <p:nvPr/>
        </p:nvSpPr>
        <p:spPr>
          <a:xfrm>
            <a:off x="14006694" y="4359402"/>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006694" y="4597146"/>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-0.5</a:t>
            </a:r>
          </a:p>
        </p:txBody>
      </p:sp>
      <p:sp>
        <p:nvSpPr>
          <p:cNvPr id="25" name="rule"/>
          <p:cNvSpPr/>
          <p:nvPr/>
        </p:nvSpPr>
        <p:spPr>
          <a:xfrm>
            <a:off x="987552" y="5182362"/>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5420106"/>
            <a:ext cx="36597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50 %</a:t>
            </a:r>
          </a:p>
        </p:txBody>
      </p:sp>
      <p:sp>
        <p:nvSpPr>
          <p:cNvPr id="27" name="rule"/>
          <p:cNvSpPr/>
          <p:nvPr/>
        </p:nvSpPr>
        <p:spPr>
          <a:xfrm>
            <a:off x="4839302" y="518236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39302" y="542010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-22.8 %</a:t>
            </a:r>
          </a:p>
        </p:txBody>
      </p:sp>
      <p:sp>
        <p:nvSpPr>
          <p:cNvPr id="29" name="rule"/>
          <p:cNvSpPr/>
          <p:nvPr/>
        </p:nvSpPr>
        <p:spPr>
          <a:xfrm>
            <a:off x="9422998" y="518236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22998" y="542010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-23.8 %</a:t>
            </a:r>
          </a:p>
        </p:txBody>
      </p:sp>
      <p:sp>
        <p:nvSpPr>
          <p:cNvPr id="31" name="rule"/>
          <p:cNvSpPr/>
          <p:nvPr/>
        </p:nvSpPr>
        <p:spPr>
          <a:xfrm>
            <a:off x="14006694" y="5182362"/>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006694" y="5420106"/>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a:t>
            </a:r>
          </a:p>
        </p:txBody>
      </p:sp>
      <p:sp>
        <p:nvSpPr>
          <p:cNvPr id="33" name="rule"/>
          <p:cNvSpPr/>
          <p:nvPr/>
        </p:nvSpPr>
        <p:spPr>
          <a:xfrm>
            <a:off x="987552" y="6005322"/>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6243066"/>
            <a:ext cx="36597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75 %</a:t>
            </a:r>
          </a:p>
        </p:txBody>
      </p:sp>
      <p:sp>
        <p:nvSpPr>
          <p:cNvPr id="35" name="rule"/>
          <p:cNvSpPr/>
          <p:nvPr/>
        </p:nvSpPr>
        <p:spPr>
          <a:xfrm>
            <a:off x="4839302" y="600532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39302" y="624306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-45.2 %</a:t>
            </a:r>
          </a:p>
        </p:txBody>
      </p:sp>
      <p:sp>
        <p:nvSpPr>
          <p:cNvPr id="37" name="rule"/>
          <p:cNvSpPr/>
          <p:nvPr/>
        </p:nvSpPr>
        <p:spPr>
          <a:xfrm>
            <a:off x="9422998" y="6005322"/>
            <a:ext cx="43916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22998" y="6243066"/>
            <a:ext cx="43916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-49.8 %</a:t>
            </a:r>
          </a:p>
        </p:txBody>
      </p:sp>
      <p:sp>
        <p:nvSpPr>
          <p:cNvPr id="39" name="rule"/>
          <p:cNvSpPr/>
          <p:nvPr/>
        </p:nvSpPr>
        <p:spPr>
          <a:xfrm>
            <a:off x="14006694" y="6005322"/>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006694" y="6243066"/>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DECODE, REAL WSE-3</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Retain wins by skipping whole steps</a:t>
            </a:r>
          </a:p>
        </p:txBody>
      </p:sp>
      <p:sp>
        <p:nvSpPr>
          <p:cNvPr id="4" name="TextBox 3"/>
          <p:cNvSpPr txBox="1"/>
          <p:nvPr/>
        </p:nvSpPr>
        <p:spPr>
          <a:xfrm>
            <a:off x="987552" y="2484882"/>
            <a:ext cx="5487189" cy="1851660"/>
          </a:xfrm>
          <a:prstGeom prst="rect">
            <a:avLst/>
          </a:prstGeom>
          <a:noFill/>
        </p:spPr>
        <p:txBody>
          <a:bodyPr wrap="square" lIns="0" rIns="0" tIns="0" bIns="0" anchor="t">
            <a:spAutoFit/>
          </a:bodyPr>
          <a:lstStyle/>
          <a:p>
            <a:pPr algn="l">
              <a:lnSpc>
                <a:spcPct val="108000"/>
              </a:lnSpc>
            </a:pPr>
            <a:r>
              <a:rPr sz="13500" b="1" u="none" i="0">
                <a:solidFill>
                  <a:srgbClr val="6D28D9"/>
                </a:solidFill>
                <a:latin typeface="Arial"/>
              </a:rPr>
              <a:t>-49.3%</a:t>
            </a:r>
          </a:p>
        </p:txBody>
      </p:sp>
      <p:sp>
        <p:nvSpPr>
          <p:cNvPr id="5" name="TextBox 4"/>
          <p:cNvSpPr txBox="1"/>
          <p:nvPr/>
        </p:nvSpPr>
        <p:spPr>
          <a:xfrm>
            <a:off x="6977661" y="3008376"/>
            <a:ext cx="10322786"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second decode round at a 4,096-token context,
the point measured this week</a:t>
            </a:r>
          </a:p>
        </p:txBody>
      </p:sp>
      <p:sp>
        <p:nvSpPr>
          <p:cNvPr id="6" name="card"/>
          <p:cNvSpPr/>
          <p:nvPr/>
        </p:nvSpPr>
        <p:spPr>
          <a:xfrm>
            <a:off x="987552" y="4839462"/>
            <a:ext cx="5187696" cy="2148840"/>
          </a:xfrm>
          <a:prstGeom prst="roundRect">
            <a:avLst>
              <a:gd name="adj" fmla="val 6195"/>
            </a:avLst>
          </a:prstGeom>
          <a:solidFill>
            <a:srgbClr val="F2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177790"/>
            <a:ext cx="4419600" cy="719328"/>
          </a:xfrm>
          <a:prstGeom prst="rect">
            <a:avLst/>
          </a:prstGeom>
          <a:noFill/>
        </p:spPr>
        <p:txBody>
          <a:bodyPr wrap="square" lIns="0" rIns="0" tIns="0" bIns="0" anchor="t">
            <a:spAutoFit/>
          </a:bodyPr>
          <a:lstStyle/>
          <a:p>
            <a:pPr algn="l">
              <a:lnSpc>
                <a:spcPct val="118000"/>
              </a:lnSpc>
            </a:pPr>
            <a:r>
              <a:rPr sz="4800" b="1" u="none" i="0">
                <a:solidFill>
                  <a:srgbClr val="6D28D9"/>
                </a:solidFill>
                <a:latin typeface="Arial"/>
              </a:rPr>
              <a:t>-51.4%</a:t>
            </a:r>
          </a:p>
        </p:txBody>
      </p:sp>
      <p:sp>
        <p:nvSpPr>
          <p:cNvPr id="8" name="TextBox 7"/>
          <p:cNvSpPr txBox="1"/>
          <p:nvPr/>
        </p:nvSpPr>
        <p:spPr>
          <a:xfrm>
            <a:off x="1371600" y="5991606"/>
            <a:ext cx="44196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Second round</a:t>
            </a:r>
          </a:p>
        </p:txBody>
      </p:sp>
      <p:sp>
        <p:nvSpPr>
          <p:cNvPr id="9" name="TextBox 8"/>
          <p:cNvSpPr txBox="1"/>
          <p:nvPr/>
        </p:nvSpPr>
        <p:spPr>
          <a:xfrm>
            <a:off x="1371600" y="6375654"/>
            <a:ext cx="4419600" cy="301752"/>
          </a:xfrm>
          <a:prstGeom prst="rect">
            <a:avLst/>
          </a:prstGeom>
          <a:noFill/>
        </p:spPr>
        <p:txBody>
          <a:bodyPr wrap="square" lIns="0" rIns="0" tIns="0" bIns="0" anchor="t">
            <a:spAutoFit/>
          </a:bodyPr>
          <a:lstStyle/>
          <a:p>
            <a:pPr algn="l">
              <a:lnSpc>
                <a:spcPct val="132000"/>
              </a:lnSpc>
            </a:pPr>
            <a:r>
              <a:rPr sz="1800" b="0" u="none" i="0">
                <a:solidFill>
                  <a:srgbClr val="A1A1AA"/>
                </a:solidFill>
                <a:latin typeface="Arial"/>
              </a:rPr>
              <a:t>1,024-token context</a:t>
            </a:r>
          </a:p>
        </p:txBody>
      </p:sp>
      <p:sp>
        <p:nvSpPr>
          <p:cNvPr id="10" name="card"/>
          <p:cNvSpPr/>
          <p:nvPr/>
        </p:nvSpPr>
        <p:spPr>
          <a:xfrm>
            <a:off x="6550152" y="4839462"/>
            <a:ext cx="5187696" cy="2148840"/>
          </a:xfrm>
          <a:prstGeom prst="roundRect">
            <a:avLst>
              <a:gd name="adj" fmla="val 6195"/>
            </a:avLst>
          </a:prstGeom>
          <a:solidFill>
            <a:srgbClr val="E9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4200" y="5177790"/>
            <a:ext cx="4419600" cy="719328"/>
          </a:xfrm>
          <a:prstGeom prst="rect">
            <a:avLst/>
          </a:prstGeom>
          <a:noFill/>
        </p:spPr>
        <p:txBody>
          <a:bodyPr wrap="square" lIns="0" rIns="0" tIns="0" bIns="0" anchor="t">
            <a:spAutoFit/>
          </a:bodyPr>
          <a:lstStyle/>
          <a:p>
            <a:pPr algn="l">
              <a:lnSpc>
                <a:spcPct val="118000"/>
              </a:lnSpc>
            </a:pPr>
            <a:r>
              <a:rPr sz="4800" b="1" u="none" i="0">
                <a:solidFill>
                  <a:srgbClr val="1D4ED8"/>
                </a:solidFill>
                <a:latin typeface="Arial"/>
              </a:rPr>
              <a:t>-34.6%</a:t>
            </a:r>
          </a:p>
        </p:txBody>
      </p:sp>
      <p:sp>
        <p:nvSpPr>
          <p:cNvPr id="12" name="TextBox 11"/>
          <p:cNvSpPr txBox="1"/>
          <p:nvPr/>
        </p:nvSpPr>
        <p:spPr>
          <a:xfrm>
            <a:off x="6934200" y="5991606"/>
            <a:ext cx="44196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Both rounds together</a:t>
            </a:r>
          </a:p>
        </p:txBody>
      </p:sp>
      <p:sp>
        <p:nvSpPr>
          <p:cNvPr id="13" name="TextBox 12"/>
          <p:cNvSpPr txBox="1"/>
          <p:nvPr/>
        </p:nvSpPr>
        <p:spPr>
          <a:xfrm>
            <a:off x="6934200" y="6375654"/>
            <a:ext cx="4419600" cy="301752"/>
          </a:xfrm>
          <a:prstGeom prst="rect">
            <a:avLst/>
          </a:prstGeom>
          <a:noFill/>
        </p:spPr>
        <p:txBody>
          <a:bodyPr wrap="square" lIns="0" rIns="0" tIns="0" bIns="0" anchor="t">
            <a:spAutoFit/>
          </a:bodyPr>
          <a:lstStyle/>
          <a:p>
            <a:pPr algn="l">
              <a:lnSpc>
                <a:spcPct val="132000"/>
              </a:lnSpc>
            </a:pPr>
            <a:r>
              <a:rPr sz="1800" b="0" u="none" i="0">
                <a:solidFill>
                  <a:srgbClr val="A1A1AA"/>
                </a:solidFill>
                <a:latin typeface="Arial"/>
              </a:rPr>
              <a:t>1,024-token context</a:t>
            </a:r>
          </a:p>
        </p:txBody>
      </p:sp>
      <p:sp>
        <p:nvSpPr>
          <p:cNvPr id="14" name="card"/>
          <p:cNvSpPr/>
          <p:nvPr/>
        </p:nvSpPr>
        <p:spPr>
          <a:xfrm>
            <a:off x="12112752" y="4839462"/>
            <a:ext cx="5187696" cy="2148840"/>
          </a:xfrm>
          <a:prstGeom prst="roundRect">
            <a:avLst>
              <a:gd name="adj" fmla="val 6195"/>
            </a:avLst>
          </a:prstGeom>
          <a:solidFill>
            <a:srgbClr val="E5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496800" y="5177790"/>
            <a:ext cx="4419600" cy="719328"/>
          </a:xfrm>
          <a:prstGeom prst="rect">
            <a:avLst/>
          </a:prstGeom>
          <a:noFill/>
        </p:spPr>
        <p:txBody>
          <a:bodyPr wrap="square" lIns="0" rIns="0" tIns="0" bIns="0" anchor="t">
            <a:spAutoFit/>
          </a:bodyPr>
          <a:lstStyle/>
          <a:p>
            <a:pPr algn="l">
              <a:lnSpc>
                <a:spcPct val="118000"/>
              </a:lnSpc>
            </a:pPr>
            <a:r>
              <a:rPr sz="4800" b="1" u="none" i="0">
                <a:solidFill>
                  <a:srgbClr val="047857"/>
                </a:solidFill>
                <a:latin typeface="Arial"/>
              </a:rPr>
              <a:t>+0.02%</a:t>
            </a:r>
          </a:p>
        </p:txBody>
      </p:sp>
      <p:sp>
        <p:nvSpPr>
          <p:cNvPr id="16" name="TextBox 15"/>
          <p:cNvSpPr txBox="1"/>
          <p:nvPr/>
        </p:nvSpPr>
        <p:spPr>
          <a:xfrm>
            <a:off x="12496800" y="5991606"/>
            <a:ext cx="44196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Equal-work control</a:t>
            </a:r>
          </a:p>
        </p:txBody>
      </p:sp>
      <p:sp>
        <p:nvSpPr>
          <p:cNvPr id="17" name="TextBox 16"/>
          <p:cNvSpPr txBox="1"/>
          <p:nvPr/>
        </p:nvSpPr>
        <p:spPr>
          <a:xfrm>
            <a:off x="12496800" y="6375654"/>
            <a:ext cx="4419600" cy="301752"/>
          </a:xfrm>
          <a:prstGeom prst="rect">
            <a:avLst/>
          </a:prstGeom>
          <a:noFill/>
        </p:spPr>
        <p:txBody>
          <a:bodyPr wrap="square" lIns="0" rIns="0" tIns="0" bIns="0" anchor="t">
            <a:spAutoFit/>
          </a:bodyPr>
          <a:lstStyle/>
          <a:p>
            <a:pPr algn="l">
              <a:lnSpc>
                <a:spcPct val="132000"/>
              </a:lnSpc>
            </a:pPr>
            <a:r>
              <a:rPr sz="1800" b="0" u="none" i="0">
                <a:solidFill>
                  <a:srgbClr val="A1A1AA"/>
                </a:solidFill>
                <a:latin typeface="Arial"/>
              </a:rPr>
              <a:t>a retained step is not cheaper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HOW IT WORKS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Two reasons a forced step could be cheaper</a:t>
            </a:r>
          </a:p>
        </p:txBody>
      </p:sp>
      <p:pic>
        <p:nvPicPr>
          <p:cNvPr id="4" name="figure" descr="fig_mechanism.png"/>
          <p:cNvPicPr>
            <a:picLocks noChangeAspect="1"/>
          </p:cNvPicPr>
          <p:nvPr/>
        </p:nvPicPr>
        <p:blipFill>
          <a:blip r:embed="rId2"/>
          <a:stretch>
            <a:fillRect/>
          </a:stretch>
        </p:blipFill>
        <p:spPr>
          <a:xfrm>
            <a:off x="1974738" y="2484882"/>
            <a:ext cx="14338523" cy="5271516"/>
          </a:xfrm>
          <a:prstGeom prst="rect">
            <a:avLst/>
          </a:prstGeom>
        </p:spPr>
      </p:pic>
      <p:sp>
        <p:nvSpPr>
          <p:cNvPr id="5" name="TextBox 4"/>
          <p:cNvSpPr txBox="1"/>
          <p:nvPr/>
        </p:nvSpPr>
        <p:spPr>
          <a:xfrm>
            <a:off x="987552" y="8030718"/>
            <a:ext cx="1631289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A plain step cannot start until the one before it has picked its token. Supplying the token removes that stage, and removes the wait along with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FORCE-DECODE, SIMULATOR</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line is straight, so it is skipped work, not overlap</a:t>
            </a:r>
          </a:p>
        </p:txBody>
      </p:sp>
      <p:pic>
        <p:nvPicPr>
          <p:cNvPr id="4" name="figure" descr="fig_fsweep.png"/>
          <p:cNvPicPr>
            <a:picLocks noChangeAspect="1"/>
          </p:cNvPicPr>
          <p:nvPr/>
        </p:nvPicPr>
        <p:blipFill>
          <a:blip r:embed="rId2"/>
          <a:stretch>
            <a:fillRect/>
          </a:stretch>
        </p:blipFill>
        <p:spPr>
          <a:xfrm>
            <a:off x="2430276" y="2484882"/>
            <a:ext cx="13427446" cy="5271516"/>
          </a:xfrm>
          <a:prstGeom prst="rect">
            <a:avLst/>
          </a:prstGeom>
        </p:spPr>
      </p:pic>
      <p:sp>
        <p:nvSpPr>
          <p:cNvPr id="5" name="TextBox 4"/>
          <p:cNvSpPr txBox="1"/>
          <p:nvPr/>
        </p:nvSpPr>
        <p:spPr>
          <a:xfrm>
            <a:off x="987552" y="8030718"/>
            <a:ext cx="1631289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Toy layout: 2x2 blocks, width 64, vocabulary 24. A forced step costs about 28% of a plain step here, roughly 806 cycles against 2,856.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FINDING</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This partly falsified what we expected</a:t>
            </a:r>
          </a:p>
        </p:txBody>
      </p:sp>
      <p:sp>
        <p:nvSpPr>
          <p:cNvPr id="4" name="dot"/>
          <p:cNvSpPr/>
          <p:nvPr/>
        </p:nvSpPr>
        <p:spPr>
          <a:xfrm>
            <a:off x="987552" y="2612898"/>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3312" y="2484882"/>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We expected the gain to come from layer pipelining: forced tokens let the front of the model run ahead and fill the pipeline.</a:t>
            </a:r>
          </a:p>
        </p:txBody>
      </p:sp>
      <p:sp>
        <p:nvSpPr>
          <p:cNvPr id="6" name="dot"/>
          <p:cNvSpPr/>
          <p:nvPr/>
        </p:nvSpPr>
        <p:spPr>
          <a:xfrm>
            <a:off x="987552" y="3728465"/>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3600450"/>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straight line rules that out. Pipelining would flatten once the pipeline is full; a constant saving per forced step means work is simply not being done.</a:t>
            </a:r>
          </a:p>
        </p:txBody>
      </p:sp>
      <p:sp>
        <p:nvSpPr>
          <p:cNvPr id="8" name="dot"/>
          <p:cNvSpPr/>
          <p:nvPr/>
        </p:nvSpPr>
        <p:spPr>
          <a:xfrm>
            <a:off x="987552" y="4844033"/>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4716018"/>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Each forced step drops its sampling and output-projection stage, and that should grow with a real 128k vocabulary.</a:t>
            </a:r>
          </a:p>
        </p:txBody>
      </p:sp>
      <p:sp>
        <p:nvSpPr>
          <p:cNvPr id="10" name="dot"/>
          <p:cNvSpPr/>
          <p:nvPr/>
        </p:nvSpPr>
        <p:spPr>
          <a:xfrm>
            <a:off x="987552" y="5557266"/>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5429250"/>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Still open: this layout has very little per-layer compute, so whether pipelining also helps at real scale is unmeasured.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3877056"/>
            <a:ext cx="16312896" cy="1110996"/>
          </a:xfrm>
          <a:prstGeom prst="rect">
            <a:avLst/>
          </a:prstGeom>
          <a:noFill/>
        </p:spPr>
        <p:txBody>
          <a:bodyPr wrap="square" lIns="0" rIns="0" tIns="0" bIns="0" anchor="t">
            <a:spAutoFit/>
          </a:bodyPr>
          <a:lstStyle/>
          <a:p>
            <a:pPr algn="l">
              <a:lnSpc>
                <a:spcPct val="108000"/>
              </a:lnSpc>
            </a:pPr>
            <a:r>
              <a:rPr sz="8100" b="1" u="none" i="0">
                <a:solidFill>
                  <a:srgbClr val="6D28D9"/>
                </a:solidFill>
                <a:latin typeface="Arial"/>
              </a:rPr>
              <a:t>03</a:t>
            </a:r>
          </a:p>
        </p:txBody>
      </p:sp>
      <p:sp>
        <p:nvSpPr>
          <p:cNvPr id="3" name="TextBox 2"/>
          <p:cNvSpPr txBox="1"/>
          <p:nvPr/>
        </p:nvSpPr>
        <p:spPr>
          <a:xfrm>
            <a:off x="987552" y="5239512"/>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M1, and what to decide</a:t>
            </a:r>
          </a:p>
        </p:txBody>
      </p:sp>
      <p:sp>
        <p:nvSpPr>
          <p:cNvPr id="4" name="TextBox 3"/>
          <p:cNvSpPr txBox="1"/>
          <p:nvPr/>
        </p:nvSpPr>
        <p:spPr>
          <a:xfrm>
            <a:off x="987552" y="6099048"/>
            <a:ext cx="11887200" cy="402336"/>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Several requests in one card, and the architecture questions behind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M1 CONTRACT</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One number becomes two: capacity and compute</a:t>
            </a:r>
          </a:p>
        </p:txBody>
      </p:sp>
      <p:pic>
        <p:nvPicPr>
          <p:cNvPr id="4" name="figure" descr="fig_slots.png"/>
          <p:cNvPicPr>
            <a:picLocks noChangeAspect="1"/>
          </p:cNvPicPr>
          <p:nvPr/>
        </p:nvPicPr>
        <p:blipFill>
          <a:blip r:embed="rId2"/>
          <a:stretch>
            <a:fillRect/>
          </a:stretch>
        </p:blipFill>
        <p:spPr>
          <a:xfrm>
            <a:off x="1974738" y="2484882"/>
            <a:ext cx="14338523" cy="5271516"/>
          </a:xfrm>
          <a:prstGeom prst="rect">
            <a:avLst/>
          </a:prstGeom>
        </p:spPr>
      </p:pic>
      <p:sp>
        <p:nvSpPr>
          <p:cNvPr id="5" name="TextBox 4"/>
          <p:cNvSpPr txBox="1"/>
          <p:nvPr/>
        </p:nvSpPr>
        <p:spPr>
          <a:xfrm>
            <a:off x="987552" y="8030718"/>
            <a:ext cx="1631289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Slots size the cache, batch sizes the compute. The device is told one new thing, which slot each lane is on; everything else stays on the host.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M1 PLAN</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Six subtasks, the first two now done</a:t>
            </a:r>
          </a:p>
        </p:txBody>
      </p:sp>
      <p:sp>
        <p:nvSpPr>
          <p:cNvPr id="4" name="TextBox 3"/>
          <p:cNvSpPr txBox="1"/>
          <p:nvPr/>
        </p:nvSpPr>
        <p:spPr>
          <a:xfrm>
            <a:off x="987552" y="2484882"/>
            <a:ext cx="174853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STEP</a:t>
            </a:r>
          </a:p>
        </p:txBody>
      </p:sp>
      <p:sp>
        <p:nvSpPr>
          <p:cNvPr id="5" name="TextBox 4"/>
          <p:cNvSpPr txBox="1"/>
          <p:nvPr/>
        </p:nvSpPr>
        <p:spPr>
          <a:xfrm>
            <a:off x="2928112" y="2484882"/>
            <a:ext cx="594502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IT DELIVERS</a:t>
            </a:r>
          </a:p>
        </p:txBody>
      </p:sp>
      <p:sp>
        <p:nvSpPr>
          <p:cNvPr id="6" name="TextBox 5"/>
          <p:cNvSpPr txBox="1"/>
          <p:nvPr/>
        </p:nvSpPr>
        <p:spPr>
          <a:xfrm>
            <a:off x="9065158" y="2484882"/>
            <a:ext cx="27976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STATUS</a:t>
            </a:r>
          </a:p>
        </p:txBody>
      </p:sp>
      <p:sp>
        <p:nvSpPr>
          <p:cNvPr id="7" name="TextBox 6"/>
          <p:cNvSpPr txBox="1"/>
          <p:nvPr/>
        </p:nvSpPr>
        <p:spPr>
          <a:xfrm>
            <a:off x="12054840" y="2484882"/>
            <a:ext cx="524560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NOTE</a:t>
            </a:r>
          </a:p>
        </p:txBody>
      </p:sp>
      <p:sp>
        <p:nvSpPr>
          <p:cNvPr id="8" name="rule"/>
          <p:cNvSpPr/>
          <p:nvPr/>
        </p:nvSpPr>
        <p:spPr>
          <a:xfrm>
            <a:off x="987552" y="295122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18897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S0</a:t>
            </a:r>
          </a:p>
        </p:txBody>
      </p:sp>
      <p:sp>
        <p:nvSpPr>
          <p:cNvPr id="10" name="rule"/>
          <p:cNvSpPr/>
          <p:nvPr/>
        </p:nvSpPr>
        <p:spPr>
          <a:xfrm>
            <a:off x="2928112" y="295122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8112" y="318897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Slot addressing and metadata contract</a:t>
            </a:r>
          </a:p>
        </p:txBody>
      </p:sp>
      <p:sp>
        <p:nvSpPr>
          <p:cNvPr id="12" name="rule"/>
          <p:cNvSpPr/>
          <p:nvPr/>
        </p:nvSpPr>
        <p:spPr>
          <a:xfrm>
            <a:off x="9065158" y="295122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p:cNvSpPr/>
          <p:nvPr/>
        </p:nvSpPr>
        <p:spPr>
          <a:xfrm>
            <a:off x="9065158" y="3188970"/>
            <a:ext cx="1154465" cy="495299"/>
          </a:xfrm>
          <a:prstGeom prst="roundRect">
            <a:avLst>
              <a:gd name="adj" fmla="val 50000"/>
            </a:avLst>
          </a:prstGeom>
          <a:solidFill>
            <a:srgbClr val="E5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39478" y="3273170"/>
            <a:ext cx="605825" cy="326898"/>
          </a:xfrm>
          <a:prstGeom prst="rect">
            <a:avLst/>
          </a:prstGeom>
          <a:noFill/>
        </p:spPr>
        <p:txBody>
          <a:bodyPr wrap="square" lIns="0" rIns="0" tIns="0" bIns="0" anchor="t">
            <a:spAutoFit/>
          </a:bodyPr>
          <a:lstStyle/>
          <a:p>
            <a:pPr algn="l">
              <a:lnSpc>
                <a:spcPct val="132000"/>
              </a:lnSpc>
            </a:pPr>
            <a:r>
              <a:rPr sz="1950" b="0" u="none" i="0">
                <a:solidFill>
                  <a:srgbClr val="047857"/>
                </a:solidFill>
                <a:latin typeface="Arial"/>
              </a:rPr>
              <a:t>done</a:t>
            </a:r>
          </a:p>
        </p:txBody>
      </p:sp>
      <p:sp>
        <p:nvSpPr>
          <p:cNvPr id="15" name="rule"/>
          <p:cNvSpPr/>
          <p:nvPr/>
        </p:nvSpPr>
        <p:spPr>
          <a:xfrm>
            <a:off x="12054840" y="295122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54840" y="318897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Reviewed and approved, 26 July</a:t>
            </a:r>
          </a:p>
        </p:txBody>
      </p:sp>
      <p:sp>
        <p:nvSpPr>
          <p:cNvPr id="17" name="rule"/>
          <p:cNvSpPr/>
          <p:nvPr/>
        </p:nvSpPr>
        <p:spPr>
          <a:xfrm>
            <a:off x="987552" y="377418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01193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S1</a:t>
            </a:r>
          </a:p>
        </p:txBody>
      </p:sp>
      <p:sp>
        <p:nvSpPr>
          <p:cNvPr id="19" name="rule"/>
          <p:cNvSpPr/>
          <p:nvPr/>
        </p:nvSpPr>
        <p:spPr>
          <a:xfrm>
            <a:off x="2928112" y="377418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8112" y="401193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Multi-slot cache, inert</a:t>
            </a:r>
          </a:p>
        </p:txBody>
      </p:sp>
      <p:sp>
        <p:nvSpPr>
          <p:cNvPr id="21" name="rule"/>
          <p:cNvSpPr/>
          <p:nvPr/>
        </p:nvSpPr>
        <p:spPr>
          <a:xfrm>
            <a:off x="9065158" y="377418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ip"/>
          <p:cNvSpPr/>
          <p:nvPr/>
        </p:nvSpPr>
        <p:spPr>
          <a:xfrm>
            <a:off x="9065158" y="4011930"/>
            <a:ext cx="1154465" cy="495299"/>
          </a:xfrm>
          <a:prstGeom prst="roundRect">
            <a:avLst>
              <a:gd name="adj" fmla="val 50000"/>
            </a:avLst>
          </a:prstGeom>
          <a:solidFill>
            <a:srgbClr val="E5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39478" y="4096131"/>
            <a:ext cx="605825" cy="326898"/>
          </a:xfrm>
          <a:prstGeom prst="rect">
            <a:avLst/>
          </a:prstGeom>
          <a:noFill/>
        </p:spPr>
        <p:txBody>
          <a:bodyPr wrap="square" lIns="0" rIns="0" tIns="0" bIns="0" anchor="t">
            <a:spAutoFit/>
          </a:bodyPr>
          <a:lstStyle/>
          <a:p>
            <a:pPr algn="l">
              <a:lnSpc>
                <a:spcPct val="132000"/>
              </a:lnSpc>
            </a:pPr>
            <a:r>
              <a:rPr sz="1950" b="0" u="none" i="0">
                <a:solidFill>
                  <a:srgbClr val="047857"/>
                </a:solidFill>
                <a:latin typeface="Arial"/>
              </a:rPr>
              <a:t>done</a:t>
            </a:r>
          </a:p>
        </p:txBody>
      </p:sp>
      <p:sp>
        <p:nvSpPr>
          <p:cNvPr id="24" name="rule"/>
          <p:cNvSpPr/>
          <p:nvPr/>
        </p:nvSpPr>
        <p:spPr>
          <a:xfrm>
            <a:off x="12054840" y="377418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54840" y="401193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Bit-identical on both gates, in simulation</a:t>
            </a:r>
          </a:p>
        </p:txBody>
      </p:sp>
      <p:sp>
        <p:nvSpPr>
          <p:cNvPr id="26" name="rule"/>
          <p:cNvSpPr/>
          <p:nvPr/>
        </p:nvSpPr>
        <p:spPr>
          <a:xfrm>
            <a:off x="987552" y="459714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483489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S2</a:t>
            </a:r>
          </a:p>
        </p:txBody>
      </p:sp>
      <p:sp>
        <p:nvSpPr>
          <p:cNvPr id="28" name="rule"/>
          <p:cNvSpPr/>
          <p:nvPr/>
        </p:nvSpPr>
        <p:spPr>
          <a:xfrm>
            <a:off x="2928112" y="459714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8112" y="483489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Retain and extend across a changing active set</a:t>
            </a:r>
          </a:p>
        </p:txBody>
      </p:sp>
      <p:sp>
        <p:nvSpPr>
          <p:cNvPr id="30" name="rule"/>
          <p:cNvSpPr/>
          <p:nvPr/>
        </p:nvSpPr>
        <p:spPr>
          <a:xfrm>
            <a:off x="9065158" y="459714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ip"/>
          <p:cNvSpPr/>
          <p:nvPr/>
        </p:nvSpPr>
        <p:spPr>
          <a:xfrm>
            <a:off x="9065158" y="4834890"/>
            <a:ext cx="1484467" cy="495299"/>
          </a:xfrm>
          <a:prstGeom prst="roundRect">
            <a:avLst>
              <a:gd name="adj" fmla="val 50000"/>
            </a:avLst>
          </a:prstGeom>
          <a:solidFill>
            <a:srgbClr val="E9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39478" y="4919091"/>
            <a:ext cx="935827" cy="326898"/>
          </a:xfrm>
          <a:prstGeom prst="rect">
            <a:avLst/>
          </a:prstGeom>
          <a:noFill/>
        </p:spPr>
        <p:txBody>
          <a:bodyPr wrap="square" lIns="0" rIns="0" tIns="0" bIns="0" anchor="t">
            <a:spAutoFit/>
          </a:bodyPr>
          <a:lstStyle/>
          <a:p>
            <a:pPr algn="l">
              <a:lnSpc>
                <a:spcPct val="132000"/>
              </a:lnSpc>
            </a:pPr>
            <a:r>
              <a:rPr sz="1950" b="0" u="none" i="0">
                <a:solidFill>
                  <a:srgbClr val="1D4ED8"/>
                </a:solidFill>
                <a:latin typeface="Arial"/>
              </a:rPr>
              <a:t>on track</a:t>
            </a:r>
          </a:p>
        </p:txBody>
      </p:sp>
      <p:sp>
        <p:nvSpPr>
          <p:cNvPr id="33" name="rule"/>
          <p:cNvSpPr/>
          <p:nvPr/>
        </p:nvSpPr>
        <p:spPr>
          <a:xfrm>
            <a:off x="12054840" y="459714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54840" y="483489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Next: per-slot lengths on the host</a:t>
            </a:r>
          </a:p>
        </p:txBody>
      </p:sp>
      <p:sp>
        <p:nvSpPr>
          <p:cNvPr id="35" name="rule"/>
          <p:cNvSpPr/>
          <p:nvPr/>
        </p:nvSpPr>
        <p:spPr>
          <a:xfrm>
            <a:off x="987552" y="542010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 y="565785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S3</a:t>
            </a:r>
          </a:p>
        </p:txBody>
      </p:sp>
      <p:sp>
        <p:nvSpPr>
          <p:cNvPr id="37" name="rule"/>
          <p:cNvSpPr/>
          <p:nvPr/>
        </p:nvSpPr>
        <p:spPr>
          <a:xfrm>
            <a:off x="2928112" y="542010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8112" y="565785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Hit detection, eviction, miss handling</a:t>
            </a:r>
          </a:p>
        </p:txBody>
      </p:sp>
      <p:sp>
        <p:nvSpPr>
          <p:cNvPr id="39" name="rule"/>
          <p:cNvSpPr/>
          <p:nvPr/>
        </p:nvSpPr>
        <p:spPr>
          <a:xfrm>
            <a:off x="9065158" y="542010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hip"/>
          <p:cNvSpPr/>
          <p:nvPr/>
        </p:nvSpPr>
        <p:spPr>
          <a:xfrm>
            <a:off x="9065158" y="5657850"/>
            <a:ext cx="1484963" cy="495299"/>
          </a:xfrm>
          <a:prstGeom prst="roundRect">
            <a:avLst>
              <a:gd name="adj" fmla="val 50000"/>
            </a:avLst>
          </a:prstGeom>
          <a:solidFill>
            <a:srgbClr val="F4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39478" y="5742051"/>
            <a:ext cx="936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planned</a:t>
            </a:r>
          </a:p>
        </p:txBody>
      </p:sp>
      <p:sp>
        <p:nvSpPr>
          <p:cNvPr id="42" name="rule"/>
          <p:cNvSpPr/>
          <p:nvPr/>
        </p:nvSpPr>
        <p:spPr>
          <a:xfrm>
            <a:off x="12054840" y="542010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54840" y="565785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 miss rebuilds by force-decoding</a:t>
            </a:r>
          </a:p>
        </p:txBody>
      </p:sp>
      <p:sp>
        <p:nvSpPr>
          <p:cNvPr id="44" name="rule"/>
          <p:cNvSpPr/>
          <p:nvPr/>
        </p:nvSpPr>
        <p:spPr>
          <a:xfrm>
            <a:off x="987552" y="624306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87552" y="648081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S4</a:t>
            </a:r>
          </a:p>
        </p:txBody>
      </p:sp>
      <p:sp>
        <p:nvSpPr>
          <p:cNvPr id="46" name="rule"/>
          <p:cNvSpPr/>
          <p:nvPr/>
        </p:nvSpPr>
        <p:spPr>
          <a:xfrm>
            <a:off x="2928112" y="624306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8112" y="648081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Requests-per-bank capacity curve</a:t>
            </a:r>
          </a:p>
        </p:txBody>
      </p:sp>
      <p:sp>
        <p:nvSpPr>
          <p:cNvPr id="48" name="rule"/>
          <p:cNvSpPr/>
          <p:nvPr/>
        </p:nvSpPr>
        <p:spPr>
          <a:xfrm>
            <a:off x="9065158" y="624306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hip"/>
          <p:cNvSpPr/>
          <p:nvPr/>
        </p:nvSpPr>
        <p:spPr>
          <a:xfrm>
            <a:off x="9065158" y="6480810"/>
            <a:ext cx="1484963" cy="495299"/>
          </a:xfrm>
          <a:prstGeom prst="roundRect">
            <a:avLst>
              <a:gd name="adj" fmla="val 50000"/>
            </a:avLst>
          </a:prstGeom>
          <a:solidFill>
            <a:srgbClr val="F4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39478" y="6565011"/>
            <a:ext cx="936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planned</a:t>
            </a:r>
          </a:p>
        </p:txBody>
      </p:sp>
      <p:sp>
        <p:nvSpPr>
          <p:cNvPr id="51" name="rule"/>
          <p:cNvSpPr/>
          <p:nvPr/>
        </p:nvSpPr>
        <p:spPr>
          <a:xfrm>
            <a:off x="12054840" y="624306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54840" y="648081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Needs a geometry near the SRAM budget</a:t>
            </a:r>
          </a:p>
        </p:txBody>
      </p:sp>
      <p:sp>
        <p:nvSpPr>
          <p:cNvPr id="53" name="rule"/>
          <p:cNvSpPr/>
          <p:nvPr/>
        </p:nvSpPr>
        <p:spPr>
          <a:xfrm>
            <a:off x="987552" y="7066026"/>
            <a:ext cx="17485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7303770"/>
            <a:ext cx="17485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S5</a:t>
            </a:r>
          </a:p>
        </p:txBody>
      </p:sp>
      <p:sp>
        <p:nvSpPr>
          <p:cNvPr id="55" name="rule"/>
          <p:cNvSpPr/>
          <p:nvPr/>
        </p:nvSpPr>
        <p:spPr>
          <a:xfrm>
            <a:off x="2928112" y="7066026"/>
            <a:ext cx="594502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8112" y="7303770"/>
            <a:ext cx="594502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End-to-end verification</a:t>
            </a:r>
          </a:p>
        </p:txBody>
      </p:sp>
      <p:sp>
        <p:nvSpPr>
          <p:cNvPr id="57" name="rule"/>
          <p:cNvSpPr/>
          <p:nvPr/>
        </p:nvSpPr>
        <p:spPr>
          <a:xfrm>
            <a:off x="9065158" y="7066026"/>
            <a:ext cx="27976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ip"/>
          <p:cNvSpPr/>
          <p:nvPr/>
        </p:nvSpPr>
        <p:spPr>
          <a:xfrm>
            <a:off x="9065158" y="7303770"/>
            <a:ext cx="1484963" cy="495299"/>
          </a:xfrm>
          <a:prstGeom prst="roundRect">
            <a:avLst>
              <a:gd name="adj" fmla="val 50000"/>
            </a:avLst>
          </a:prstGeom>
          <a:solidFill>
            <a:srgbClr val="F4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339478" y="7387971"/>
            <a:ext cx="936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planned</a:t>
            </a:r>
          </a:p>
        </p:txBody>
      </p:sp>
      <p:sp>
        <p:nvSpPr>
          <p:cNvPr id="60" name="rule"/>
          <p:cNvSpPr/>
          <p:nvPr/>
        </p:nvSpPr>
        <p:spPr>
          <a:xfrm>
            <a:off x="12054840" y="7066026"/>
            <a:ext cx="524560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054840" y="7303770"/>
            <a:ext cx="524560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Against a teacher-forced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TO DISCUSS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M2 questions</a:t>
            </a:r>
          </a:p>
        </p:txBody>
      </p:sp>
      <p:sp>
        <p:nvSpPr>
          <p:cNvPr id="4" name="TextBox 3"/>
          <p:cNvSpPr txBox="1"/>
          <p:nvPr/>
        </p:nvSpPr>
        <p:spPr>
          <a:xfrm>
            <a:off x="987552" y="2484882"/>
            <a:ext cx="8010144"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WHY TOGETHER</a:t>
            </a:r>
          </a:p>
        </p:txBody>
      </p:sp>
      <p:sp>
        <p:nvSpPr>
          <p:cNvPr id="5" name="TextBox 4"/>
          <p:cNvSpPr txBox="1"/>
          <p:nvPr/>
        </p:nvSpPr>
        <p:spPr>
          <a:xfrm>
            <a:off x="987552" y="3051810"/>
            <a:ext cx="8010144"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One architecture, not four separate calls</a:t>
            </a:r>
          </a:p>
        </p:txBody>
      </p:sp>
      <p:sp>
        <p:nvSpPr>
          <p:cNvPr id="6" name="TextBox 5"/>
          <p:cNvSpPr txBox="1"/>
          <p:nvPr/>
        </p:nvSpPr>
        <p:spPr>
          <a:xfrm>
            <a:off x="987552" y="4729733"/>
            <a:ext cx="8010144" cy="281635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These choices constrain each other. Paging's page table is exactly the per-PE mapping a distributed control plane would need, so picking one nearly picks the other. M1 commits to the simplest working defaults, fixed slots with control on the host and the cache in decode, and M2 tests each against a small benchmark rather than settling it by argument.</a:t>
            </a:r>
          </a:p>
        </p:txBody>
      </p:sp>
      <p:sp>
        <p:nvSpPr>
          <p:cNvPr id="7" name="card"/>
          <p:cNvSpPr/>
          <p:nvPr/>
        </p:nvSpPr>
        <p:spPr>
          <a:xfrm>
            <a:off x="9528048" y="2484882"/>
            <a:ext cx="7772400" cy="5404104"/>
          </a:xfrm>
          <a:prstGeom prst="roundRect">
            <a:avLst>
              <a:gd name="adj" fmla="val 6195"/>
            </a:avLst>
          </a:prstGeom>
          <a:solidFill>
            <a:srgbClr val="F4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0" y="3015234"/>
            <a:ext cx="67116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FOUR COUPLED QUESTIONS</a:t>
            </a:r>
          </a:p>
        </p:txBody>
      </p:sp>
      <p:sp>
        <p:nvSpPr>
          <p:cNvPr id="9" name="TextBox 8"/>
          <p:cNvSpPr txBox="1"/>
          <p:nvPr/>
        </p:nvSpPr>
        <p:spPr>
          <a:xfrm>
            <a:off x="10058400" y="3499865"/>
            <a:ext cx="548640" cy="402336"/>
          </a:xfrm>
          <a:prstGeom prst="rect">
            <a:avLst/>
          </a:prstGeom>
          <a:noFill/>
        </p:spPr>
        <p:txBody>
          <a:bodyPr wrap="square" lIns="0" rIns="0" tIns="0" bIns="0" anchor="t">
            <a:spAutoFit/>
          </a:bodyPr>
          <a:lstStyle/>
          <a:p>
            <a:pPr algn="l">
              <a:lnSpc>
                <a:spcPct val="132000"/>
              </a:lnSpc>
            </a:pPr>
            <a:r>
              <a:rPr sz="2400" b="1" u="none" i="0">
                <a:solidFill>
                  <a:srgbClr val="6D28D9"/>
                </a:solidFill>
                <a:latin typeface="Arial"/>
              </a:rPr>
              <a:t>01</a:t>
            </a:r>
          </a:p>
        </p:txBody>
      </p:sp>
      <p:sp>
        <p:nvSpPr>
          <p:cNvPr id="10" name="TextBox 9"/>
          <p:cNvSpPr txBox="1"/>
          <p:nvPr/>
        </p:nvSpPr>
        <p:spPr>
          <a:xfrm>
            <a:off x="10579608" y="3499865"/>
            <a:ext cx="6190488"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Does the control plane live on the host, or distributed across the compute PEs?</a:t>
            </a:r>
          </a:p>
        </p:txBody>
      </p:sp>
      <p:sp>
        <p:nvSpPr>
          <p:cNvPr id="11" name="rule"/>
          <p:cNvSpPr/>
          <p:nvPr/>
        </p:nvSpPr>
        <p:spPr>
          <a:xfrm>
            <a:off x="10058400" y="4472787"/>
            <a:ext cx="67116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0" y="4652009"/>
            <a:ext cx="548640" cy="402336"/>
          </a:xfrm>
          <a:prstGeom prst="rect">
            <a:avLst/>
          </a:prstGeom>
          <a:noFill/>
        </p:spPr>
        <p:txBody>
          <a:bodyPr wrap="square" lIns="0" rIns="0" tIns="0" bIns="0" anchor="t">
            <a:spAutoFit/>
          </a:bodyPr>
          <a:lstStyle/>
          <a:p>
            <a:pPr algn="l">
              <a:lnSpc>
                <a:spcPct val="132000"/>
              </a:lnSpc>
            </a:pPr>
            <a:r>
              <a:rPr sz="2400" b="1" u="none" i="0">
                <a:solidFill>
                  <a:srgbClr val="6D28D9"/>
                </a:solidFill>
                <a:latin typeface="Arial"/>
              </a:rPr>
              <a:t>02</a:t>
            </a:r>
          </a:p>
        </p:txBody>
      </p:sp>
      <p:sp>
        <p:nvSpPr>
          <p:cNvPr id="13" name="TextBox 12"/>
          <p:cNvSpPr txBox="1"/>
          <p:nvPr/>
        </p:nvSpPr>
        <p:spPr>
          <a:xfrm>
            <a:off x="10579608" y="4652009"/>
            <a:ext cx="6190488"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Fixed-size slots, or paging for copy-free prefix sharing?</a:t>
            </a:r>
          </a:p>
        </p:txBody>
      </p:sp>
      <p:sp>
        <p:nvSpPr>
          <p:cNvPr id="14" name="rule"/>
          <p:cNvSpPr/>
          <p:nvPr/>
        </p:nvSpPr>
        <p:spPr>
          <a:xfrm>
            <a:off x="10058400" y="5624931"/>
            <a:ext cx="67116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0" y="5804153"/>
            <a:ext cx="548640" cy="402336"/>
          </a:xfrm>
          <a:prstGeom prst="rect">
            <a:avLst/>
          </a:prstGeom>
          <a:noFill/>
        </p:spPr>
        <p:txBody>
          <a:bodyPr wrap="square" lIns="0" rIns="0" tIns="0" bIns="0" anchor="t">
            <a:spAutoFit/>
          </a:bodyPr>
          <a:lstStyle/>
          <a:p>
            <a:pPr algn="l">
              <a:lnSpc>
                <a:spcPct val="132000"/>
              </a:lnSpc>
            </a:pPr>
            <a:r>
              <a:rPr sz="2400" b="1" u="none" i="0">
                <a:solidFill>
                  <a:srgbClr val="6D28D9"/>
                </a:solidFill>
                <a:latin typeface="Arial"/>
              </a:rPr>
              <a:t>03</a:t>
            </a:r>
          </a:p>
        </p:txBody>
      </p:sp>
      <p:sp>
        <p:nvSpPr>
          <p:cNvPr id="16" name="TextBox 15"/>
          <p:cNvSpPr txBox="1"/>
          <p:nvPr/>
        </p:nvSpPr>
        <p:spPr>
          <a:xfrm>
            <a:off x="10579608" y="5804153"/>
            <a:ext cx="6190488"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On a hit, continue in decode, or ship the KV back to prefill?</a:t>
            </a:r>
          </a:p>
        </p:txBody>
      </p:sp>
      <p:sp>
        <p:nvSpPr>
          <p:cNvPr id="17" name="rule"/>
          <p:cNvSpPr/>
          <p:nvPr/>
        </p:nvSpPr>
        <p:spPr>
          <a:xfrm>
            <a:off x="10058400" y="6777075"/>
            <a:ext cx="67116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6956297"/>
            <a:ext cx="548640" cy="402336"/>
          </a:xfrm>
          <a:prstGeom prst="rect">
            <a:avLst/>
          </a:prstGeom>
          <a:noFill/>
        </p:spPr>
        <p:txBody>
          <a:bodyPr wrap="square" lIns="0" rIns="0" tIns="0" bIns="0" anchor="t">
            <a:spAutoFit/>
          </a:bodyPr>
          <a:lstStyle/>
          <a:p>
            <a:pPr algn="l">
              <a:lnSpc>
                <a:spcPct val="132000"/>
              </a:lnSpc>
            </a:pPr>
            <a:r>
              <a:rPr sz="2400" b="1" u="none" i="0">
                <a:solidFill>
                  <a:srgbClr val="6D28D9"/>
                </a:solidFill>
                <a:latin typeface="Arial"/>
              </a:rPr>
              <a:t>04</a:t>
            </a:r>
          </a:p>
        </p:txBody>
      </p:sp>
      <p:sp>
        <p:nvSpPr>
          <p:cNvPr id="19" name="TextBox 18"/>
          <p:cNvSpPr txBox="1"/>
          <p:nvPr/>
        </p:nvSpPr>
        <p:spPr>
          <a:xfrm>
            <a:off x="10579608" y="6956297"/>
            <a:ext cx="619048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Does the cache live in decode or in prefill?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ALSO TO DISCUSS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Open routing calls</a:t>
            </a:r>
          </a:p>
        </p:txBody>
      </p:sp>
      <p:sp>
        <p:nvSpPr>
          <p:cNvPr id="4" name="dot"/>
          <p:cNvSpPr/>
          <p:nvPr/>
        </p:nvSpPr>
        <p:spPr>
          <a:xfrm>
            <a:off x="987552" y="2612898"/>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3312" y="2484882"/>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Continuous batching: M1 builds the substrate, but running requests concurrently needs ingress, egress and a scheduler reworked. Which milestone owns it?</a:t>
            </a:r>
          </a:p>
        </p:txBody>
      </p:sp>
      <p:sp>
        <p:nvSpPr>
          <p:cNvPr id="6" name="dot"/>
          <p:cNvSpPr/>
          <p:nvPr/>
        </p:nvSpPr>
        <p:spPr>
          <a:xfrm>
            <a:off x="987552" y="3728465"/>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3600450"/>
            <a:ext cx="15947136" cy="804672"/>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Ragged batch, meaning lanes sitting at different sequence positions. M1 declined it, but continuous batching needs it. Do we cost it on its own?</a:t>
            </a:r>
          </a:p>
        </p:txBody>
      </p:sp>
      <p:sp>
        <p:nvSpPr>
          <p:cNvPr id="8" name="dot"/>
          <p:cNvSpPr/>
          <p:nvPr/>
        </p:nvSpPr>
        <p:spPr>
          <a:xfrm>
            <a:off x="987552" y="4844033"/>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4716018"/>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Do we run the control-plane comparison inside M1, or on a branch forked after M1-S2?</a:t>
            </a:r>
          </a:p>
        </p:txBody>
      </p:sp>
      <p:sp>
        <p:nvSpPr>
          <p:cNvPr id="10" name="dot"/>
          <p:cNvSpPr/>
          <p:nvPr/>
        </p:nvSpPr>
        <p:spPr>
          <a:xfrm>
            <a:off x="987552" y="5557266"/>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5429250"/>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Measuring real-scale pipelining needs a compute-heavy configuration. Is it worth the wafer time?</a:t>
            </a:r>
          </a:p>
        </p:txBody>
      </p:sp>
      <p:sp>
        <p:nvSpPr>
          <p:cNvPr id="12" name="dot"/>
          <p:cNvSpPr/>
          <p:nvPr/>
        </p:nvSpPr>
        <p:spPr>
          <a:xfrm>
            <a:off x="987552" y="6270498"/>
            <a:ext cx="109728" cy="10972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6142482"/>
            <a:ext cx="159471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The CS-3 cluster is down, so M0's transport work stays parked. M1 runs in simulation meanwhile.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NEXT STEPS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What happens next</a:t>
            </a:r>
          </a:p>
        </p:txBody>
      </p:sp>
      <p:sp>
        <p:nvSpPr>
          <p:cNvPr id="4" name="rule"/>
          <p:cNvSpPr/>
          <p:nvPr/>
        </p:nvSpPr>
        <p:spPr>
          <a:xfrm>
            <a:off x="987552" y="2484882"/>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2740913"/>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Le Xu</a:t>
            </a:r>
          </a:p>
        </p:txBody>
      </p:sp>
      <p:sp>
        <p:nvSpPr>
          <p:cNvPr id="6" name="TextBox 5"/>
          <p:cNvSpPr txBox="1"/>
          <p:nvPr/>
        </p:nvSpPr>
        <p:spPr>
          <a:xfrm>
            <a:off x="3200400" y="2704337"/>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Commit the S1 working tree, which is the one thing holding up S2.</a:t>
            </a:r>
          </a:p>
        </p:txBody>
      </p:sp>
      <p:sp>
        <p:nvSpPr>
          <p:cNvPr id="7" name="rule"/>
          <p:cNvSpPr/>
          <p:nvPr/>
        </p:nvSpPr>
        <p:spPr>
          <a:xfrm>
            <a:off x="987552" y="3316986"/>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573018"/>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Le Xu</a:t>
            </a:r>
          </a:p>
        </p:txBody>
      </p:sp>
      <p:sp>
        <p:nvSpPr>
          <p:cNvPr id="9" name="TextBox 8"/>
          <p:cNvSpPr txBox="1"/>
          <p:nvPr/>
        </p:nvSpPr>
        <p:spPr>
          <a:xfrm>
            <a:off x="3200400" y="3536441"/>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Build S2: per-slot lengths on the host, across a changing active set.</a:t>
            </a:r>
          </a:p>
        </p:txBody>
      </p:sp>
      <p:sp>
        <p:nvSpPr>
          <p:cNvPr id="10" name="rule"/>
          <p:cNvSpPr/>
          <p:nvPr/>
        </p:nvSpPr>
        <p:spPr>
          <a:xfrm>
            <a:off x="987552" y="4149089"/>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405122"/>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Team</a:t>
            </a:r>
          </a:p>
        </p:txBody>
      </p:sp>
      <p:sp>
        <p:nvSpPr>
          <p:cNvPr id="12" name="TextBox 11"/>
          <p:cNvSpPr txBox="1"/>
          <p:nvPr/>
        </p:nvSpPr>
        <p:spPr>
          <a:xfrm>
            <a:off x="3200400" y="4368546"/>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Decide which of the M2 questions gets a benchmark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ot"/>
          <p:cNvSpPr/>
          <p:nvPr/>
        </p:nvSpPr>
        <p:spPr>
          <a:xfrm>
            <a:off x="987552" y="9144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527048" y="960120"/>
            <a:ext cx="54864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WaferEngine · CS-3</a:t>
            </a:r>
          </a:p>
        </p:txBody>
      </p:sp>
      <p:sp>
        <p:nvSpPr>
          <p:cNvPr id="4" name="TextBox 3"/>
          <p:cNvSpPr txBox="1"/>
          <p:nvPr/>
        </p:nvSpPr>
        <p:spPr>
          <a:xfrm>
            <a:off x="987552" y="4133087"/>
            <a:ext cx="16312896" cy="987552"/>
          </a:xfrm>
          <a:prstGeom prst="rect">
            <a:avLst/>
          </a:prstGeom>
          <a:noFill/>
        </p:spPr>
        <p:txBody>
          <a:bodyPr wrap="square" lIns="0" rIns="0" tIns="0" bIns="0" anchor="t">
            <a:spAutoFit/>
          </a:bodyPr>
          <a:lstStyle/>
          <a:p>
            <a:pPr algn="l">
              <a:lnSpc>
                <a:spcPct val="108000"/>
              </a:lnSpc>
            </a:pPr>
            <a:r>
              <a:rPr sz="7200" b="1" u="none" i="0">
                <a:solidFill>
                  <a:srgbClr val="18181B"/>
                </a:solidFill>
                <a:latin typeface="Arial"/>
              </a:rPr>
              <a:t>Questions?</a:t>
            </a:r>
          </a:p>
        </p:txBody>
      </p:sp>
      <p:sp>
        <p:nvSpPr>
          <p:cNvPr id="5" name="TextBox 4"/>
          <p:cNvSpPr txBox="1"/>
          <p:nvPr/>
        </p:nvSpPr>
        <p:spPr>
          <a:xfrm>
            <a:off x="987552" y="5477256"/>
            <a:ext cx="11887200" cy="1005840"/>
          </a:xfrm>
          <a:prstGeom prst="rect">
            <a:avLst/>
          </a:prstGeom>
          <a:noFill/>
        </p:spPr>
        <p:txBody>
          <a:bodyPr wrap="square" lIns="0" rIns="0" tIns="0" bIns="0" anchor="t">
            <a:spAutoFit/>
          </a:bodyPr>
          <a:lstStyle/>
          <a:p>
            <a:pPr algn="l">
              <a:lnSpc>
                <a:spcPct val="132000"/>
              </a:lnSpc>
            </a:pPr>
            <a:r>
              <a:rPr sz="3000" b="0" u="none" i="0">
                <a:solidFill>
                  <a:srgbClr val="52525B"/>
                </a:solidFill>
                <a:latin typeface="Arial"/>
              </a:rPr>
              <a:t>Plan in ROADMAP.md, current state in PROGRESS.md, detail in milestones/M1-intra-pe-reuse.md.</a:t>
            </a:r>
          </a:p>
        </p:txBody>
      </p:sp>
      <p:sp>
        <p:nvSpPr>
          <p:cNvPr id="6" name="rule"/>
          <p:cNvSpPr/>
          <p:nvPr/>
        </p:nvSpPr>
        <p:spPr>
          <a:xfrm>
            <a:off x="987552" y="8814816"/>
            <a:ext cx="163037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9125712"/>
            <a:ext cx="31774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lxu5398@gmail.com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798</Words>
  <Application>Microsoft Macintosh PowerPoint</Application>
  <PresentationFormat>Custom</PresentationFormat>
  <Paragraphs>166</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 Xu</cp:lastModifiedBy>
  <cp:revision>2</cp:revision>
  <dcterms:created xsi:type="dcterms:W3CDTF">2026-07-20T11:59:30Z</dcterms:created>
  <dcterms:modified xsi:type="dcterms:W3CDTF">2026-07-20T11:59:59Z</dcterms:modified>
</cp:coreProperties>
</file>