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7857"/>
    <a:srgbClr val="2463EB"/>
    <a:srgbClr val="6E28DA"/>
    <a:srgbClr val="CA8A03"/>
    <a:srgbClr val="ED7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0"/>
    <p:restoredTop sz="90960"/>
  </p:normalViewPr>
  <p:slideViewPr>
    <p:cSldViewPr snapToGrid="0" snapToObjects="1">
      <p:cViewPr>
        <p:scale>
          <a:sx n="88" d="100"/>
          <a:sy n="88" d="100"/>
        </p:scale>
        <p:origin x="26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question is not which lane is universally best. It is which cost dominates under a specific resume state and implementation.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logical topology used by the measured pdSeparate implementation, not a to-scale wafer map. The cards do not share an on-wafer relay seam: KV crosses through their separate host memories. The layer slices across B0…B7 are 2,4,4,4,4,4,4,2.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DE90-5AEA-7112-57A4-8E2BD291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ECD28B14-8E39-309E-8BEC-6E78C66D4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logical topology used by the measured pdSeparate implementation, not a to-scale wafer map. The cards do not share an on-wafer relay seam: KV crosses through their separate host memories. The layer slices across B0…B7 are 2,4,4,4,4,4,4,2.</a:t>
            </a:r>
          </a:p>
        </p:txBody>
      </p:sp>
    </p:spTree>
    <p:extLst>
      <p:ext uri="{BB962C8B-B14F-4D97-AF65-F5344CB8AC3E}">
        <p14:creationId xmlns:p14="http://schemas.microsoft.com/office/powerpoint/2010/main" val="3745332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PE represents the complete 2×4 kernel fabric from slide 2. Each row uses one prefill card and one decode card with separate host memory. The dashed host-to-host leg in C is assumed zero in the current latency model.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Lane B assumes the history was already persisted. E13, the decode egress half, is not implemented, so this is not yet a round-trip eviction policy.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reported device spans use the 0.85 GHz TSC conversion. Failed EPCC 502 repeats and a run without a downloaded hash-verified evidence bundle are excluded.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large separation at small F is visible before any offset subtraction or regression.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source-level timer starts after a locally-ready west-edge sender emits [N,F], before HT_tail receives first Z. It is not an all-PE readiness barrier. Exact attribution needs a first-Z timestamp.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closed form follows from summing q from P+256 through P+F−1: there are F−256 terms and their sum is (F−256)(2P+F+255)/2.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compare this bandwidth directly with E6 prefill egress: E6 performs a transpose and switch-gather in addition to moving bytes.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A/B boundary calculation uses the measured-anchor interpolation, not a single bandwidth number across the whole payload range.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I(h) is piecewise-linear interpolation over the six E5 anchors. E10 validates that the real reload path reproduces E5 and that post-ingress forced-token cost matches E9 to 0.97–1.00 across H=512…8192.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left panel is the E10D offset-controlled direct comparison. The right panel is the newer E14 observed-span model, so the absolute y-values should not be overlaid; the robust shared conclusion is the winner flip and a crossing between the two direct witnesses. Other starting prefixes and full-context reload move the projected boundary.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Lane B reloads the complete target KV and resumes with normal free decode. Lane C remains a screening composition based on direct S6a prefill compute plus E5/E6 transport evidence; exact pdSeparate lacks START_CHUNKS.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safe conclusion is a workload- and implementation-dependent segmented policy, not a universal 700-token rule.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E12b prefill ingress is gated: transport work alone cannot remove the measured S6a compute floor.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M2 is condensed into one closeout line. The authoritative M1 milestone marks S0 and S1 complete; its remaining dependency chain is S2 to S3 to S4 to S5. The partial-hit open question is resolved by the S3 take-over default, while exact SRAM sizing is part of S4.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987552" y="9144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27048" y="960120"/>
            <a:ext cx="548640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18181B"/>
                </a:solidFill>
                <a:latin typeface="Arial"/>
              </a:rPr>
              <a:t>WaferEngine · CS-3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355848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6D28D9"/>
                </a:solidFill>
                <a:latin typeface="Arial"/>
              </a:rPr>
              <a:t>M2 STUDY · WEEKLY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005072"/>
            <a:ext cx="16312896" cy="1110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i="0" u="none">
                <a:solidFill>
                  <a:srgbClr val="18181B"/>
                </a:solidFill>
                <a:latin typeface="Arial"/>
              </a:rPr>
              <a:t>KV Resume on WSE-3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408676"/>
            <a:ext cx="1234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i="0" u="none">
                <a:solidFill>
                  <a:srgbClr val="52525B"/>
                </a:solidFill>
                <a:latin typeface="Arial"/>
              </a:rPr>
              <a:t>Measured costs of recompute, reload, and resident-prefix prefill.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8485632"/>
            <a:ext cx="1630375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8796528"/>
            <a:ext cx="224289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125712"/>
            <a:ext cx="224289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Qwen3-1.7B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0451" y="8796528"/>
            <a:ext cx="151393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0451" y="9125712"/>
            <a:ext cx="15139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WSE-3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4390" y="8796528"/>
            <a:ext cx="183615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TSC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4390" y="9125712"/>
            <a:ext cx="18361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0.85 GHz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0542" y="8796528"/>
            <a:ext cx="273403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0542" y="9125712"/>
            <a:ext cx="27340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Resume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EXPERIMENT IMPLEMENTATION · LOGICAL ON-CHIP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Experiment topology: prefill card → hosts → decode card</a:t>
            </a:r>
          </a:p>
        </p:txBody>
      </p:sp>
      <p:pic>
        <p:nvPicPr>
          <p:cNvPr id="4" name="figure" descr="pdseparate_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551" y="2484882"/>
            <a:ext cx="9908896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Each kernel uses a 2×4 serpentine pipeline of 256×256-PE blocks. Prefill gathers KV east into kv_mux and drains north; decode accepts the host KV stream through adaptor + kv_demux and shifts column slices north into the fabric.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59ED-3444-97A9-1442-64400355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0D5AF1-4C7E-2958-BE06-149EB3059A5E}"/>
              </a:ext>
            </a:extLst>
          </p:cNvPr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EXPERIMENT IMPLEMENTATION · LOGICAL ON-CHIP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EEBF3-198B-EEE9-3F08-4CB92D5548DD}"/>
              </a:ext>
            </a:extLst>
          </p:cNvPr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Experiment topology: prefill card → hosts → decode card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5736F-785E-EEE0-56D2-13410DD3CCA1}"/>
              </a:ext>
            </a:extLst>
          </p:cNvPr>
          <p:cNvSpPr txBox="1"/>
          <p:nvPr/>
        </p:nvSpPr>
        <p:spPr>
          <a:xfrm>
            <a:off x="987552" y="9087207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dirty="0">
                <a:solidFill>
                  <a:srgbClr val="A1A1AA"/>
                </a:solidFill>
                <a:latin typeface="Arial"/>
              </a:rPr>
              <a:t>Each kernel uses a 2×4 serpentine pipeline of 256×256-PE blocks. Prefill gathers KV east into </a:t>
            </a:r>
            <a:r>
              <a:rPr sz="1950" b="0" i="0" u="none" dirty="0" err="1">
                <a:solidFill>
                  <a:srgbClr val="A1A1AA"/>
                </a:solidFill>
                <a:latin typeface="Arial"/>
              </a:rPr>
              <a:t>kv_mux</a:t>
            </a:r>
            <a:r>
              <a:rPr sz="1950" b="0" i="0" u="none" dirty="0">
                <a:solidFill>
                  <a:srgbClr val="A1A1AA"/>
                </a:solidFill>
                <a:latin typeface="Arial"/>
              </a:rPr>
              <a:t> and drains north; decode accepts the host KV stream through adaptor + </a:t>
            </a:r>
            <a:r>
              <a:rPr sz="1950" b="0" i="0" u="none" dirty="0" err="1">
                <a:solidFill>
                  <a:srgbClr val="A1A1AA"/>
                </a:solidFill>
                <a:latin typeface="Arial"/>
              </a:rPr>
              <a:t>kv_demux</a:t>
            </a:r>
            <a:r>
              <a:rPr sz="1950" b="0" i="0" u="none" dirty="0">
                <a:solidFill>
                  <a:srgbClr val="A1A1AA"/>
                </a:solidFill>
                <a:latin typeface="Arial"/>
              </a:rPr>
              <a:t> and shifts column slices north into the fabric.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F293BD-DBAB-FB11-590C-A5B40F7C977A}"/>
              </a:ext>
            </a:extLst>
          </p:cNvPr>
          <p:cNvGrpSpPr/>
          <p:nvPr/>
        </p:nvGrpSpPr>
        <p:grpSpPr>
          <a:xfrm>
            <a:off x="5740127" y="2429724"/>
            <a:ext cx="1846401" cy="1211581"/>
            <a:chOff x="5014913" y="2875786"/>
            <a:chExt cx="1846401" cy="121158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2848CE1-7EA1-8CC0-1883-12536F71B985}"/>
                </a:ext>
              </a:extLst>
            </p:cNvPr>
            <p:cNvSpPr/>
            <p:nvPr/>
          </p:nvSpPr>
          <p:spPr>
            <a:xfrm>
              <a:off x="5014913" y="2875786"/>
              <a:ext cx="1846401" cy="1211581"/>
            </a:xfrm>
            <a:prstGeom prst="roundRect">
              <a:avLst>
                <a:gd name="adj" fmla="val 8192"/>
              </a:avLst>
            </a:prstGeom>
            <a:ln w="25400">
              <a:solidFill>
                <a:srgbClr val="ED733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18FD7CC-0670-3CE9-719B-E3F9FDEF2165}"/>
                </a:ext>
              </a:extLst>
            </p:cNvPr>
            <p:cNvSpPr/>
            <p:nvPr/>
          </p:nvSpPr>
          <p:spPr>
            <a:xfrm>
              <a:off x="5253039" y="3105434"/>
              <a:ext cx="1004886" cy="745047"/>
            </a:xfrm>
            <a:prstGeom prst="roundRect">
              <a:avLst>
                <a:gd name="adj" fmla="val 8192"/>
              </a:avLst>
            </a:prstGeom>
            <a:ln w="25400">
              <a:solidFill>
                <a:srgbClr val="ED733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47C097-18D7-4D2F-3A00-1DA6E051C94F}"/>
                </a:ext>
              </a:extLst>
            </p:cNvPr>
            <p:cNvSpPr txBox="1"/>
            <p:nvPr/>
          </p:nvSpPr>
          <p:spPr>
            <a:xfrm>
              <a:off x="6352219" y="329691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48F11E-BDF1-F9B1-C304-02C1C7CC9DF0}"/>
              </a:ext>
            </a:extLst>
          </p:cNvPr>
          <p:cNvGrpSpPr/>
          <p:nvPr/>
        </p:nvGrpSpPr>
        <p:grpSpPr>
          <a:xfrm>
            <a:off x="9471546" y="2429724"/>
            <a:ext cx="1846401" cy="1211581"/>
            <a:chOff x="5014913" y="2875786"/>
            <a:chExt cx="1846401" cy="1211581"/>
          </a:xfrm>
          <a:solidFill>
            <a:schemeClr val="bg1"/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B30F135-1BC8-981F-0DE3-73FDB570A22B}"/>
                </a:ext>
              </a:extLst>
            </p:cNvPr>
            <p:cNvSpPr/>
            <p:nvPr/>
          </p:nvSpPr>
          <p:spPr>
            <a:xfrm>
              <a:off x="5014913" y="2875786"/>
              <a:ext cx="1846401" cy="1211581"/>
            </a:xfrm>
            <a:prstGeom prst="roundRect">
              <a:avLst>
                <a:gd name="adj" fmla="val 8192"/>
              </a:avLst>
            </a:prstGeom>
            <a:grpFill/>
            <a:ln w="25400">
              <a:solidFill>
                <a:srgbClr val="2463E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0753068-B2F1-A446-903B-79510323CA5F}"/>
                </a:ext>
              </a:extLst>
            </p:cNvPr>
            <p:cNvSpPr/>
            <p:nvPr/>
          </p:nvSpPr>
          <p:spPr>
            <a:xfrm>
              <a:off x="5253039" y="3105434"/>
              <a:ext cx="1004886" cy="745047"/>
            </a:xfrm>
            <a:prstGeom prst="roundRect">
              <a:avLst>
                <a:gd name="adj" fmla="val 8192"/>
              </a:avLst>
            </a:prstGeom>
            <a:grpFill/>
            <a:ln w="25400">
              <a:solidFill>
                <a:srgbClr val="2463E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119CD9-5BEC-4A94-41C5-0BCA165677EC}"/>
                </a:ext>
              </a:extLst>
            </p:cNvPr>
            <p:cNvSpPr txBox="1"/>
            <p:nvPr/>
          </p:nvSpPr>
          <p:spPr>
            <a:xfrm>
              <a:off x="6352219" y="3296910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08FF6CB-241E-B73B-0221-476406B043C5}"/>
              </a:ext>
            </a:extLst>
          </p:cNvPr>
          <p:cNvSpPr txBox="1"/>
          <p:nvPr/>
        </p:nvSpPr>
        <p:spPr>
          <a:xfrm>
            <a:off x="5978253" y="2383622"/>
            <a:ext cx="605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Prefill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865764-D8D8-79B3-6896-5DC0AB9CF841}"/>
              </a:ext>
            </a:extLst>
          </p:cNvPr>
          <p:cNvSpPr txBox="1"/>
          <p:nvPr/>
        </p:nvSpPr>
        <p:spPr>
          <a:xfrm>
            <a:off x="9709672" y="2390660"/>
            <a:ext cx="737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Decode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A0BB9-DF00-ABB5-B156-B892D956A2B1}"/>
              </a:ext>
            </a:extLst>
          </p:cNvPr>
          <p:cNvSpPr txBox="1"/>
          <p:nvPr/>
        </p:nvSpPr>
        <p:spPr>
          <a:xfrm>
            <a:off x="3338035" y="2698437"/>
            <a:ext cx="1697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6E28DA"/>
                </a:solidFill>
              </a:rPr>
              <a:t>A</a:t>
            </a:r>
            <a:r>
              <a:rPr lang="zh-CN" altLang="en-US" sz="2800" b="1" dirty="0"/>
              <a:t> </a:t>
            </a:r>
            <a:r>
              <a:rPr lang="en-US" altLang="zh-CN" sz="2000" b="1" dirty="0"/>
              <a:t>Recompute</a:t>
            </a:r>
            <a:endParaRPr lang="en-US" sz="2000" b="1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95F4B6A-2725-9003-9303-D5E3E3A831AB}"/>
              </a:ext>
            </a:extLst>
          </p:cNvPr>
          <p:cNvSpPr/>
          <p:nvPr/>
        </p:nvSpPr>
        <p:spPr>
          <a:xfrm>
            <a:off x="5740127" y="3870953"/>
            <a:ext cx="1846401" cy="471487"/>
          </a:xfrm>
          <a:prstGeom prst="roundRect">
            <a:avLst/>
          </a:prstGeom>
          <a:ln w="25400">
            <a:solidFill>
              <a:srgbClr val="CA8A0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DRAM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2436A34-3F58-EAC3-068F-350B66FA02B1}"/>
              </a:ext>
            </a:extLst>
          </p:cNvPr>
          <p:cNvSpPr/>
          <p:nvPr/>
        </p:nvSpPr>
        <p:spPr>
          <a:xfrm>
            <a:off x="9471545" y="3870953"/>
            <a:ext cx="1846401" cy="471487"/>
          </a:xfrm>
          <a:prstGeom prst="roundRect">
            <a:avLst/>
          </a:prstGeom>
          <a:ln w="25400">
            <a:solidFill>
              <a:srgbClr val="CA8A0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DRAM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0F23A8-5332-4641-A89E-5395659406EA}"/>
              </a:ext>
            </a:extLst>
          </p:cNvPr>
          <p:cNvSpPr/>
          <p:nvPr/>
        </p:nvSpPr>
        <p:spPr>
          <a:xfrm>
            <a:off x="9899535" y="2953454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C3BD33-A0AB-B7EF-2F45-7F62CB9D424C}"/>
              </a:ext>
            </a:extLst>
          </p:cNvPr>
          <p:cNvSpPr/>
          <p:nvPr/>
        </p:nvSpPr>
        <p:spPr>
          <a:xfrm>
            <a:off x="9968813" y="2953454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83ED2D-259A-90E3-FECB-9909A0B1CF08}"/>
              </a:ext>
            </a:extLst>
          </p:cNvPr>
          <p:cNvSpPr txBox="1"/>
          <p:nvPr/>
        </p:nvSpPr>
        <p:spPr>
          <a:xfrm>
            <a:off x="9946866" y="2812344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859507-3B25-58E7-298A-48251838C682}"/>
              </a:ext>
            </a:extLst>
          </p:cNvPr>
          <p:cNvSpPr/>
          <p:nvPr/>
        </p:nvSpPr>
        <p:spPr>
          <a:xfrm>
            <a:off x="10160520" y="2953993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767D2B-6772-F9ED-0DF5-0AF750BB3E1E}"/>
              </a:ext>
            </a:extLst>
          </p:cNvPr>
          <p:cNvSpPr/>
          <p:nvPr/>
        </p:nvSpPr>
        <p:spPr>
          <a:xfrm>
            <a:off x="10232367" y="2955965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BE71EE-30D7-A852-99AA-EAAAF08E74F9}"/>
              </a:ext>
            </a:extLst>
          </p:cNvPr>
          <p:cNvSpPr/>
          <p:nvPr/>
        </p:nvSpPr>
        <p:spPr>
          <a:xfrm>
            <a:off x="10305143" y="2955965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A4718C-6DA4-2CC6-ABFB-6830232A1E98}"/>
              </a:ext>
            </a:extLst>
          </p:cNvPr>
          <p:cNvSpPr txBox="1"/>
          <p:nvPr/>
        </p:nvSpPr>
        <p:spPr>
          <a:xfrm>
            <a:off x="10269852" y="2812344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EB95B2-1F9C-A1E8-66B4-6BC3F68A8E33}"/>
              </a:ext>
            </a:extLst>
          </p:cNvPr>
          <p:cNvSpPr/>
          <p:nvPr/>
        </p:nvSpPr>
        <p:spPr>
          <a:xfrm>
            <a:off x="10484142" y="2953169"/>
            <a:ext cx="45719" cy="876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4E3A922-7E21-4620-CFE4-53A01C265B6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37589" y="3155297"/>
            <a:ext cx="778054" cy="461481"/>
          </a:xfrm>
          <a:prstGeom prst="curvedConnector3">
            <a:avLst>
              <a:gd name="adj1" fmla="val 50000"/>
            </a:avLst>
          </a:prstGeom>
          <a:ln w="41275">
            <a:solidFill>
              <a:srgbClr val="6E28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63F3E8-6F56-6B38-8E50-5FF4313ED9CF}"/>
              </a:ext>
            </a:extLst>
          </p:cNvPr>
          <p:cNvGrpSpPr/>
          <p:nvPr/>
        </p:nvGrpSpPr>
        <p:grpSpPr>
          <a:xfrm>
            <a:off x="8412529" y="3737193"/>
            <a:ext cx="1059016" cy="369332"/>
            <a:chOff x="11083803" y="4320340"/>
            <a:chExt cx="1059016" cy="36933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FC0B758-A3D9-6861-0C57-98A839980A1A}"/>
                </a:ext>
              </a:extLst>
            </p:cNvPr>
            <p:cNvGrpSpPr/>
            <p:nvPr/>
          </p:nvGrpSpPr>
          <p:grpSpPr>
            <a:xfrm>
              <a:off x="11083803" y="4320340"/>
              <a:ext cx="378630" cy="369332"/>
              <a:chOff x="11083803" y="4320340"/>
              <a:chExt cx="378630" cy="369332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14CC49F-3954-627E-969D-8B820C500EEE}"/>
                  </a:ext>
                </a:extLst>
              </p:cNvPr>
              <p:cNvSpPr/>
              <p:nvPr/>
            </p:nvSpPr>
            <p:spPr>
              <a:xfrm>
                <a:off x="11134165" y="4375260"/>
                <a:ext cx="277906" cy="259493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F15F7A-34C4-5757-1D44-8E5D7ABB1510}"/>
                  </a:ext>
                </a:extLst>
              </p:cNvPr>
              <p:cNvSpPr txBox="1"/>
              <p:nvPr/>
            </p:nvSpPr>
            <p:spPr>
              <a:xfrm>
                <a:off x="11083803" y="432034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t1</a:t>
                </a:r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9DD831-EC43-F4C0-008F-79E434951D1B}"/>
                </a:ext>
              </a:extLst>
            </p:cNvPr>
            <p:cNvGrpSpPr/>
            <p:nvPr/>
          </p:nvGrpSpPr>
          <p:grpSpPr>
            <a:xfrm>
              <a:off x="11414184" y="4320340"/>
              <a:ext cx="378630" cy="369332"/>
              <a:chOff x="11083803" y="4320340"/>
              <a:chExt cx="378630" cy="369332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04B9FBC-C04B-4328-4A65-867A3898792A}"/>
                  </a:ext>
                </a:extLst>
              </p:cNvPr>
              <p:cNvSpPr/>
              <p:nvPr/>
            </p:nvSpPr>
            <p:spPr>
              <a:xfrm>
                <a:off x="11134165" y="4375260"/>
                <a:ext cx="277906" cy="259493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A513F7-5D8E-2940-2A83-9B8FB64C1C4A}"/>
                  </a:ext>
                </a:extLst>
              </p:cNvPr>
              <p:cNvSpPr txBox="1"/>
              <p:nvPr/>
            </p:nvSpPr>
            <p:spPr>
              <a:xfrm>
                <a:off x="11083803" y="432034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t2</a:t>
                </a:r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9BD1E50-75E2-F193-6700-8904561B0E64}"/>
                </a:ext>
              </a:extLst>
            </p:cNvPr>
            <p:cNvGrpSpPr/>
            <p:nvPr/>
          </p:nvGrpSpPr>
          <p:grpSpPr>
            <a:xfrm>
              <a:off x="11764189" y="4320340"/>
              <a:ext cx="378630" cy="369332"/>
              <a:chOff x="11083803" y="4320340"/>
              <a:chExt cx="378630" cy="369332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E59AE86-9C41-C6A2-CF8F-0755B3052F0F}"/>
                  </a:ext>
                </a:extLst>
              </p:cNvPr>
              <p:cNvSpPr/>
              <p:nvPr/>
            </p:nvSpPr>
            <p:spPr>
              <a:xfrm>
                <a:off x="11134165" y="4375260"/>
                <a:ext cx="277906" cy="259493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AA6020-DD89-B9D9-2CE9-40228D98EE0F}"/>
                  </a:ext>
                </a:extLst>
              </p:cNvPr>
              <p:cNvSpPr txBox="1"/>
              <p:nvPr/>
            </p:nvSpPr>
            <p:spPr>
              <a:xfrm>
                <a:off x="11083803" y="432034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t3</a:t>
                </a:r>
                <a:endParaRPr lang="en-US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6707BD-5546-97D6-02EC-F462DE0BD54F}"/>
              </a:ext>
            </a:extLst>
          </p:cNvPr>
          <p:cNvGrpSpPr/>
          <p:nvPr/>
        </p:nvGrpSpPr>
        <p:grpSpPr>
          <a:xfrm>
            <a:off x="5728229" y="4490280"/>
            <a:ext cx="1846401" cy="1211581"/>
            <a:chOff x="5014913" y="2875786"/>
            <a:chExt cx="1846401" cy="1211581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6C80908B-C88D-E533-7043-75DC3AEA6E92}"/>
                </a:ext>
              </a:extLst>
            </p:cNvPr>
            <p:cNvSpPr/>
            <p:nvPr/>
          </p:nvSpPr>
          <p:spPr>
            <a:xfrm>
              <a:off x="5014913" y="2875786"/>
              <a:ext cx="1846401" cy="1211581"/>
            </a:xfrm>
            <a:prstGeom prst="roundRect">
              <a:avLst>
                <a:gd name="adj" fmla="val 8192"/>
              </a:avLst>
            </a:prstGeom>
            <a:ln w="25400">
              <a:solidFill>
                <a:srgbClr val="ED733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4FBDEB58-8882-731A-F4A5-F3E1A6A1A25F}"/>
                </a:ext>
              </a:extLst>
            </p:cNvPr>
            <p:cNvSpPr/>
            <p:nvPr/>
          </p:nvSpPr>
          <p:spPr>
            <a:xfrm>
              <a:off x="5253039" y="3105434"/>
              <a:ext cx="1004886" cy="745047"/>
            </a:xfrm>
            <a:prstGeom prst="roundRect">
              <a:avLst>
                <a:gd name="adj" fmla="val 8192"/>
              </a:avLst>
            </a:prstGeom>
            <a:ln w="25400">
              <a:solidFill>
                <a:srgbClr val="ED733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EA4E568-7742-808E-B80A-3A393688FC8D}"/>
                </a:ext>
              </a:extLst>
            </p:cNvPr>
            <p:cNvSpPr txBox="1"/>
            <p:nvPr/>
          </p:nvSpPr>
          <p:spPr>
            <a:xfrm>
              <a:off x="6352219" y="329691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44F6330-5946-F5E6-B123-FFFC018EDF2D}"/>
              </a:ext>
            </a:extLst>
          </p:cNvPr>
          <p:cNvGrpSpPr/>
          <p:nvPr/>
        </p:nvGrpSpPr>
        <p:grpSpPr>
          <a:xfrm>
            <a:off x="9459648" y="4490280"/>
            <a:ext cx="1846401" cy="1211581"/>
            <a:chOff x="5014913" y="2875786"/>
            <a:chExt cx="1846401" cy="1211581"/>
          </a:xfrm>
          <a:solidFill>
            <a:schemeClr val="bg1"/>
          </a:solidFill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642E7D46-D53C-6B76-9E13-C8C3BFC41CB1}"/>
                </a:ext>
              </a:extLst>
            </p:cNvPr>
            <p:cNvSpPr/>
            <p:nvPr/>
          </p:nvSpPr>
          <p:spPr>
            <a:xfrm>
              <a:off x="5014913" y="2875786"/>
              <a:ext cx="1846401" cy="1211581"/>
            </a:xfrm>
            <a:prstGeom prst="roundRect">
              <a:avLst>
                <a:gd name="adj" fmla="val 8192"/>
              </a:avLst>
            </a:prstGeom>
            <a:grpFill/>
            <a:ln w="25400">
              <a:solidFill>
                <a:srgbClr val="2463E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0FDFEA34-0383-7026-20C0-E02490118801}"/>
                </a:ext>
              </a:extLst>
            </p:cNvPr>
            <p:cNvSpPr/>
            <p:nvPr/>
          </p:nvSpPr>
          <p:spPr>
            <a:xfrm>
              <a:off x="5253039" y="3105434"/>
              <a:ext cx="1004886" cy="745047"/>
            </a:xfrm>
            <a:prstGeom prst="roundRect">
              <a:avLst>
                <a:gd name="adj" fmla="val 8192"/>
              </a:avLst>
            </a:prstGeom>
            <a:grpFill/>
            <a:ln w="25400">
              <a:solidFill>
                <a:srgbClr val="2463E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469AF0A-922D-9867-C069-14871453FE96}"/>
                </a:ext>
              </a:extLst>
            </p:cNvPr>
            <p:cNvSpPr txBox="1"/>
            <p:nvPr/>
          </p:nvSpPr>
          <p:spPr>
            <a:xfrm>
              <a:off x="6352219" y="3296910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US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FC1B8F5-5770-6A0F-CBDD-12A2354458CF}"/>
              </a:ext>
            </a:extLst>
          </p:cNvPr>
          <p:cNvSpPr txBox="1"/>
          <p:nvPr/>
        </p:nvSpPr>
        <p:spPr>
          <a:xfrm>
            <a:off x="5966355" y="4444178"/>
            <a:ext cx="605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Prefill</a:t>
            </a:r>
            <a:endParaRPr 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470987-0399-5118-96E2-B972D43C758D}"/>
              </a:ext>
            </a:extLst>
          </p:cNvPr>
          <p:cNvSpPr txBox="1"/>
          <p:nvPr/>
        </p:nvSpPr>
        <p:spPr>
          <a:xfrm>
            <a:off x="9697774" y="4451216"/>
            <a:ext cx="737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Decode</a:t>
            </a:r>
            <a:endParaRPr 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6644BE-E950-3F29-97AD-16537667EF46}"/>
              </a:ext>
            </a:extLst>
          </p:cNvPr>
          <p:cNvSpPr txBox="1"/>
          <p:nvPr/>
        </p:nvSpPr>
        <p:spPr>
          <a:xfrm>
            <a:off x="3326137" y="4758993"/>
            <a:ext cx="1203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2463EB"/>
                </a:solidFill>
              </a:rPr>
              <a:t>B</a:t>
            </a:r>
            <a:r>
              <a:rPr lang="zh-CN" altLang="en-US" sz="2800" b="1" dirty="0"/>
              <a:t> </a:t>
            </a:r>
            <a:r>
              <a:rPr lang="en-US" altLang="zh-CN" sz="2000" b="1" dirty="0"/>
              <a:t>Reload</a:t>
            </a:r>
            <a:endParaRPr lang="en-US" sz="2000" b="1" dirty="0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14CAB34-0D05-02D4-93C8-A72350A6605F}"/>
              </a:ext>
            </a:extLst>
          </p:cNvPr>
          <p:cNvSpPr/>
          <p:nvPr/>
        </p:nvSpPr>
        <p:spPr>
          <a:xfrm>
            <a:off x="5728229" y="5931509"/>
            <a:ext cx="1846401" cy="471487"/>
          </a:xfrm>
          <a:prstGeom prst="roundRect">
            <a:avLst/>
          </a:prstGeom>
          <a:ln w="25400">
            <a:solidFill>
              <a:srgbClr val="CA8A0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DRAM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D2029E1-C820-D9B0-DC8D-EAC61CB1395A}"/>
              </a:ext>
            </a:extLst>
          </p:cNvPr>
          <p:cNvSpPr/>
          <p:nvPr/>
        </p:nvSpPr>
        <p:spPr>
          <a:xfrm>
            <a:off x="9459647" y="5931509"/>
            <a:ext cx="1846401" cy="471487"/>
          </a:xfrm>
          <a:prstGeom prst="roundRect">
            <a:avLst/>
          </a:prstGeom>
          <a:ln w="25400">
            <a:solidFill>
              <a:srgbClr val="CA8A0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DRAM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3E8A909-B861-3ADF-A621-EAD92C3499ED}"/>
              </a:ext>
            </a:extLst>
          </p:cNvPr>
          <p:cNvSpPr/>
          <p:nvPr/>
        </p:nvSpPr>
        <p:spPr>
          <a:xfrm>
            <a:off x="9887637" y="5014010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F574865-389E-071A-8CB6-B082154E61D1}"/>
              </a:ext>
            </a:extLst>
          </p:cNvPr>
          <p:cNvSpPr/>
          <p:nvPr/>
        </p:nvSpPr>
        <p:spPr>
          <a:xfrm>
            <a:off x="9956915" y="5014010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3FCBB5-05A3-5789-588C-733BB610097D}"/>
              </a:ext>
            </a:extLst>
          </p:cNvPr>
          <p:cNvSpPr txBox="1"/>
          <p:nvPr/>
        </p:nvSpPr>
        <p:spPr>
          <a:xfrm>
            <a:off x="9934968" y="4872900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54403F-AF65-BB39-FBC2-9AD89C451EC8}"/>
              </a:ext>
            </a:extLst>
          </p:cNvPr>
          <p:cNvSpPr/>
          <p:nvPr/>
        </p:nvSpPr>
        <p:spPr>
          <a:xfrm>
            <a:off x="10148622" y="5014549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C2CBCB-BE17-B856-F868-09AAFA9A994B}"/>
              </a:ext>
            </a:extLst>
          </p:cNvPr>
          <p:cNvSpPr/>
          <p:nvPr/>
        </p:nvSpPr>
        <p:spPr>
          <a:xfrm>
            <a:off x="10220469" y="5016521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FFF188-B3D9-E113-1903-86113FFCA42A}"/>
              </a:ext>
            </a:extLst>
          </p:cNvPr>
          <p:cNvSpPr/>
          <p:nvPr/>
        </p:nvSpPr>
        <p:spPr>
          <a:xfrm>
            <a:off x="10293245" y="5016521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E0AF23-8490-AA91-AAAF-AB2436F5EFAB}"/>
              </a:ext>
            </a:extLst>
          </p:cNvPr>
          <p:cNvSpPr txBox="1"/>
          <p:nvPr/>
        </p:nvSpPr>
        <p:spPr>
          <a:xfrm>
            <a:off x="10257954" y="4872900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3FBF20-B021-58E9-C9CB-1907B467D46D}"/>
              </a:ext>
            </a:extLst>
          </p:cNvPr>
          <p:cNvSpPr/>
          <p:nvPr/>
        </p:nvSpPr>
        <p:spPr>
          <a:xfrm>
            <a:off x="10472244" y="5013725"/>
            <a:ext cx="45719" cy="876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90B3A101-ACC6-BE5D-6E4C-65869FE9B6D5}"/>
              </a:ext>
            </a:extLst>
          </p:cNvPr>
          <p:cNvCxnSpPr>
            <a:cxnSpLocks/>
          </p:cNvCxnSpPr>
          <p:nvPr/>
        </p:nvCxnSpPr>
        <p:spPr>
          <a:xfrm flipV="1">
            <a:off x="9183977" y="5143500"/>
            <a:ext cx="961008" cy="692120"/>
          </a:xfrm>
          <a:prstGeom prst="curvedConnector3">
            <a:avLst>
              <a:gd name="adj1" fmla="val 50000"/>
            </a:avLst>
          </a:prstGeom>
          <a:ln w="41275">
            <a:solidFill>
              <a:srgbClr val="2463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287AC1C1-6EEE-2F90-CA2A-B534EF413765}"/>
              </a:ext>
            </a:extLst>
          </p:cNvPr>
          <p:cNvSpPr/>
          <p:nvPr/>
        </p:nvSpPr>
        <p:spPr>
          <a:xfrm>
            <a:off x="9048318" y="588766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19AEE7F-A2DF-7656-6F82-CB947F78621D}"/>
              </a:ext>
            </a:extLst>
          </p:cNvPr>
          <p:cNvSpPr/>
          <p:nvPr/>
        </p:nvSpPr>
        <p:spPr>
          <a:xfrm>
            <a:off x="9121807" y="588766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E7610860-543A-47A1-8841-CEBF84C11683}"/>
              </a:ext>
            </a:extLst>
          </p:cNvPr>
          <p:cNvSpPr/>
          <p:nvPr/>
        </p:nvSpPr>
        <p:spPr>
          <a:xfrm>
            <a:off x="9801510" y="3079102"/>
            <a:ext cx="1004886" cy="487550"/>
          </a:xfrm>
          <a:custGeom>
            <a:avLst/>
            <a:gdLst>
              <a:gd name="connsiteX0" fmla="*/ 541474 w 1040666"/>
              <a:gd name="connsiteY0" fmla="*/ 0 h 487550"/>
              <a:gd name="connsiteX1" fmla="*/ 1040661 w 1040666"/>
              <a:gd name="connsiteY1" fmla="*/ 195943 h 487550"/>
              <a:gd name="connsiteX2" fmla="*/ 550804 w 1040666"/>
              <a:gd name="connsiteY2" fmla="*/ 485192 h 487550"/>
              <a:gd name="connsiteX3" fmla="*/ 4963 w 1040666"/>
              <a:gd name="connsiteY3" fmla="*/ 317241 h 487550"/>
              <a:gd name="connsiteX4" fmla="*/ 326870 w 1040666"/>
              <a:gd name="connsiteY4" fmla="*/ 41988 h 4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666" h="487550">
                <a:moveTo>
                  <a:pt x="541474" y="0"/>
                </a:moveTo>
                <a:cubicBezTo>
                  <a:pt x="790290" y="57539"/>
                  <a:pt x="1039106" y="115078"/>
                  <a:pt x="1040661" y="195943"/>
                </a:cubicBezTo>
                <a:cubicBezTo>
                  <a:pt x="1042216" y="276808"/>
                  <a:pt x="723420" y="464976"/>
                  <a:pt x="550804" y="485192"/>
                </a:cubicBezTo>
                <a:cubicBezTo>
                  <a:pt x="378188" y="505408"/>
                  <a:pt x="42285" y="391108"/>
                  <a:pt x="4963" y="317241"/>
                </a:cubicBezTo>
                <a:cubicBezTo>
                  <a:pt x="-32359" y="243374"/>
                  <a:pt x="147255" y="142681"/>
                  <a:pt x="326870" y="41988"/>
                </a:cubicBezTo>
              </a:path>
            </a:pathLst>
          </a:custGeom>
          <a:noFill/>
          <a:ln cap="rnd">
            <a:solidFill>
              <a:srgbClr val="C00000"/>
            </a:solidFill>
            <a:round/>
            <a:headEnd type="triangl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97F19C-4FF5-DA7C-BBFB-D1C2548814CC}"/>
              </a:ext>
            </a:extLst>
          </p:cNvPr>
          <p:cNvSpPr txBox="1"/>
          <p:nvPr/>
        </p:nvSpPr>
        <p:spPr>
          <a:xfrm>
            <a:off x="9760250" y="3506574"/>
            <a:ext cx="1215583" cy="25391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Force/Free</a:t>
            </a:r>
            <a:r>
              <a:rPr lang="zh-CN" altLang="en-US" sz="1050" dirty="0">
                <a:solidFill>
                  <a:schemeClr val="tx1"/>
                </a:solidFill>
              </a:rPr>
              <a:t> </a:t>
            </a:r>
            <a:r>
              <a:rPr lang="en-US" altLang="zh-CN" sz="1050" dirty="0">
                <a:solidFill>
                  <a:schemeClr val="tx1"/>
                </a:solidFill>
              </a:rPr>
              <a:t>decode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01E77EF-0BFE-313F-24A4-0129CAE7CF25}"/>
              </a:ext>
            </a:extLst>
          </p:cNvPr>
          <p:cNvSpPr/>
          <p:nvPr/>
        </p:nvSpPr>
        <p:spPr>
          <a:xfrm>
            <a:off x="9194378" y="588766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9BA9F29-292B-1AC5-C1B9-49CE08544859}"/>
              </a:ext>
            </a:extLst>
          </p:cNvPr>
          <p:cNvGrpSpPr/>
          <p:nvPr/>
        </p:nvGrpSpPr>
        <p:grpSpPr>
          <a:xfrm>
            <a:off x="5740127" y="6636669"/>
            <a:ext cx="1846401" cy="1211581"/>
            <a:chOff x="5014913" y="2875786"/>
            <a:chExt cx="1846401" cy="1211581"/>
          </a:xfrm>
        </p:grpSpPr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9BFB86B3-67E1-9F83-D8B7-E4654AA23793}"/>
                </a:ext>
              </a:extLst>
            </p:cNvPr>
            <p:cNvSpPr/>
            <p:nvPr/>
          </p:nvSpPr>
          <p:spPr>
            <a:xfrm>
              <a:off x="5014913" y="2875786"/>
              <a:ext cx="1846401" cy="1211581"/>
            </a:xfrm>
            <a:prstGeom prst="roundRect">
              <a:avLst>
                <a:gd name="adj" fmla="val 8192"/>
              </a:avLst>
            </a:prstGeom>
            <a:ln w="25400">
              <a:solidFill>
                <a:srgbClr val="ED733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CAEC3BD-3C31-7B36-745D-5F6E25FDAB40}"/>
                </a:ext>
              </a:extLst>
            </p:cNvPr>
            <p:cNvSpPr/>
            <p:nvPr/>
          </p:nvSpPr>
          <p:spPr>
            <a:xfrm>
              <a:off x="5253039" y="3105434"/>
              <a:ext cx="1004886" cy="745047"/>
            </a:xfrm>
            <a:prstGeom prst="roundRect">
              <a:avLst>
                <a:gd name="adj" fmla="val 8192"/>
              </a:avLst>
            </a:prstGeom>
            <a:ln w="25400">
              <a:solidFill>
                <a:srgbClr val="ED7334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63C7811-A66B-51F8-483A-8DA7E8C6EC09}"/>
                </a:ext>
              </a:extLst>
            </p:cNvPr>
            <p:cNvSpPr txBox="1"/>
            <p:nvPr/>
          </p:nvSpPr>
          <p:spPr>
            <a:xfrm>
              <a:off x="6352219" y="3296910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US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8BE7949-FA0A-F5AF-41E5-131081597D71}"/>
              </a:ext>
            </a:extLst>
          </p:cNvPr>
          <p:cNvGrpSpPr/>
          <p:nvPr/>
        </p:nvGrpSpPr>
        <p:grpSpPr>
          <a:xfrm>
            <a:off x="9471546" y="6636669"/>
            <a:ext cx="1846401" cy="1211581"/>
            <a:chOff x="5014913" y="2875786"/>
            <a:chExt cx="1846401" cy="1211581"/>
          </a:xfrm>
          <a:solidFill>
            <a:schemeClr val="bg1"/>
          </a:solidFill>
        </p:grpSpPr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9E083CAE-C764-0A5A-8628-3CBAE44D2C2F}"/>
                </a:ext>
              </a:extLst>
            </p:cNvPr>
            <p:cNvSpPr/>
            <p:nvPr/>
          </p:nvSpPr>
          <p:spPr>
            <a:xfrm>
              <a:off x="5014913" y="2875786"/>
              <a:ext cx="1846401" cy="1211581"/>
            </a:xfrm>
            <a:prstGeom prst="roundRect">
              <a:avLst>
                <a:gd name="adj" fmla="val 8192"/>
              </a:avLst>
            </a:prstGeom>
            <a:grpFill/>
            <a:ln w="25400">
              <a:solidFill>
                <a:srgbClr val="2463E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B4D5197C-F8E9-6F17-8DE1-2EB8807F2D42}"/>
                </a:ext>
              </a:extLst>
            </p:cNvPr>
            <p:cNvSpPr/>
            <p:nvPr/>
          </p:nvSpPr>
          <p:spPr>
            <a:xfrm>
              <a:off x="5253039" y="3105434"/>
              <a:ext cx="1004886" cy="745047"/>
            </a:xfrm>
            <a:prstGeom prst="roundRect">
              <a:avLst>
                <a:gd name="adj" fmla="val 8192"/>
              </a:avLst>
            </a:prstGeom>
            <a:grpFill/>
            <a:ln w="25400">
              <a:solidFill>
                <a:srgbClr val="2463E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9B4EE50-1474-EECF-51AA-51BF5C671237}"/>
                </a:ext>
              </a:extLst>
            </p:cNvPr>
            <p:cNvSpPr txBox="1"/>
            <p:nvPr/>
          </p:nvSpPr>
          <p:spPr>
            <a:xfrm>
              <a:off x="6352219" y="3296910"/>
              <a:ext cx="34336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US" dirty="0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2AE8D1E-4C13-D478-3482-1255A9F91F08}"/>
              </a:ext>
            </a:extLst>
          </p:cNvPr>
          <p:cNvSpPr txBox="1"/>
          <p:nvPr/>
        </p:nvSpPr>
        <p:spPr>
          <a:xfrm>
            <a:off x="5978253" y="6590567"/>
            <a:ext cx="605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Prefill</a:t>
            </a:r>
            <a:endParaRPr lang="en-US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302EBD5-4228-2EC3-3ED3-BCA4BABD306B}"/>
              </a:ext>
            </a:extLst>
          </p:cNvPr>
          <p:cNvSpPr txBox="1"/>
          <p:nvPr/>
        </p:nvSpPr>
        <p:spPr>
          <a:xfrm>
            <a:off x="9709672" y="6597605"/>
            <a:ext cx="737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Decode</a:t>
            </a:r>
            <a:endParaRPr lang="en-US" sz="14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3F4D23-9840-8225-1A9A-9197DA45CD9E}"/>
              </a:ext>
            </a:extLst>
          </p:cNvPr>
          <p:cNvSpPr txBox="1"/>
          <p:nvPr/>
        </p:nvSpPr>
        <p:spPr>
          <a:xfrm>
            <a:off x="3338035" y="6905382"/>
            <a:ext cx="1079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27857"/>
                </a:solidFill>
              </a:rPr>
              <a:t>C</a:t>
            </a:r>
            <a:r>
              <a:rPr lang="zh-CN" altLang="en-US" sz="2800" b="1" dirty="0"/>
              <a:t> </a:t>
            </a:r>
            <a:r>
              <a:rPr lang="en-US" altLang="zh-CN" sz="2000" b="1" dirty="0"/>
              <a:t>Prefill</a:t>
            </a:r>
            <a:endParaRPr lang="en-US" sz="2000" b="1" dirty="0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9E9A56BB-6828-509E-2C4B-9140EA801B07}"/>
              </a:ext>
            </a:extLst>
          </p:cNvPr>
          <p:cNvSpPr/>
          <p:nvPr/>
        </p:nvSpPr>
        <p:spPr>
          <a:xfrm>
            <a:off x="5740127" y="8077898"/>
            <a:ext cx="1846401" cy="471487"/>
          </a:xfrm>
          <a:prstGeom prst="roundRect">
            <a:avLst/>
          </a:prstGeom>
          <a:ln w="25400">
            <a:solidFill>
              <a:srgbClr val="CA8A0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DRAM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2885A747-A1BC-EA2E-B6FC-D2D85C31A15E}"/>
              </a:ext>
            </a:extLst>
          </p:cNvPr>
          <p:cNvSpPr/>
          <p:nvPr/>
        </p:nvSpPr>
        <p:spPr>
          <a:xfrm>
            <a:off x="9471545" y="8077898"/>
            <a:ext cx="1846401" cy="471487"/>
          </a:xfrm>
          <a:prstGeom prst="roundRect">
            <a:avLst/>
          </a:prstGeom>
          <a:ln w="25400">
            <a:solidFill>
              <a:srgbClr val="CA8A0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Host DRAM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D5E9E47-B18C-32C8-1EE6-19856334F69F}"/>
              </a:ext>
            </a:extLst>
          </p:cNvPr>
          <p:cNvSpPr/>
          <p:nvPr/>
        </p:nvSpPr>
        <p:spPr>
          <a:xfrm>
            <a:off x="9899535" y="7160399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9AE8292-12C9-497C-FDD2-59D22C8FD07E}"/>
              </a:ext>
            </a:extLst>
          </p:cNvPr>
          <p:cNvSpPr/>
          <p:nvPr/>
        </p:nvSpPr>
        <p:spPr>
          <a:xfrm>
            <a:off x="9968813" y="7160399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DCCFE3B-5557-AC27-5B63-494B61BC682F}"/>
              </a:ext>
            </a:extLst>
          </p:cNvPr>
          <p:cNvSpPr txBox="1"/>
          <p:nvPr/>
        </p:nvSpPr>
        <p:spPr>
          <a:xfrm>
            <a:off x="9946866" y="7019289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0FE3946-2C93-C516-BA38-DB7EFACDB2C1}"/>
              </a:ext>
            </a:extLst>
          </p:cNvPr>
          <p:cNvSpPr/>
          <p:nvPr/>
        </p:nvSpPr>
        <p:spPr>
          <a:xfrm>
            <a:off x="10160520" y="716093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2DBDC00-F7AC-A685-3CFD-800457C423E7}"/>
              </a:ext>
            </a:extLst>
          </p:cNvPr>
          <p:cNvSpPr/>
          <p:nvPr/>
        </p:nvSpPr>
        <p:spPr>
          <a:xfrm>
            <a:off x="10232367" y="7162910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7F08F8-0587-0A08-965B-9DAC7D9EB0EE}"/>
              </a:ext>
            </a:extLst>
          </p:cNvPr>
          <p:cNvSpPr/>
          <p:nvPr/>
        </p:nvSpPr>
        <p:spPr>
          <a:xfrm>
            <a:off x="10305143" y="7162910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999C6E7-C766-0703-B364-B2418DC4BFA5}"/>
              </a:ext>
            </a:extLst>
          </p:cNvPr>
          <p:cNvSpPr txBox="1"/>
          <p:nvPr/>
        </p:nvSpPr>
        <p:spPr>
          <a:xfrm>
            <a:off x="10269852" y="7019289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22EC431-AF60-5738-FB58-955018F7CC87}"/>
              </a:ext>
            </a:extLst>
          </p:cNvPr>
          <p:cNvSpPr/>
          <p:nvPr/>
        </p:nvSpPr>
        <p:spPr>
          <a:xfrm>
            <a:off x="10484142" y="7160114"/>
            <a:ext cx="45719" cy="8768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DF64F2B9-874E-BCD6-9D76-FC65ED4BD117}"/>
              </a:ext>
            </a:extLst>
          </p:cNvPr>
          <p:cNvCxnSpPr>
            <a:cxnSpLocks/>
            <a:stCxn id="89" idx="3"/>
            <a:endCxn id="93" idx="1"/>
          </p:cNvCxnSpPr>
          <p:nvPr/>
        </p:nvCxnSpPr>
        <p:spPr>
          <a:xfrm>
            <a:off x="7586528" y="7242460"/>
            <a:ext cx="1885018" cy="12700"/>
          </a:xfrm>
          <a:prstGeom prst="curvedConnector3">
            <a:avLst>
              <a:gd name="adj1" fmla="val 50000"/>
            </a:avLst>
          </a:prstGeom>
          <a:ln w="41275">
            <a:solidFill>
              <a:srgbClr val="0278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0A59863-C74B-6DB5-419A-8182CBE976D3}"/>
              </a:ext>
            </a:extLst>
          </p:cNvPr>
          <p:cNvSpPr/>
          <p:nvPr/>
        </p:nvSpPr>
        <p:spPr>
          <a:xfrm>
            <a:off x="6147618" y="7196891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5D2C0B3-2FE8-79CB-D678-98AE6422BD53}"/>
              </a:ext>
            </a:extLst>
          </p:cNvPr>
          <p:cNvSpPr/>
          <p:nvPr/>
        </p:nvSpPr>
        <p:spPr>
          <a:xfrm>
            <a:off x="6216896" y="7196891"/>
            <a:ext cx="45719" cy="876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F1A6B14-25A1-8C58-DAA9-EC2896267822}"/>
              </a:ext>
            </a:extLst>
          </p:cNvPr>
          <p:cNvSpPr txBox="1"/>
          <p:nvPr/>
        </p:nvSpPr>
        <p:spPr>
          <a:xfrm>
            <a:off x="6194949" y="7055781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F5FCCEE-C178-8DFD-233C-A4AF54165C0F}"/>
              </a:ext>
            </a:extLst>
          </p:cNvPr>
          <p:cNvSpPr/>
          <p:nvPr/>
        </p:nvSpPr>
        <p:spPr>
          <a:xfrm>
            <a:off x="6408603" y="7197430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FDE2B72-5929-055D-D09B-ABAFAD31C89F}"/>
              </a:ext>
            </a:extLst>
          </p:cNvPr>
          <p:cNvSpPr/>
          <p:nvPr/>
        </p:nvSpPr>
        <p:spPr>
          <a:xfrm>
            <a:off x="6480450" y="7199402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81AFEB9-513C-C018-7B37-06DF01015BC7}"/>
              </a:ext>
            </a:extLst>
          </p:cNvPr>
          <p:cNvSpPr/>
          <p:nvPr/>
        </p:nvSpPr>
        <p:spPr>
          <a:xfrm>
            <a:off x="6553226" y="7199402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B8B5373-5000-098A-71A1-7B5B2D8CAE34}"/>
              </a:ext>
            </a:extLst>
          </p:cNvPr>
          <p:cNvGrpSpPr/>
          <p:nvPr/>
        </p:nvGrpSpPr>
        <p:grpSpPr>
          <a:xfrm>
            <a:off x="7989302" y="7432555"/>
            <a:ext cx="1059016" cy="369332"/>
            <a:chOff x="11083803" y="4320340"/>
            <a:chExt cx="1059016" cy="369332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46683E4-470E-4E13-BE8B-CD213A4C824C}"/>
                </a:ext>
              </a:extLst>
            </p:cNvPr>
            <p:cNvGrpSpPr/>
            <p:nvPr/>
          </p:nvGrpSpPr>
          <p:grpSpPr>
            <a:xfrm>
              <a:off x="11083803" y="4320340"/>
              <a:ext cx="378630" cy="369332"/>
              <a:chOff x="11083803" y="4320340"/>
              <a:chExt cx="378630" cy="369332"/>
            </a:xfrm>
          </p:grpSpPr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83BAB831-185D-C611-7FE0-D57451EF6804}"/>
                  </a:ext>
                </a:extLst>
              </p:cNvPr>
              <p:cNvSpPr/>
              <p:nvPr/>
            </p:nvSpPr>
            <p:spPr>
              <a:xfrm>
                <a:off x="11134165" y="4375260"/>
                <a:ext cx="277906" cy="259493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3ECA896-DFCE-C5BF-A548-7FCA0B751AA7}"/>
                  </a:ext>
                </a:extLst>
              </p:cNvPr>
              <p:cNvSpPr txBox="1"/>
              <p:nvPr/>
            </p:nvSpPr>
            <p:spPr>
              <a:xfrm>
                <a:off x="11083803" y="432034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t1</a:t>
                </a:r>
                <a:endParaRPr lang="en-US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A586B9BC-0FDE-68C7-7A39-B6402BFED208}"/>
                </a:ext>
              </a:extLst>
            </p:cNvPr>
            <p:cNvGrpSpPr/>
            <p:nvPr/>
          </p:nvGrpSpPr>
          <p:grpSpPr>
            <a:xfrm>
              <a:off x="11414184" y="4320340"/>
              <a:ext cx="378630" cy="369332"/>
              <a:chOff x="11083803" y="4320340"/>
              <a:chExt cx="378630" cy="369332"/>
            </a:xfrm>
          </p:grpSpPr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31B44CC-1F57-1614-FAD8-55254458B62E}"/>
                  </a:ext>
                </a:extLst>
              </p:cNvPr>
              <p:cNvSpPr/>
              <p:nvPr/>
            </p:nvSpPr>
            <p:spPr>
              <a:xfrm>
                <a:off x="11134165" y="4375260"/>
                <a:ext cx="277906" cy="259493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F2E5B4D-7EBF-FC2B-9E9F-1883894D739E}"/>
                  </a:ext>
                </a:extLst>
              </p:cNvPr>
              <p:cNvSpPr txBox="1"/>
              <p:nvPr/>
            </p:nvSpPr>
            <p:spPr>
              <a:xfrm>
                <a:off x="11083803" y="432034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t2</a:t>
                </a:r>
                <a:endParaRPr lang="en-US" dirty="0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E2FC51D0-76EE-02AB-8615-D3C74FC33A14}"/>
                </a:ext>
              </a:extLst>
            </p:cNvPr>
            <p:cNvGrpSpPr/>
            <p:nvPr/>
          </p:nvGrpSpPr>
          <p:grpSpPr>
            <a:xfrm>
              <a:off x="11764189" y="4320340"/>
              <a:ext cx="378630" cy="369332"/>
              <a:chOff x="11083803" y="4320340"/>
              <a:chExt cx="378630" cy="369332"/>
            </a:xfrm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EEF6D933-9E9B-F5FD-D4D2-B2151CB6EF66}"/>
                  </a:ext>
                </a:extLst>
              </p:cNvPr>
              <p:cNvSpPr/>
              <p:nvPr/>
            </p:nvSpPr>
            <p:spPr>
              <a:xfrm>
                <a:off x="11134165" y="4375260"/>
                <a:ext cx="277906" cy="259493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A0CB74E-BF86-254F-928D-0C8C5109EB5A}"/>
                  </a:ext>
                </a:extLst>
              </p:cNvPr>
              <p:cNvSpPr txBox="1"/>
              <p:nvPr/>
            </p:nvSpPr>
            <p:spPr>
              <a:xfrm>
                <a:off x="11083803" y="432034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t3</a:t>
                </a:r>
                <a:endParaRPr lang="en-US" dirty="0"/>
              </a:p>
            </p:txBody>
          </p:sp>
        </p:grpSp>
      </p:grpSp>
      <p:cxnSp>
        <p:nvCxnSpPr>
          <p:cNvPr id="136" name="Curved Connector 135">
            <a:extLst>
              <a:ext uri="{FF2B5EF4-FFF2-40B4-BE49-F238E27FC236}">
                <a16:creationId xmlns:a16="http://schemas.microsoft.com/office/drawing/2014/main" id="{A4AF7425-AE2C-6F6A-E151-007E9B6D892E}"/>
              </a:ext>
            </a:extLst>
          </p:cNvPr>
          <p:cNvCxnSpPr>
            <a:cxnSpLocks/>
          </p:cNvCxnSpPr>
          <p:nvPr/>
        </p:nvCxnSpPr>
        <p:spPr>
          <a:xfrm rot="10800000">
            <a:off x="7473213" y="7366723"/>
            <a:ext cx="1986435" cy="21899"/>
          </a:xfrm>
          <a:prstGeom prst="curvedConnector3">
            <a:avLst>
              <a:gd name="adj1" fmla="val 50000"/>
            </a:avLst>
          </a:prstGeom>
          <a:ln w="41275">
            <a:solidFill>
              <a:srgbClr val="0278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95AB24B-ED5B-2F5D-8820-830F0617392F}"/>
              </a:ext>
            </a:extLst>
          </p:cNvPr>
          <p:cNvSpPr/>
          <p:nvPr/>
        </p:nvSpPr>
        <p:spPr>
          <a:xfrm>
            <a:off x="8388466" y="709702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DE4E0B3-7843-0710-2825-0D642895294E}"/>
              </a:ext>
            </a:extLst>
          </p:cNvPr>
          <p:cNvSpPr/>
          <p:nvPr/>
        </p:nvSpPr>
        <p:spPr>
          <a:xfrm>
            <a:off x="8461955" y="709702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54C998A-B1E8-01CC-6A71-F23E4EBF76CD}"/>
              </a:ext>
            </a:extLst>
          </p:cNvPr>
          <p:cNvSpPr/>
          <p:nvPr/>
        </p:nvSpPr>
        <p:spPr>
          <a:xfrm>
            <a:off x="8534526" y="7097028"/>
            <a:ext cx="45719" cy="876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45" name="Curved Connector 144">
            <a:extLst>
              <a:ext uri="{FF2B5EF4-FFF2-40B4-BE49-F238E27FC236}">
                <a16:creationId xmlns:a16="http://schemas.microsoft.com/office/drawing/2014/main" id="{708CC99D-A587-C0FF-FEBD-2DB1CE35EE7A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11140318" y="5096070"/>
            <a:ext cx="340482" cy="791598"/>
          </a:xfrm>
          <a:prstGeom prst="curvedConnector2">
            <a:avLst/>
          </a:prstGeom>
          <a:ln w="41275">
            <a:solidFill>
              <a:srgbClr val="2463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382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THREE RESUME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Three request paths on the same simplified topology</a:t>
            </a:r>
          </a:p>
        </p:txBody>
      </p:sp>
      <p:pic>
        <p:nvPicPr>
          <p:cNvPr id="4" name="figure" descr="three_resume_la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551" y="2484882"/>
            <a:ext cx="9908896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A sends token IDs to decode and rebuilds all KV; B reloads persisted history KV and computes only Lnew; C extends resident KV on prefill, then transfers the completed state through both hosts.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QUESTION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Three ways to resume an evicted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801014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SESSION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51810"/>
            <a:ext cx="8010144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History, delta,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055363"/>
            <a:ext cx="801014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52525B"/>
                </a:solidFill>
                <a:latin typeface="Arial"/>
              </a:rPr>
              <a:t>PD separation: prefill and decode each occupy one WSE card with separate host DRAM. Lhist KV is assumed persisted; Lnew has no KV. We time resume only—decode→host eviction and host-to-host latency are excluded.</a:t>
            </a:r>
          </a:p>
        </p:txBody>
      </p:sp>
      <p:sp>
        <p:nvSpPr>
          <p:cNvPr id="7" name="card"/>
          <p:cNvSpPr/>
          <p:nvPr/>
        </p:nvSpPr>
        <p:spPr>
          <a:xfrm>
            <a:off x="9528048" y="2484882"/>
            <a:ext cx="7772400" cy="4251960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0" y="3015234"/>
            <a:ext cx="67116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RESUME LANES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3499865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i="0" u="none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9608" y="3499865"/>
            <a:ext cx="6190488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A — force-decode Lhist + Lnew in decode; no reload</a:t>
            </a:r>
          </a:p>
        </p:txBody>
      </p:sp>
      <p:sp>
        <p:nvSpPr>
          <p:cNvPr id="11" name="rule"/>
          <p:cNvSpPr/>
          <p:nvPr/>
        </p:nvSpPr>
        <p:spPr>
          <a:xfrm>
            <a:off x="10058400" y="4472787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0" y="4652009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i="0" u="none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4652009"/>
            <a:ext cx="61904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B — reload Lhist KV; force-decode only Lnew</a:t>
            </a:r>
          </a:p>
        </p:txBody>
      </p:sp>
      <p:sp>
        <p:nvSpPr>
          <p:cNvPr id="14" name="rule"/>
          <p:cNvSpPr/>
          <p:nvPr/>
        </p:nvSpPr>
        <p:spPr>
          <a:xfrm>
            <a:off x="10058400" y="5222595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5401818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i="0" u="none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9608" y="5401818"/>
            <a:ext cx="6190488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C — prefill Lnew over resident Lhist; transfer the completed KV state to decode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IMPLEMENTATIONS AND MEASUREMENT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The experiments do not all exercise the same kernel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2331381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0957" y="2484882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KERNEL /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8589" y="2484882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SWEEP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29107" y="2484882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QUALIFICATION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295122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188970"/>
            <a:ext cx="233138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E5</a:t>
            </a:r>
          </a:p>
        </p:txBody>
      </p:sp>
      <p:sp>
        <p:nvSpPr>
          <p:cNvPr id="10" name="rule"/>
          <p:cNvSpPr/>
          <p:nvPr/>
        </p:nvSpPr>
        <p:spPr>
          <a:xfrm>
            <a:off x="3510957" y="295122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0957" y="3188970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pdSeparate decode KV ingress adaptor/injector</a:t>
            </a:r>
          </a:p>
        </p:txBody>
      </p:sp>
      <p:sp>
        <p:nvSpPr>
          <p:cNvPr id="12" name="rule"/>
          <p:cNvSpPr/>
          <p:nvPr/>
        </p:nvSpPr>
        <p:spPr>
          <a:xfrm>
            <a:off x="8948589" y="295122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48589" y="3188970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P=256…8192</a:t>
            </a:r>
          </a:p>
        </p:txBody>
      </p:sp>
      <p:sp>
        <p:nvSpPr>
          <p:cNvPr id="14" name="rule"/>
          <p:cNvSpPr/>
          <p:nvPr/>
        </p:nvSpPr>
        <p:spPr>
          <a:xfrm>
            <a:off x="12929107" y="295122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29107" y="3188970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Direct device TSC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377418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011930"/>
            <a:ext cx="233138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E9</a:t>
            </a:r>
          </a:p>
        </p:txBody>
      </p:sp>
      <p:sp>
        <p:nvSpPr>
          <p:cNvPr id="18" name="rule"/>
          <p:cNvSpPr/>
          <p:nvPr/>
        </p:nvSpPr>
        <p:spPr>
          <a:xfrm>
            <a:off x="3510957" y="377418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0957" y="4011930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2×4 force-decode pipeline; 28 layers</a:t>
            </a:r>
          </a:p>
        </p:txBody>
      </p:sp>
      <p:sp>
        <p:nvSpPr>
          <p:cNvPr id="20" name="rule"/>
          <p:cNvSpPr/>
          <p:nvPr/>
        </p:nvSpPr>
        <p:spPr>
          <a:xfrm>
            <a:off x="8948589" y="377418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48589" y="4011930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P=256; F=1…20224</a:t>
            </a:r>
          </a:p>
        </p:txBody>
      </p:sp>
      <p:sp>
        <p:nvSpPr>
          <p:cNvPr id="22" name="rule"/>
          <p:cNvSpPr/>
          <p:nvPr/>
        </p:nvSpPr>
        <p:spPr>
          <a:xfrm>
            <a:off x="12929107" y="377418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29107" y="4011930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Direct device TSC</a:t>
            </a:r>
          </a:p>
        </p:txBody>
      </p:sp>
      <p:sp>
        <p:nvSpPr>
          <p:cNvPr id="24" name="rule"/>
          <p:cNvSpPr/>
          <p:nvPr/>
        </p:nvSpPr>
        <p:spPr>
          <a:xfrm>
            <a:off x="987552" y="459714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834890"/>
            <a:ext cx="233138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E14</a:t>
            </a:r>
          </a:p>
        </p:txBody>
      </p:sp>
      <p:sp>
        <p:nvSpPr>
          <p:cNvPr id="26" name="rule"/>
          <p:cNvSpPr/>
          <p:nvPr/>
        </p:nvSpPr>
        <p:spPr>
          <a:xfrm>
            <a:off x="3510957" y="459714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10957" y="4834890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Same force-decode model config</a:t>
            </a:r>
          </a:p>
        </p:txBody>
      </p:sp>
      <p:sp>
        <p:nvSpPr>
          <p:cNvPr id="28" name="rule"/>
          <p:cNvSpPr/>
          <p:nvPr/>
        </p:nvSpPr>
        <p:spPr>
          <a:xfrm>
            <a:off x="8948589" y="459714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48589" y="4834890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4 prefixes × 6 F</a:t>
            </a:r>
          </a:p>
        </p:txBody>
      </p:sp>
      <p:sp>
        <p:nvSpPr>
          <p:cNvPr id="30" name="rule"/>
          <p:cNvSpPr/>
          <p:nvPr/>
        </p:nvSpPr>
        <p:spPr>
          <a:xfrm>
            <a:off x="12929107" y="459714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929107" y="4834890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n=1; 24/24 pass</a:t>
            </a:r>
          </a:p>
        </p:txBody>
      </p:sp>
      <p:sp>
        <p:nvSpPr>
          <p:cNvPr id="32" name="rule"/>
          <p:cNvSpPr/>
          <p:nvPr/>
        </p:nvSpPr>
        <p:spPr>
          <a:xfrm>
            <a:off x="987552" y="542010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5657850"/>
            <a:ext cx="233138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E10/D</a:t>
            </a:r>
          </a:p>
        </p:txBody>
      </p:sp>
      <p:sp>
        <p:nvSpPr>
          <p:cNvPr id="34" name="rule"/>
          <p:cNvSpPr/>
          <p:nvPr/>
        </p:nvSpPr>
        <p:spPr>
          <a:xfrm>
            <a:off x="3510957" y="542010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10957" y="5657850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Reload path + post-ingress force decode</a:t>
            </a:r>
          </a:p>
        </p:txBody>
      </p:sp>
      <p:sp>
        <p:nvSpPr>
          <p:cNvPr id="36" name="rule"/>
          <p:cNvSpPr/>
          <p:nvPr/>
        </p:nvSpPr>
        <p:spPr>
          <a:xfrm>
            <a:off x="8948589" y="542010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48589" y="5657850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H=512…8192</a:t>
            </a:r>
          </a:p>
        </p:txBody>
      </p:sp>
      <p:sp>
        <p:nvSpPr>
          <p:cNvPr id="38" name="rule"/>
          <p:cNvSpPr/>
          <p:nvPr/>
        </p:nvSpPr>
        <p:spPr>
          <a:xfrm>
            <a:off x="12929107" y="542010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929107" y="5657850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Two direct totals</a:t>
            </a:r>
          </a:p>
        </p:txBody>
      </p:sp>
      <p:sp>
        <p:nvSpPr>
          <p:cNvPr id="40" name="rule"/>
          <p:cNvSpPr/>
          <p:nvPr/>
        </p:nvSpPr>
        <p:spPr>
          <a:xfrm>
            <a:off x="987552" y="624306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" y="6480810"/>
            <a:ext cx="233138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E12a</a:t>
            </a:r>
          </a:p>
        </p:txBody>
      </p:sp>
      <p:sp>
        <p:nvSpPr>
          <p:cNvPr id="42" name="rule"/>
          <p:cNvSpPr/>
          <p:nvPr/>
        </p:nvSpPr>
        <p:spPr>
          <a:xfrm>
            <a:off x="3510957" y="624306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10957" y="6480810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S6a resident-prefix prefill, e0a19fc</a:t>
            </a:r>
          </a:p>
        </p:txBody>
      </p:sp>
      <p:sp>
        <p:nvSpPr>
          <p:cNvPr id="44" name="rule"/>
          <p:cNvSpPr/>
          <p:nvPr/>
        </p:nvSpPr>
        <p:spPr>
          <a:xfrm>
            <a:off x="8948589" y="624306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48589" y="6480810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Two 8192-context cases</a:t>
            </a:r>
          </a:p>
        </p:txBody>
      </p:sp>
      <p:sp>
        <p:nvSpPr>
          <p:cNvPr id="46" name="rule"/>
          <p:cNvSpPr/>
          <p:nvPr/>
        </p:nvSpPr>
        <p:spPr>
          <a:xfrm>
            <a:off x="12929107" y="624306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929107" y="6480810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Screening; not exact pdSeparate</a:t>
            </a:r>
          </a:p>
        </p:txBody>
      </p:sp>
      <p:sp>
        <p:nvSpPr>
          <p:cNvPr id="48" name="rule"/>
          <p:cNvSpPr/>
          <p:nvPr/>
        </p:nvSpPr>
        <p:spPr>
          <a:xfrm>
            <a:off x="987552" y="7066026"/>
            <a:ext cx="23313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552" y="7303770"/>
            <a:ext cx="233138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E6</a:t>
            </a:r>
          </a:p>
        </p:txBody>
      </p:sp>
      <p:sp>
        <p:nvSpPr>
          <p:cNvPr id="50" name="rule"/>
          <p:cNvSpPr/>
          <p:nvPr/>
        </p:nvSpPr>
        <p:spPr>
          <a:xfrm>
            <a:off x="3510957" y="7066026"/>
            <a:ext cx="52456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10957" y="7303770"/>
            <a:ext cx="5245608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Prefill transpose + switch-gather egress</a:t>
            </a:r>
          </a:p>
        </p:txBody>
      </p:sp>
      <p:sp>
        <p:nvSpPr>
          <p:cNvPr id="52" name="rule"/>
          <p:cNvSpPr/>
          <p:nvPr/>
        </p:nvSpPr>
        <p:spPr>
          <a:xfrm>
            <a:off x="8948589" y="7066026"/>
            <a:ext cx="378849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48589" y="7303770"/>
            <a:ext cx="378849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1…32 chunks</a:t>
            </a:r>
          </a:p>
        </p:txBody>
      </p:sp>
      <p:sp>
        <p:nvSpPr>
          <p:cNvPr id="54" name="rule"/>
          <p:cNvSpPr/>
          <p:nvPr/>
        </p:nvSpPr>
        <p:spPr>
          <a:xfrm>
            <a:off x="12929107" y="7066026"/>
            <a:ext cx="437134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929107" y="7303770"/>
            <a:ext cx="437134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Not inverse-equivalent to E5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A ·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All 24 force-decode spans across prefix × forced length</a:t>
            </a:r>
          </a:p>
        </p:txBody>
      </p:sp>
      <p:pic>
        <p:nvPicPr>
          <p:cNvPr id="4" name="figure" descr="e14_raw_sp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99" y="2484882"/>
            <a:ext cx="10451400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RAW — P={256,1024,4096,8192}, F={1,256,512,1024,2048,4096}; real Qwen3-1.7B on WSE-3, n=1.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A · PERFORMANCE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Startup anchor + position-dependent intervals</a:t>
            </a:r>
          </a:p>
        </p:txBody>
      </p:sp>
      <p:pic>
        <p:nvPicPr>
          <p:cNvPr id="4" name="figure" descr="e14_model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757" y="2484882"/>
            <a:ext cx="10466485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D(P,F)=D(P,256)+Σ II(q), where 16 steady segments give II(q)=71.745 µs+4.093 ns·q. Ready/fill/tail are inferred.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Complete force-decode equations</a:t>
            </a:r>
          </a:p>
        </p:txBody>
      </p:sp>
      <p:pic>
        <p:nvPicPr>
          <p:cNvPr id="4" name="figure" descr="lane_a_equ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781" y="2484882"/>
            <a:ext cx="10130436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11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en-US" sz="1950" b="0" i="0" u="none" dirty="0">
                <a:solidFill>
                  <a:srgbClr val="A1A1AA"/>
                </a:solidFill>
                <a:latin typeface="Arial"/>
              </a:rPr>
              <a:t>P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–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Prefix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length,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F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–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Force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decode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length,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q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–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token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position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in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>
                <a:solidFill>
                  <a:srgbClr val="A1A1AA"/>
                </a:solidFill>
                <a:latin typeface="Arial"/>
              </a:rPr>
              <a:t>the</a:t>
            </a:r>
            <a:r>
              <a:rPr lang="zh-CN" altLang="en-US" sz="1950" b="0" i="0" u="none" dirty="0">
                <a:solidFill>
                  <a:srgbClr val="A1A1AA"/>
                </a:solidFill>
                <a:latin typeface="Arial"/>
              </a:rPr>
              <a:t> </a:t>
            </a:r>
            <a:r>
              <a:rPr lang="en-US" altLang="zh-CN" sz="1950" b="0" i="0" u="none" dirty="0" err="1">
                <a:solidFill>
                  <a:srgbClr val="A1A1AA"/>
                </a:solidFill>
                <a:latin typeface="Arial"/>
              </a:rPr>
              <a:t>sequencce</a:t>
            </a:r>
            <a:endParaRPr lang="en-US" sz="1950" b="0" i="0" u="none" dirty="0">
              <a:solidFill>
                <a:srgbClr val="A1A1AA"/>
              </a:solidFill>
              <a:latin typeface="Arial"/>
            </a:endParaRPr>
          </a:p>
          <a:p>
            <a:pPr algn="l">
              <a:lnSpc>
                <a:spcPct val="132000"/>
              </a:lnSpc>
            </a:pPr>
            <a:r>
              <a:rPr sz="1950" b="0" i="0" u="none" dirty="0">
                <a:solidFill>
                  <a:srgbClr val="A1A1AA"/>
                </a:solidFill>
                <a:latin typeface="Arial"/>
              </a:rPr>
              <a:t>The discrete sum and closed form are equivalent. D(P,256) is interpolated between measured prefix anchors; F=1 is not subtracted as a universal offset.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B ·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Decode KV ingress: six raw measurements</a:t>
            </a:r>
          </a:p>
        </p:txBody>
      </p:sp>
      <p:pic>
        <p:nvPicPr>
          <p:cNvPr id="4" name="figure" descr="e5_ingress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99" y="2484882"/>
            <a:ext cx="10451400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RAW — six device-TSC observations on the pdSeparate ingress path, spanning the floor, knee, and byte-dominated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B · PERFORMANCE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Reload = floor + payload term</a:t>
            </a:r>
          </a:p>
        </p:txBody>
      </p:sp>
      <p:pic>
        <p:nvPicPr>
          <p:cNvPr id="4" name="figure" descr="lane_b_reload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299" y="2484882"/>
            <a:ext cx="10451400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I(H) uses piecewise-linear interpolation of the six E5 anchors; the saturated region approaches 3.186 GB/s aggregate.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B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Lane B reload equations</a:t>
            </a:r>
          </a:p>
        </p:txBody>
      </p:sp>
      <p:pic>
        <p:nvPicPr>
          <p:cNvPr id="4" name="figure" descr="lane_b_equ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875" y="2484882"/>
            <a:ext cx="11024249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Delta reload pays I(H); full-context reload pays I(S+H). Both then force-decode Lnew using the Lane A model at absolute prefix S+H.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LANE A VS LANE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The measured flip and the projected crossing</a:t>
            </a:r>
          </a:p>
        </p:txBody>
      </p:sp>
      <p:pic>
        <p:nvPicPr>
          <p:cNvPr id="4" name="figure" descr="lane_ab_cro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48" y="2484882"/>
            <a:ext cx="9865302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Left: E10D offset-controlled totals. Right: E14+E5 observed-span projection gives H*=744 (S=256, Lnew=256, delta reload); compare winner/crossing, not absolute y-values.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E12A · SCREENING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Two resident-prefix prefill cases at total context 8,192</a:t>
            </a:r>
          </a:p>
        </p:txBody>
      </p:sp>
      <p:pic>
        <p:nvPicPr>
          <p:cNvPr id="4" name="figure" descr="e12a_scre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833" y="2484882"/>
            <a:ext cx="10414332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Lane B: full-KV reload = 338.266 ms in both cases; forced delta and common free-decode excluded.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WHAT THE EVIDENCE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A conditional policy, with explicit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5734385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3961" y="2484882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EVIDENCE STRENGTH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0331" y="2484882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SCOPE / CAVEAT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295122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188970"/>
            <a:ext cx="573438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Ingress has a ~46 ms floor</a:t>
            </a:r>
          </a:p>
        </p:txBody>
      </p:sp>
      <p:sp>
        <p:nvSpPr>
          <p:cNvPr id="9" name="rule"/>
          <p:cNvSpPr/>
          <p:nvPr/>
        </p:nvSpPr>
        <p:spPr>
          <a:xfrm>
            <a:off x="6913961" y="295122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13961" y="3188970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Direct measured</a:t>
            </a:r>
          </a:p>
        </p:txBody>
      </p:sp>
      <p:sp>
        <p:nvSpPr>
          <p:cNvPr id="11" name="rule"/>
          <p:cNvSpPr/>
          <p:nvPr/>
        </p:nvSpPr>
        <p:spPr>
          <a:xfrm>
            <a:off x="10610331" y="295122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10331" y="3188970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pdSeparate decode ingress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377418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4011930"/>
            <a:ext cx="573438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Forced steady cost grows with position</a:t>
            </a:r>
          </a:p>
        </p:txBody>
      </p:sp>
      <p:sp>
        <p:nvSpPr>
          <p:cNvPr id="15" name="rule"/>
          <p:cNvSpPr/>
          <p:nvPr/>
        </p:nvSpPr>
        <p:spPr>
          <a:xfrm>
            <a:off x="6913961" y="377418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3961" y="4011930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Measured + fit</a:t>
            </a:r>
          </a:p>
        </p:txBody>
      </p:sp>
      <p:sp>
        <p:nvSpPr>
          <p:cNvPr id="17" name="rule"/>
          <p:cNvSpPr/>
          <p:nvPr/>
        </p:nvSpPr>
        <p:spPr>
          <a:xfrm>
            <a:off x="10610331" y="377418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10331" y="4011930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16 E14 steady segments</a:t>
            </a:r>
          </a:p>
        </p:txBody>
      </p:sp>
      <p:sp>
        <p:nvSpPr>
          <p:cNvPr id="19" name="rule"/>
          <p:cNvSpPr/>
          <p:nvPr/>
        </p:nvSpPr>
        <p:spPr>
          <a:xfrm>
            <a:off x="987552" y="459714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834890"/>
            <a:ext cx="573438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A/B winner flips at 512→1024</a:t>
            </a:r>
          </a:p>
        </p:txBody>
      </p:sp>
      <p:sp>
        <p:nvSpPr>
          <p:cNvPr id="21" name="rule"/>
          <p:cNvSpPr/>
          <p:nvPr/>
        </p:nvSpPr>
        <p:spPr>
          <a:xfrm>
            <a:off x="6913961" y="459714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3961" y="4834890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Direct measured</a:t>
            </a:r>
          </a:p>
        </p:txBody>
      </p:sp>
      <p:sp>
        <p:nvSpPr>
          <p:cNvPr id="23" name="rule"/>
          <p:cNvSpPr/>
          <p:nvPr/>
        </p:nvSpPr>
        <p:spPr>
          <a:xfrm>
            <a:off x="10610331" y="459714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10331" y="4834890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Lnew=256 resume setting</a:t>
            </a:r>
          </a:p>
        </p:txBody>
      </p:sp>
      <p:sp>
        <p:nvSpPr>
          <p:cNvPr id="25" name="rule"/>
          <p:cNvSpPr/>
          <p:nvPr/>
        </p:nvSpPr>
        <p:spPr>
          <a:xfrm>
            <a:off x="987552" y="542010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5657850"/>
            <a:ext cx="573438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Crossing moves with S and reload policy</a:t>
            </a:r>
          </a:p>
        </p:txBody>
      </p:sp>
      <p:sp>
        <p:nvSpPr>
          <p:cNvPr id="27" name="rule"/>
          <p:cNvSpPr/>
          <p:nvPr/>
        </p:nvSpPr>
        <p:spPr>
          <a:xfrm>
            <a:off x="6913961" y="542010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13961" y="5657850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Model-derived</a:t>
            </a:r>
          </a:p>
        </p:txBody>
      </p:sp>
      <p:sp>
        <p:nvSpPr>
          <p:cNvPr id="29" name="rule"/>
          <p:cNvSpPr/>
          <p:nvPr/>
        </p:nvSpPr>
        <p:spPr>
          <a:xfrm>
            <a:off x="10610331" y="542010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10331" y="5657850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Direct witnesses pending</a:t>
            </a:r>
          </a:p>
        </p:txBody>
      </p:sp>
      <p:sp>
        <p:nvSpPr>
          <p:cNvPr id="31" name="rule"/>
          <p:cNvSpPr/>
          <p:nvPr/>
        </p:nvSpPr>
        <p:spPr>
          <a:xfrm>
            <a:off x="987552" y="624306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6480810"/>
            <a:ext cx="573438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Current Lane C loses</a:t>
            </a:r>
          </a:p>
        </p:txBody>
      </p:sp>
      <p:sp>
        <p:nvSpPr>
          <p:cNvPr id="33" name="rule"/>
          <p:cNvSpPr/>
          <p:nvPr/>
        </p:nvSpPr>
        <p:spPr>
          <a:xfrm>
            <a:off x="6913961" y="624306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13961" y="6480810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Screening</a:t>
            </a:r>
          </a:p>
        </p:txBody>
      </p:sp>
      <p:sp>
        <p:nvSpPr>
          <p:cNvPr id="35" name="rule"/>
          <p:cNvSpPr/>
          <p:nvPr/>
        </p:nvSpPr>
        <p:spPr>
          <a:xfrm>
            <a:off x="10610331" y="624306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10331" y="6480810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S6a path; exact port pending</a:t>
            </a:r>
          </a:p>
        </p:txBody>
      </p:sp>
      <p:sp>
        <p:nvSpPr>
          <p:cNvPr id="37" name="rule"/>
          <p:cNvSpPr/>
          <p:nvPr/>
        </p:nvSpPr>
        <p:spPr>
          <a:xfrm>
            <a:off x="987552" y="7066026"/>
            <a:ext cx="573438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" y="7303770"/>
            <a:ext cx="573438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Full eviction round trip favors B</a:t>
            </a:r>
          </a:p>
        </p:txBody>
      </p:sp>
      <p:sp>
        <p:nvSpPr>
          <p:cNvPr id="39" name="rule"/>
          <p:cNvSpPr/>
          <p:nvPr/>
        </p:nvSpPr>
        <p:spPr>
          <a:xfrm>
            <a:off x="6913961" y="7066026"/>
            <a:ext cx="350434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13961" y="7303770"/>
            <a:ext cx="350434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Unknown</a:t>
            </a:r>
          </a:p>
        </p:txBody>
      </p:sp>
      <p:sp>
        <p:nvSpPr>
          <p:cNvPr id="41" name="rule"/>
          <p:cNvSpPr/>
          <p:nvPr/>
        </p:nvSpPr>
        <p:spPr>
          <a:xfrm>
            <a:off x="10610331" y="7066026"/>
            <a:ext cx="669011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10331" y="7303770"/>
            <a:ext cx="669011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Decode egress E13 missing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NEXT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Only run experiments that can change the decision</a:t>
            </a:r>
          </a:p>
        </p:txBody>
      </p:sp>
      <p:sp>
        <p:nvSpPr>
          <p:cNvPr id="4" name="rule"/>
          <p:cNvSpPr/>
          <p:nvPr/>
        </p:nvSpPr>
        <p:spPr>
          <a:xfrm>
            <a:off x="987552" y="2484882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2740913"/>
            <a:ext cx="209397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E14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04337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Add a same-PE first-Z timestamp; separate readiness from first-token fill.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3316986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573018"/>
            <a:ext cx="209397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E14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36441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Sweep F={1,16,32,64,128,256}, alternate order, and obtain n=2.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149089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405122"/>
            <a:ext cx="209397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E10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68546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Directly witness S=1024 and S=4096 boundary neighborhoods.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4981194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5237226"/>
            <a:ext cx="209397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E12a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00650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Port to exact pdSeparate only if final confirmation is required.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5813298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6069330"/>
            <a:ext cx="209397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E13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032754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Decide whether full eviction round-trip latency is required for the policy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MILESTONE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Finish M2, then resume M1 from S2</a:t>
            </a:r>
          </a:p>
        </p:txBody>
      </p:sp>
      <p:sp>
        <p:nvSpPr>
          <p:cNvPr id="4" name="rule"/>
          <p:cNvSpPr/>
          <p:nvPr/>
        </p:nvSpPr>
        <p:spPr>
          <a:xfrm>
            <a:off x="987552" y="2484882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740913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M2 ·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04337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Reconcile Lane B; close E14/E11 and conditional E13; keep E12 gated.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3316986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573018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M1 · S2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36441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Track per-slot valid_len and verify retention as active slots change.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149089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05122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M1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6854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Implement prefix hits, skip-prefill, LRU replace, miss rebuild, and truncation.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4981194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237226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M1 · S4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00650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Measure requests per bank near the SRAM limit and addressing overhead.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5813298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6069330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M1 · 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032754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Verify full/partial hits, misses, and eviction end to end against the oracle.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1474</Words>
  <Application>Microsoft Macintosh PowerPoint</Application>
  <PresentationFormat>Custom</PresentationFormat>
  <Paragraphs>174</Paragraphs>
  <Slides>16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5</cp:revision>
  <dcterms:created xsi:type="dcterms:W3CDTF">2026-07-20T11:59:30Z</dcterms:created>
  <dcterms:modified xsi:type="dcterms:W3CDTF">2026-08-03T07:31:04Z</dcterms:modified>
</cp:coreProperties>
</file>