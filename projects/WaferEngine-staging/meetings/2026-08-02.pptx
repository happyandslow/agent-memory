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5" d="100"/>
          <a:sy n="85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0791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question is not which lane is universally best. It is which cost dominates under a specific resume state and implementation.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the logical topology used by the measured pdSeparate implementation, not a to-scale wafer map. The cards do not share an on-wafer relay seam: KV crosses through their separate host memories. The layer slices across B0…B7 are 2,4,4,4,4,4,4,2.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PE represents the complete 2×4 kernel fabric from slide 2. Each row uses one prefill card and one decode card with separate host memory. The dashed host-to-host leg in C is assumed zero in the current latency model.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Lane B assumes the history was already persisted. E13, the decode egress half, is not implemented, so this is not yet a round-trip eviction policy.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reported device spans use the 0.85 GHz TSC conversion. Failed EPCC 502 repeats and a run without a downloaded hash-verified evidence bundle are excluded.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large separation at small F is visible before any offset subtraction or regression.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source-level timer starts after a locally-ready west-edge sender emits [N,F], before HT_tail receives first Z. It is not an all-PE readiness barrier. Exact attribution needs a first-Z timestamp.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closed form follows from summing q from P+256 through P+F−1: there are F−256 terms and their sum is (F−256)(2P+F+255)/2.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 not compare this bandwidth directly with E6 prefill egress: E6 performs a transpose and switch-gather in addition to moving bytes.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A/B boundary calculation uses the measured-anchor interpolation, not a single bandwidth number across the whole payload range.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I(h) is piecewise-linear interpolation over the six E5 anchors. E10 validates that the real reload path reproduces E5 and that post-ingress forced-token cost matches E9 to 0.97–1.00 across H=512…8192.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left panel is the E10D offset-controlled direct comparison. The right panel is the newer E14 observed-span model, so the absolute y-values should not be overlaid; the robust shared conclusion is the winner flip and a crossing between the two direct witnesses. Other starting prefixes and full-context reload move the projected boundary.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two resident-prefix compute measurements were byte-identical across cold/warm and warm/warm checks. Exact pdSeparate lacks START_CHUNKS, so this is a validated screening result, not the final pdSeparate benchmark.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safe conclusion is a workload- and implementation-dependent segmented policy, not a universal 700-token rule.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E12b prefill ingress is gated: transport work alone cannot remove the measured S6a compute floor.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ot"/>
          <p:cNvSpPr/>
          <p:nvPr/>
        </p:nvSpPr>
        <p:spPr>
          <a:xfrm>
            <a:off x="987552" y="914400"/>
            <a:ext cx="384048" cy="384048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7048" y="960120"/>
            <a:ext cx="548640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18181B"/>
                </a:solidFill>
                <a:latin typeface="Arial"/>
              </a:rPr>
              <a:t>WaferEngine · CS-3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3355848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6D28D9"/>
                </a:solidFill>
                <a:latin typeface="Arial"/>
              </a:rPr>
              <a:t>M2 STUDY · WEEKLY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4005072"/>
            <a:ext cx="16312896" cy="1110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100" b="1" u="none" i="0">
                <a:solidFill>
                  <a:srgbClr val="18181B"/>
                </a:solidFill>
                <a:latin typeface="Arial"/>
              </a:rPr>
              <a:t>KV Resume on WSE-3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5408676"/>
            <a:ext cx="12344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3000" b="0" u="none" i="0">
                <a:solidFill>
                  <a:srgbClr val="52525B"/>
                </a:solidFill>
                <a:latin typeface="Arial"/>
              </a:rPr>
              <a:t>Measured costs of recompute, reload, and resident-prefix prefill.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8485632"/>
            <a:ext cx="1630375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8796528"/>
            <a:ext cx="224289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9125712"/>
            <a:ext cx="22428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Qwen3-1.7B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451" y="8796528"/>
            <a:ext cx="151393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30451" y="9125712"/>
            <a:ext cx="15139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WSE-3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4390" y="8796528"/>
            <a:ext cx="183615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TSC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4390" y="9125712"/>
            <a:ext cx="18361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0.85 GHz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0542" y="8796528"/>
            <a:ext cx="2734032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0542" y="9125712"/>
            <a:ext cx="27340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Resume latency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EXPERIMENT IMPLEMENTATION · LOGICAL ON-CHIP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Experiment topology: prefill card → hosts → decode card</a:t>
            </a:r>
          </a:p>
        </p:txBody>
      </p:sp>
      <p:pic>
        <p:nvPicPr>
          <p:cNvPr id="4" name="figure" descr="pdseparate_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Each kernel uses a 2×4 serpentine pipeline of 256×256-PE blocks. Prefill gathers KV east into kv_mux and drains north; decode accepts the host KV stream through adaptor + kv_demux and shifts column slices north into the fabric.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THREE RESUME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Three request paths on the same simplified topology</a:t>
            </a:r>
          </a:p>
        </p:txBody>
      </p:sp>
      <p:pic>
        <p:nvPicPr>
          <p:cNvPr id="4" name="figure" descr="three_resume_la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9551" y="2484882"/>
            <a:ext cx="990889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A sends token IDs to decode and rebuilds all KV; B reloads persisted history KV and computes only Lnew; C extends resident KV on prefill, then transfers the completed state through both hosts.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QUESTION AND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Three ways to resume an evicted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8010144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SESSION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87552" y="3051810"/>
            <a:ext cx="8010144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History, delta,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4055363"/>
            <a:ext cx="8010144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52525B"/>
                </a:solidFill>
                <a:latin typeface="Arial"/>
              </a:rPr>
              <a:t>PD separation: prefill and decode each occupy one WSE card with separate host DRAM. Lhist KV is assumed persisted; Lnew has no KV. We time resume only—decode→host eviction and host-to-host latency are excluded.</a:t>
            </a:r>
          </a:p>
        </p:txBody>
      </p:sp>
      <p:sp>
        <p:nvSpPr>
          <p:cNvPr id="7" name="card"/>
          <p:cNvSpPr/>
          <p:nvPr/>
        </p:nvSpPr>
        <p:spPr>
          <a:xfrm>
            <a:off x="9528048" y="2484882"/>
            <a:ext cx="7772400" cy="4251960"/>
          </a:xfrm>
          <a:prstGeom prst="roundRect">
            <a:avLst>
              <a:gd name="adj" fmla="val 6195"/>
            </a:avLst>
          </a:prstGeom>
          <a:solidFill>
            <a:srgbClr val="F4F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0" y="3015234"/>
            <a:ext cx="67116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RESUME LANES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3499865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9608" y="3499865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A — force-decode Lhist + Lnew in decode; no reload</a:t>
            </a:r>
          </a:p>
        </p:txBody>
      </p:sp>
      <p:sp>
        <p:nvSpPr>
          <p:cNvPr id="11" name="rule"/>
          <p:cNvSpPr/>
          <p:nvPr/>
        </p:nvSpPr>
        <p:spPr>
          <a:xfrm>
            <a:off x="10058400" y="4472787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0" y="4652009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9608" y="4652009"/>
            <a:ext cx="61904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B — reload Lhist KV; force-decode only Lnew</a:t>
            </a:r>
          </a:p>
        </p:txBody>
      </p:sp>
      <p:sp>
        <p:nvSpPr>
          <p:cNvPr id="14" name="rule"/>
          <p:cNvSpPr/>
          <p:nvPr/>
        </p:nvSpPr>
        <p:spPr>
          <a:xfrm>
            <a:off x="10058400" y="5222595"/>
            <a:ext cx="671169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0" y="5401818"/>
            <a:ext cx="5486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1" u="none" i="0">
                <a:solidFill>
                  <a:srgbClr val="6D28D9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9608" y="5401818"/>
            <a:ext cx="61904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C — prefill Lnew over resident Lhist; transfer the completed KV state to decode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IMPLEMENTATIONS AND MEASUREMENT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experiments do not all exercise the same kernel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2331381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10957" y="2484882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KERNEL /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48589" y="2484882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SWEEP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29107" y="2484882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QUALIFICATION</a:t>
            </a:r>
          </a:p>
        </p:txBody>
      </p:sp>
      <p:sp>
        <p:nvSpPr>
          <p:cNvPr id="8" name="rule"/>
          <p:cNvSpPr/>
          <p:nvPr/>
        </p:nvSpPr>
        <p:spPr>
          <a:xfrm>
            <a:off x="987552" y="29512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188970"/>
            <a:ext cx="233138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E5</a:t>
            </a:r>
          </a:p>
        </p:txBody>
      </p:sp>
      <p:sp>
        <p:nvSpPr>
          <p:cNvPr id="10" name="rule"/>
          <p:cNvSpPr/>
          <p:nvPr/>
        </p:nvSpPr>
        <p:spPr>
          <a:xfrm>
            <a:off x="3510957" y="29512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0957" y="3188970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pdSeparate decode KV ingress adaptor/injector</a:t>
            </a:r>
          </a:p>
        </p:txBody>
      </p:sp>
      <p:sp>
        <p:nvSpPr>
          <p:cNvPr id="12" name="rule"/>
          <p:cNvSpPr/>
          <p:nvPr/>
        </p:nvSpPr>
        <p:spPr>
          <a:xfrm>
            <a:off x="8948589" y="29512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48589" y="3188970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P=256…8192</a:t>
            </a:r>
          </a:p>
        </p:txBody>
      </p:sp>
      <p:sp>
        <p:nvSpPr>
          <p:cNvPr id="14" name="rule"/>
          <p:cNvSpPr/>
          <p:nvPr/>
        </p:nvSpPr>
        <p:spPr>
          <a:xfrm>
            <a:off x="12929107" y="29512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29107" y="3188970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377418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4011930"/>
            <a:ext cx="233138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E9</a:t>
            </a:r>
          </a:p>
        </p:txBody>
      </p:sp>
      <p:sp>
        <p:nvSpPr>
          <p:cNvPr id="18" name="rule"/>
          <p:cNvSpPr/>
          <p:nvPr/>
        </p:nvSpPr>
        <p:spPr>
          <a:xfrm>
            <a:off x="3510957" y="377418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0957" y="4011930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2×4 force-decode pipeline; 28 layers</a:t>
            </a:r>
          </a:p>
        </p:txBody>
      </p:sp>
      <p:sp>
        <p:nvSpPr>
          <p:cNvPr id="20" name="rule"/>
          <p:cNvSpPr/>
          <p:nvPr/>
        </p:nvSpPr>
        <p:spPr>
          <a:xfrm>
            <a:off x="8948589" y="377418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48589" y="4011930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P=256; F=1…20224</a:t>
            </a:r>
          </a:p>
        </p:txBody>
      </p:sp>
      <p:sp>
        <p:nvSpPr>
          <p:cNvPr id="22" name="rule"/>
          <p:cNvSpPr/>
          <p:nvPr/>
        </p:nvSpPr>
        <p:spPr>
          <a:xfrm>
            <a:off x="12929107" y="377418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29107" y="4011930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Direct device TSC</a:t>
            </a:r>
          </a:p>
        </p:txBody>
      </p:sp>
      <p:sp>
        <p:nvSpPr>
          <p:cNvPr id="24" name="rule"/>
          <p:cNvSpPr/>
          <p:nvPr/>
        </p:nvSpPr>
        <p:spPr>
          <a:xfrm>
            <a:off x="987552" y="459714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4834890"/>
            <a:ext cx="233138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E14</a:t>
            </a:r>
          </a:p>
        </p:txBody>
      </p:sp>
      <p:sp>
        <p:nvSpPr>
          <p:cNvPr id="26" name="rule"/>
          <p:cNvSpPr/>
          <p:nvPr/>
        </p:nvSpPr>
        <p:spPr>
          <a:xfrm>
            <a:off x="3510957" y="459714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0957" y="4834890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Same force-decode model config</a:t>
            </a:r>
          </a:p>
        </p:txBody>
      </p:sp>
      <p:sp>
        <p:nvSpPr>
          <p:cNvPr id="28" name="rule"/>
          <p:cNvSpPr/>
          <p:nvPr/>
        </p:nvSpPr>
        <p:spPr>
          <a:xfrm>
            <a:off x="8948589" y="459714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48589" y="4834890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4 prefixes × 6 F</a:t>
            </a:r>
          </a:p>
        </p:txBody>
      </p:sp>
      <p:sp>
        <p:nvSpPr>
          <p:cNvPr id="30" name="rule"/>
          <p:cNvSpPr/>
          <p:nvPr/>
        </p:nvSpPr>
        <p:spPr>
          <a:xfrm>
            <a:off x="12929107" y="459714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29107" y="4834890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n=1; 24/24 pass</a:t>
            </a:r>
          </a:p>
        </p:txBody>
      </p:sp>
      <p:sp>
        <p:nvSpPr>
          <p:cNvPr id="32" name="rule"/>
          <p:cNvSpPr/>
          <p:nvPr/>
        </p:nvSpPr>
        <p:spPr>
          <a:xfrm>
            <a:off x="987552" y="542010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" y="5657850"/>
            <a:ext cx="233138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E10/D</a:t>
            </a:r>
          </a:p>
        </p:txBody>
      </p:sp>
      <p:sp>
        <p:nvSpPr>
          <p:cNvPr id="34" name="rule"/>
          <p:cNvSpPr/>
          <p:nvPr/>
        </p:nvSpPr>
        <p:spPr>
          <a:xfrm>
            <a:off x="3510957" y="542010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10957" y="5657850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Reload path + post-ingress force decode</a:t>
            </a:r>
          </a:p>
        </p:txBody>
      </p:sp>
      <p:sp>
        <p:nvSpPr>
          <p:cNvPr id="36" name="rule"/>
          <p:cNvSpPr/>
          <p:nvPr/>
        </p:nvSpPr>
        <p:spPr>
          <a:xfrm>
            <a:off x="8948589" y="542010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48589" y="5657850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H=512…8192</a:t>
            </a:r>
          </a:p>
        </p:txBody>
      </p:sp>
      <p:sp>
        <p:nvSpPr>
          <p:cNvPr id="38" name="rule"/>
          <p:cNvSpPr/>
          <p:nvPr/>
        </p:nvSpPr>
        <p:spPr>
          <a:xfrm>
            <a:off x="12929107" y="542010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29107" y="5657850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Two direct totals</a:t>
            </a:r>
          </a:p>
        </p:txBody>
      </p:sp>
      <p:sp>
        <p:nvSpPr>
          <p:cNvPr id="40" name="rule"/>
          <p:cNvSpPr/>
          <p:nvPr/>
        </p:nvSpPr>
        <p:spPr>
          <a:xfrm>
            <a:off x="987552" y="624306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80810"/>
            <a:ext cx="233138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E12a</a:t>
            </a:r>
          </a:p>
        </p:txBody>
      </p:sp>
      <p:sp>
        <p:nvSpPr>
          <p:cNvPr id="42" name="rule"/>
          <p:cNvSpPr/>
          <p:nvPr/>
        </p:nvSpPr>
        <p:spPr>
          <a:xfrm>
            <a:off x="3510957" y="624306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10957" y="6480810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S6a resident-prefix prefill, e0a19fc</a:t>
            </a:r>
          </a:p>
        </p:txBody>
      </p:sp>
      <p:sp>
        <p:nvSpPr>
          <p:cNvPr id="44" name="rule"/>
          <p:cNvSpPr/>
          <p:nvPr/>
        </p:nvSpPr>
        <p:spPr>
          <a:xfrm>
            <a:off x="8948589" y="624306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48589" y="6480810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Two 8192-context cases</a:t>
            </a:r>
          </a:p>
        </p:txBody>
      </p:sp>
      <p:sp>
        <p:nvSpPr>
          <p:cNvPr id="46" name="rule"/>
          <p:cNvSpPr/>
          <p:nvPr/>
        </p:nvSpPr>
        <p:spPr>
          <a:xfrm>
            <a:off x="12929107" y="624306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29107" y="6480810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Screening; not exact pdSeparate</a:t>
            </a:r>
          </a:p>
        </p:txBody>
      </p:sp>
      <p:sp>
        <p:nvSpPr>
          <p:cNvPr id="48" name="rule"/>
          <p:cNvSpPr/>
          <p:nvPr/>
        </p:nvSpPr>
        <p:spPr>
          <a:xfrm>
            <a:off x="987552" y="7066026"/>
            <a:ext cx="2331381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87552" y="7303770"/>
            <a:ext cx="233138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E6</a:t>
            </a:r>
          </a:p>
        </p:txBody>
      </p:sp>
      <p:sp>
        <p:nvSpPr>
          <p:cNvPr id="50" name="rule"/>
          <p:cNvSpPr/>
          <p:nvPr/>
        </p:nvSpPr>
        <p:spPr>
          <a:xfrm>
            <a:off x="3510957" y="7066026"/>
            <a:ext cx="524560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10957" y="7303770"/>
            <a:ext cx="5245608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Prefill transpose + switch-gather egress</a:t>
            </a:r>
          </a:p>
        </p:txBody>
      </p:sp>
      <p:sp>
        <p:nvSpPr>
          <p:cNvPr id="52" name="rule"/>
          <p:cNvSpPr/>
          <p:nvPr/>
        </p:nvSpPr>
        <p:spPr>
          <a:xfrm>
            <a:off x="8948589" y="7066026"/>
            <a:ext cx="3788494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48589" y="7303770"/>
            <a:ext cx="3788494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1…32 chunks</a:t>
            </a:r>
          </a:p>
        </p:txBody>
      </p:sp>
      <p:sp>
        <p:nvSpPr>
          <p:cNvPr id="54" name="rule"/>
          <p:cNvSpPr/>
          <p:nvPr/>
        </p:nvSpPr>
        <p:spPr>
          <a:xfrm>
            <a:off x="12929107" y="7066026"/>
            <a:ext cx="4371340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929107" y="7303770"/>
            <a:ext cx="4371340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Not inverse-equivalent to E5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A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All 24 force-decode spans across prefix × forced length</a:t>
            </a:r>
          </a:p>
        </p:txBody>
      </p:sp>
      <p:pic>
        <p:nvPicPr>
          <p:cNvPr id="4" name="figure" descr="e14_raw_sp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RAW — P={256,1024,4096,8192}, F={1,256,512,1024,2048,4096}; real Qwen3-1.7B on WSE-3, n=1.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A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Startup anchor + position-dependent intervals</a:t>
            </a:r>
          </a:p>
        </p:txBody>
      </p:sp>
      <p:pic>
        <p:nvPicPr>
          <p:cNvPr id="4" name="figure" descr="e14_mode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757" y="2484882"/>
            <a:ext cx="10466485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D(P,F)=D(P,256)+Σ II(q), where 16 steady segments give II(q)=71.745 µs+4.093 ns·q. Ready/fill/tail are inferred.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Complete force-decode equations</a:t>
            </a:r>
          </a:p>
        </p:txBody>
      </p:sp>
      <p:pic>
        <p:nvPicPr>
          <p:cNvPr id="4" name="figure" descr="lane_a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781" y="2484882"/>
            <a:ext cx="10130436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The discrete sum and closed form are equivalent. D(P,256) is interpolated between measured prefix anchors; F=1 is not subtracted as a universal offset.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B ·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Decode KV ingress: six raw measurements</a:t>
            </a:r>
          </a:p>
        </p:txBody>
      </p:sp>
      <p:pic>
        <p:nvPicPr>
          <p:cNvPr id="4" name="figure" descr="e5_ingress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RAW — six device-TSC observations on the pdSeparate ingress path, spanning the floor, knee, and byte-dominated region.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B · PERFORMANCE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Reload = floor + payload term</a:t>
            </a:r>
          </a:p>
        </p:txBody>
      </p:sp>
      <p:pic>
        <p:nvPicPr>
          <p:cNvPr id="4" name="figure" descr="lane_b_reload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299" y="2484882"/>
            <a:ext cx="10451400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I(H) uses piecewise-linear interpolation of the six E5 anchors; the saturated region approaches 3.186 GB/s aggregate.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B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Lane B reload equations</a:t>
            </a:r>
          </a:p>
        </p:txBody>
      </p:sp>
      <p:pic>
        <p:nvPicPr>
          <p:cNvPr id="4" name="figure" descr="lane_b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1875" y="2484882"/>
            <a:ext cx="11024249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Delta reload pays I(H); full-context reload pays I(S+H). Both then force-decode Lnew using the Lane A model at absolute prefix S+H.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LANE A VS LANE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The measured flip and the projected crossing</a:t>
            </a:r>
          </a:p>
        </p:txBody>
      </p:sp>
      <p:pic>
        <p:nvPicPr>
          <p:cNvPr id="4" name="figure" descr="lane_ab_cro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1348" y="2484882"/>
            <a:ext cx="9865302" cy="49446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7703820"/>
            <a:ext cx="16312896" cy="6537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Left: E10D offset-controlled totals. Right: E14+E5 observed-span projection gives H*=744 (S=256, Lnew=256, delta reload); compare winner/crossing, not absolute y-values.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E12A · SCREENING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Two resident-prefix prefill cases at total context 8,192</a:t>
            </a:r>
          </a:p>
        </p:txBody>
      </p:sp>
      <p:pic>
        <p:nvPicPr>
          <p:cNvPr id="4" name="figure" descr="e12a_scree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833" y="2484882"/>
            <a:ext cx="10414332" cy="52715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7552" y="8030718"/>
            <a:ext cx="1631289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MEASURED + DERIVED — direct S6a prefill compute at total context 8,192; forced and lane totals combine E9/E5/E6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WHAT THE EVIDENCE SUPPORTS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A conditional policy, with explicit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87552" y="2484882"/>
            <a:ext cx="5734385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13961" y="2484882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EVIDENCE STRENGTH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10331" y="2484882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 spc="150">
                <a:solidFill>
                  <a:srgbClr val="A1A1AA"/>
                </a:solidFill>
                <a:latin typeface="Arial"/>
              </a:rPr>
              <a:t>SCOPE / CAVEAT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29512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188970"/>
            <a:ext cx="573438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Ingress has a ~46 ms floor</a:t>
            </a:r>
          </a:p>
        </p:txBody>
      </p:sp>
      <p:sp>
        <p:nvSpPr>
          <p:cNvPr id="9" name="rule"/>
          <p:cNvSpPr/>
          <p:nvPr/>
        </p:nvSpPr>
        <p:spPr>
          <a:xfrm>
            <a:off x="6913961" y="29512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13961" y="3188970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11" name="rule"/>
          <p:cNvSpPr/>
          <p:nvPr/>
        </p:nvSpPr>
        <p:spPr>
          <a:xfrm>
            <a:off x="10610331" y="29512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10331" y="3188970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pdSeparate decode ingress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377418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011930"/>
            <a:ext cx="573438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Forced steady cost grows with position</a:t>
            </a:r>
          </a:p>
        </p:txBody>
      </p:sp>
      <p:sp>
        <p:nvSpPr>
          <p:cNvPr id="15" name="rule"/>
          <p:cNvSpPr/>
          <p:nvPr/>
        </p:nvSpPr>
        <p:spPr>
          <a:xfrm>
            <a:off x="6913961" y="377418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13961" y="4011930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Measured + fit</a:t>
            </a:r>
          </a:p>
        </p:txBody>
      </p:sp>
      <p:sp>
        <p:nvSpPr>
          <p:cNvPr id="17" name="rule"/>
          <p:cNvSpPr/>
          <p:nvPr/>
        </p:nvSpPr>
        <p:spPr>
          <a:xfrm>
            <a:off x="10610331" y="377418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10331" y="4011930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16 E14 steady segments</a:t>
            </a:r>
          </a:p>
        </p:txBody>
      </p:sp>
      <p:sp>
        <p:nvSpPr>
          <p:cNvPr id="19" name="rule"/>
          <p:cNvSpPr/>
          <p:nvPr/>
        </p:nvSpPr>
        <p:spPr>
          <a:xfrm>
            <a:off x="987552" y="459714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834890"/>
            <a:ext cx="573438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A/B winner flips at 512→1024</a:t>
            </a:r>
          </a:p>
        </p:txBody>
      </p:sp>
      <p:sp>
        <p:nvSpPr>
          <p:cNvPr id="21" name="rule"/>
          <p:cNvSpPr/>
          <p:nvPr/>
        </p:nvSpPr>
        <p:spPr>
          <a:xfrm>
            <a:off x="6913961" y="459714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13961" y="4834890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Direct measured</a:t>
            </a:r>
          </a:p>
        </p:txBody>
      </p:sp>
      <p:sp>
        <p:nvSpPr>
          <p:cNvPr id="23" name="rule"/>
          <p:cNvSpPr/>
          <p:nvPr/>
        </p:nvSpPr>
        <p:spPr>
          <a:xfrm>
            <a:off x="10610331" y="459714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10331" y="4834890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Lnew=256 resume setting</a:t>
            </a:r>
          </a:p>
        </p:txBody>
      </p:sp>
      <p:sp>
        <p:nvSpPr>
          <p:cNvPr id="25" name="rule"/>
          <p:cNvSpPr/>
          <p:nvPr/>
        </p:nvSpPr>
        <p:spPr>
          <a:xfrm>
            <a:off x="987552" y="542010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552" y="5657850"/>
            <a:ext cx="573438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Crossing moves with S and reload policy</a:t>
            </a:r>
          </a:p>
        </p:txBody>
      </p:sp>
      <p:sp>
        <p:nvSpPr>
          <p:cNvPr id="27" name="rule"/>
          <p:cNvSpPr/>
          <p:nvPr/>
        </p:nvSpPr>
        <p:spPr>
          <a:xfrm>
            <a:off x="6913961" y="542010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13961" y="5657850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Model-derived</a:t>
            </a:r>
          </a:p>
        </p:txBody>
      </p:sp>
      <p:sp>
        <p:nvSpPr>
          <p:cNvPr id="29" name="rule"/>
          <p:cNvSpPr/>
          <p:nvPr/>
        </p:nvSpPr>
        <p:spPr>
          <a:xfrm>
            <a:off x="10610331" y="542010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10331" y="5657850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Direct witnesses pending</a:t>
            </a:r>
          </a:p>
        </p:txBody>
      </p:sp>
      <p:sp>
        <p:nvSpPr>
          <p:cNvPr id="31" name="rule"/>
          <p:cNvSpPr/>
          <p:nvPr/>
        </p:nvSpPr>
        <p:spPr>
          <a:xfrm>
            <a:off x="987552" y="624306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6480810"/>
            <a:ext cx="573438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Current Lane C loses</a:t>
            </a:r>
          </a:p>
        </p:txBody>
      </p:sp>
      <p:sp>
        <p:nvSpPr>
          <p:cNvPr id="33" name="rule"/>
          <p:cNvSpPr/>
          <p:nvPr/>
        </p:nvSpPr>
        <p:spPr>
          <a:xfrm>
            <a:off x="6913961" y="624306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13961" y="6480810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Screening</a:t>
            </a:r>
          </a:p>
        </p:txBody>
      </p:sp>
      <p:sp>
        <p:nvSpPr>
          <p:cNvPr id="35" name="rule"/>
          <p:cNvSpPr/>
          <p:nvPr/>
        </p:nvSpPr>
        <p:spPr>
          <a:xfrm>
            <a:off x="10610331" y="624306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10331" y="6480810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S6a path; exact port pending</a:t>
            </a:r>
          </a:p>
        </p:txBody>
      </p:sp>
      <p:sp>
        <p:nvSpPr>
          <p:cNvPr id="37" name="rule"/>
          <p:cNvSpPr/>
          <p:nvPr/>
        </p:nvSpPr>
        <p:spPr>
          <a:xfrm>
            <a:off x="987552" y="7066026"/>
            <a:ext cx="5734385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7552" y="7303770"/>
            <a:ext cx="5734385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Full eviction round trip favors B</a:t>
            </a:r>
          </a:p>
        </p:txBody>
      </p:sp>
      <p:sp>
        <p:nvSpPr>
          <p:cNvPr id="39" name="rule"/>
          <p:cNvSpPr/>
          <p:nvPr/>
        </p:nvSpPr>
        <p:spPr>
          <a:xfrm>
            <a:off x="6913961" y="7066026"/>
            <a:ext cx="350434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13961" y="7303770"/>
            <a:ext cx="350434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Unknown</a:t>
            </a:r>
          </a:p>
        </p:txBody>
      </p:sp>
      <p:sp>
        <p:nvSpPr>
          <p:cNvPr id="41" name="rule"/>
          <p:cNvSpPr/>
          <p:nvPr/>
        </p:nvSpPr>
        <p:spPr>
          <a:xfrm>
            <a:off x="10610331" y="7066026"/>
            <a:ext cx="6690116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610331" y="7303770"/>
            <a:ext cx="669011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52525B"/>
                </a:solidFill>
                <a:latin typeface="Arial"/>
              </a:rPr>
              <a:t>Decode egress E13 missing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87552" y="914400"/>
            <a:ext cx="16312896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u="none" i="0" spc="150">
                <a:solidFill>
                  <a:srgbClr val="A1A1AA"/>
                </a:solidFill>
                <a:latin typeface="Arial"/>
              </a:rPr>
              <a:t>NEXT 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87552" y="1371600"/>
            <a:ext cx="16312896" cy="6743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500" b="0" u="none" i="0">
                <a:solidFill>
                  <a:srgbClr val="18181B"/>
                </a:solidFill>
                <a:latin typeface="Arial"/>
              </a:rPr>
              <a:t>Only run experiments that can change the decision</a:t>
            </a:r>
          </a:p>
        </p:txBody>
      </p:sp>
      <p:sp>
        <p:nvSpPr>
          <p:cNvPr id="4" name="rule"/>
          <p:cNvSpPr/>
          <p:nvPr/>
        </p:nvSpPr>
        <p:spPr>
          <a:xfrm>
            <a:off x="987552" y="2484882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2740913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704337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Add a same-PE first-Z timestamp; separate readiness from first-token fill.</a:t>
            </a:r>
          </a:p>
        </p:txBody>
      </p:sp>
      <p:sp>
        <p:nvSpPr>
          <p:cNvPr id="7" name="rule"/>
          <p:cNvSpPr/>
          <p:nvPr/>
        </p:nvSpPr>
        <p:spPr>
          <a:xfrm>
            <a:off x="987552" y="3316986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573018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3536441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Sweep F={1,16,32,64,128,256}, alternate order, and obtain n=2.</a:t>
            </a:r>
          </a:p>
        </p:txBody>
      </p:sp>
      <p:sp>
        <p:nvSpPr>
          <p:cNvPr id="10" name="rule"/>
          <p:cNvSpPr/>
          <p:nvPr/>
        </p:nvSpPr>
        <p:spPr>
          <a:xfrm>
            <a:off x="987552" y="4149089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405122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368546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Directly witness S=1024 and S=4096 boundary neighborhoods.</a:t>
            </a:r>
          </a:p>
        </p:txBody>
      </p:sp>
      <p:sp>
        <p:nvSpPr>
          <p:cNvPr id="13" name="rule"/>
          <p:cNvSpPr/>
          <p:nvPr/>
        </p:nvSpPr>
        <p:spPr>
          <a:xfrm>
            <a:off x="987552" y="4981194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37226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E12a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200650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Port to exact pdSeparate only if final confirmation is required.</a:t>
            </a:r>
          </a:p>
        </p:txBody>
      </p:sp>
      <p:sp>
        <p:nvSpPr>
          <p:cNvPr id="16" name="rule"/>
          <p:cNvSpPr/>
          <p:nvPr/>
        </p:nvSpPr>
        <p:spPr>
          <a:xfrm>
            <a:off x="987552" y="5813298"/>
            <a:ext cx="14282928" cy="10972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6069330"/>
            <a:ext cx="2093976" cy="32689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950" b="0" u="none" i="0">
                <a:solidFill>
                  <a:srgbClr val="A1A1AA"/>
                </a:solidFill>
                <a:latin typeface="Arial"/>
              </a:rPr>
              <a:t>E13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6032754"/>
            <a:ext cx="10972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400" b="0" u="none" i="0">
                <a:solidFill>
                  <a:srgbClr val="18181B"/>
                </a:solidFill>
                <a:latin typeface="Arial"/>
              </a:rPr>
              <a:t>Decide whether full eviction round-trip latency is required for the policy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798</Words>
  <Application>Microsoft Macintosh PowerPoint</Application>
  <PresentationFormat>Custom</PresentationFormat>
  <Paragraphs>166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5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 Xu</cp:lastModifiedBy>
  <cp:revision>2</cp:revision>
  <dcterms:created xsi:type="dcterms:W3CDTF">2026-07-20T11:59:30Z</dcterms:created>
  <dcterms:modified xsi:type="dcterms:W3CDTF">2026-07-20T11:59:59Z</dcterms:modified>
</cp:coreProperties>
</file>