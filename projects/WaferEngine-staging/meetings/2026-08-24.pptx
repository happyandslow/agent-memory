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079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week closes the M3 multi-row storage question with device data: both candidate designs (v4 GO-chain, v5 cascade) ran on real CS-3, both are modeled to &lt;1%, and the combined result upgrades the M2 resume tradeoff from a two-way A/B to a three-tier hierarchy.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Position: M1 in-PE reuse is done (tier 0). M2 priced recompute (A, 77.4 us/token) vs host reload (B, E5 ingress 46-338 ms) and found the crossing at 744 tokens. M3 (idle-PE tier) needs multi-row storage because one storage PE holds ~11K words: L=1024 already needs R=2 rows, L=8192 needs ~12. The single-row protocol was device-proven earlier (51 runs); the open question was HOW to coordinate R rows — and at what cost.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v4 needed direct switch-position byte writes (the tile_config library writes the wrong tx bit for RAMP - register-dump proven; byte = in_sel&lt;&lt;5|out_bits, S-&gt;RAMP=0x50). First-ever v4 silicon this week: GO chain, role reprogramming, and the byte writes all work at 256 PEs. v5's compute column is cmp-verified byte-identical to the single-row demo; every strip route is static so cross-color ordering hazards are impossible by construction. Editable source: docs/diagrams/m3-multirow-v4-vs-v5.excalidraw.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EPCC CS-3, distance=1, n=3 per cell, zero infrastructure failures across 81 runs; every cell reproduced to the cycle. Visible payload labels replace benchmark notation: with compute-column height N=256 and lpb=4, E=64 u32 words/compute PE maps to 1,024 KV tokens and E=512 maps to 8,192. R is the number of 1×256 storage rows. Capacity is nominal analytical sizing, not compile-fit: 42 KiB/storage PE gives 672 KV-token equivalents per row/block, so R=1/2/4 gives 672/1,344/2,688 tokens. The demo verifies movement rather than retaining the full payload; therefore the 8,192-token rows shown are intentionally capacity-undersized measurements (about 13 rows are needed nominally). v4 metric = sum of per-band spans (excludes inter-epoch GO gaps, ~2*bh cycles each). DSD = owner-side bulk fabin-DSD reload receive. v4 wins every measured R&gt;=2 cell; DSD 8,192-token payload at R=4 is 30% faster than v5.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preregistered hypotheses were productively falsified: H1 (v5 R=1 reproduces v3 anchors) failed at +0.7-2.3% - the cascade's per-word branches do not compile out, so every implementation carries its own baseline. H2 (v4 overhead = per-epoch constant) failed in form - v4's delta is also per-forwarded-word, just router-priced. H3 (linearity in fwd_words) confirmed for E&gt;=64 in both designs. Fitting: taxes from delta-vs-fwd slopes over (R,E) grid; c_fwd_word=75.4 from four independent park-span decompositions; c_relay_word~28.8 from the dsd identity, cross-checked against task mode to 1.6%.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v4 wins every measured R&gt;=2 cell, so this page intentionally removes v3/v5. Model form: C_v4 = C_floor + (E-4)N*C_owner + W_fwd*C_router, W_fwd=(N-N/R)E. C_floor prices launch/control and role setup. C_owner prices the ordinary endpoint path per payload word: 96.00 task / 65.08 owner-DSD. C_router is the incremental multi-row forwarding tax: 1.06 / 1.29 cycles per forwarded word. The topology crop is derived from docs/diagrams/m3-multirow-v4-vs-v5.excalidraw; it shows the sequential GO epoch and router transit row.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measured router-only terms: distance adds t_hop=2.0 cycles per transit hop per direction, so the full-cycle increment is 2(D-1)t_hop; v4 multi-row forwarding adds 1.06/1.29 cycles per forwarded word. CE coefficients are much larger: emit loop 13.0, reload relay about 28.8, park receive 43.3, receive+validate+forward 75.4 cycles/word. The comparison is mechanism-level: t_hop has units cycles/hop and is not plotted beside cycles/word. Pipeline stages combine by the binding maximum, not an unconditional sum. The demo blocks compute at the round boundary, so live concurrent-CE interference remains unmeasured.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Tier reading: T0 in-PE resident (free, scarcest SRAM) / T1 on-chip strip (swap ~ L/692 token-equivalents as-built; capacity R x ~11K words per column, columns parallel) / T2 recompute (only for tiny or un-parked history) / T2 DRAM (capacity overflow; shared edge IO, host in the loop). Caveats stated: delta floor is L_new=256 at 77.4 us/token - smaller L_new shrinks it; throughput view still wants the storage-DSD rung; concurrent-decode interference and round-gap fit are the remaining unmeasured items. Open design: a hybrid (v4 router transit + v5 static compute column) would dominate both at ~1.6 baseline + ~1.1 tax.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directly follows the Aug 11 ragged-execution limitation slide. Current common-start assignment is numerically correct; the open question was whether suppressing redundant lane work would shorten the lockstep batch critical path, or only reduce operation count and improve fairness/energy. Source figure: 2026-08-11 weekly collaborator deck, slide 7.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Exact implemented skip surface: vecmat_computation_f32 avoids Q/K/V/O/up/gate/down GEMV maps; score_matvec_mult skips Q·K cache traversal; output_matvec_mult skips P·V cache aggregation; process_kv preserves resident KV. c1_zero_inactive_x establishes deterministic dummy state and is not saved work. RMSNorm, QK norm, RoPE, softmax, SiLU/SwiGLU, residuals, whole-buffer zero/cast, every collective, route reconfiguration, X/Z transport and head/tail remain active at fixed extent. One global token position remains; this is C1, not C2 independent progress.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Construction-matched manual K0 is the only baseline used here. Mean speedups for K=256/512/768 are -0.0328%, -0.0924%, and -0.0297%; the response is non-monotonic and no break-even appears. A descriptive K=768 Welch sensitivity has an approximate +0.106% speedup upper edge, but serial case blocks make it non-universal. The automatic Experiment-A K0 is 12.2363% faster than this manual construction and must not be mixed into the ratio. Decision boundary: NO-GO for C1-M as a throughput mechanism at this point; operation reduction is real, end-to-end throughput/fairness/energy remain separate or unknown.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recommendation is implied yet. Option A is one bounded profiling gate to explain the fixed floor. Option B targets the final mechanism in which a long-hit request can advance without waiting for another lane's missing prefix, but crosses into C2 and O1 continuous-batching scope. The realistic workload projection remains necessary before either path receives a serving-level gain.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ot"/>
          <p:cNvSpPr/>
          <p:nvPr/>
        </p:nvSpPr>
        <p:spPr>
          <a:xfrm>
            <a:off x="987552" y="914400"/>
            <a:ext cx="384048" cy="38404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7048" y="960120"/>
            <a:ext cx="5486400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18181B"/>
                </a:solidFill>
                <a:latin typeface="Arial"/>
              </a:rPr>
              <a:t>WaferEngine · CS-3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355848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6D28D9"/>
                </a:solidFill>
                <a:latin typeface="Arial"/>
              </a:rPr>
              <a:t>WEEKLY COLLABORATOR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4005072"/>
            <a:ext cx="16312896" cy="2221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0" b="1" u="none" i="0">
                <a:solidFill>
                  <a:srgbClr val="18181B"/>
                </a:solidFill>
                <a:latin typeface="Arial"/>
              </a:rPr>
              <a:t>On-Chip KV Offload as a Storage 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6519672"/>
            <a:ext cx="12344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0" u="none" i="0">
                <a:solidFill>
                  <a:srgbClr val="52525B"/>
                </a:solidFill>
                <a:latin typeface="Arial"/>
              </a:rPr>
              <a:t>Two multi-row storage designs measured on real WSE-3; the on-chip tier now sits under both prior resume options.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8485632"/>
            <a:ext cx="1630375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8796528"/>
            <a:ext cx="3598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9125712"/>
            <a:ext cx="359812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Qwen3-1.7B geometry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680" y="8796528"/>
            <a:ext cx="4495859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5680" y="9125712"/>
            <a:ext cx="44958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81 CS-3 runs, 0-cycle spread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81539" y="8796528"/>
            <a:ext cx="2547401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1539" y="9125712"/>
            <a:ext cx="254740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M3 idle-PE tier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28941" y="8796528"/>
            <a:ext cx="2107763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28941" y="9125712"/>
            <a:ext cx="210776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2026-08-24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GOAL · WHERE WE ARE IN THE 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M2 ended at recompute-vs-host with a 744-token crossing; M3 asks if idle PEs beat both</a:t>
            </a:r>
          </a:p>
        </p:txBody>
      </p:sp>
      <p:pic>
        <p:nvPicPr>
          <p:cNvPr id="4" name="figure" descr="recap_e1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803" y="3159251"/>
            <a:ext cx="5972393" cy="3943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376921"/>
            <a:ext cx="16312896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Last time (M2 E10/E10D, all device-measured): below H*=744 recompute wins, above it host reload wins — but reload rides shared edge IO and the host. M3's question: can idle on-chip PEs hold parked KV as a middle tier? This week: build the multi-row storage strip both candidate ways, measure both end-to-end, and price the tier.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IMPLEMENTATION · TWO COORDINATION DESIGNS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v4 reprograms compute roles per epoch; v5 keeps compute byte-identical and cascades inside the strip</a:t>
            </a:r>
          </a:p>
        </p:txBody>
      </p:sp>
      <p:pic>
        <p:nvPicPr>
          <p:cNvPr id="4" name="figure" descr="v4_vs_v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3436" y="3159251"/>
            <a:ext cx="12221126" cy="3943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376921"/>
            <a:ext cx="16312896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Both share the proven single-row protocol on one borrowed color. v4: bands park in sequential epochs, chained fully on-chip by a GO color; every tapped PE rewrites its switch positions per epoch. v5: row 0 keeps the nearest band and store-and-forwards deeper words on static per-hop colors; a STRIP_TAIL word rides behind the data as the causal end-of-stream. Reload returns over the same paths reversed.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CAPACITY · NOMINAL 42 KIB/STORAGE PE = 672 KV-TOKEN EQUIVALENTS PER 1×256 ROW/BLOCK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Each row adds 672-token capacity; v4 wins every multi-row setting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159251"/>
            <a:ext cx="336103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KV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40613" y="3159251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ROWS · CAPACITY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13805" y="3159251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V3 SINGLE-ROW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6694" y="3159251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V4 GO-CHAIN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99583" y="3159251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V5 CASCADE</a:t>
            </a:r>
          </a:p>
        </p:txBody>
      </p:sp>
      <p:sp>
        <p:nvSpPr>
          <p:cNvPr id="9" name="rule"/>
          <p:cNvSpPr/>
          <p:nvPr/>
        </p:nvSpPr>
        <p:spPr>
          <a:xfrm>
            <a:off x="987552" y="3625596"/>
            <a:ext cx="336103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863339"/>
            <a:ext cx="336103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task · 1,024 tok</a:t>
            </a:r>
          </a:p>
        </p:txBody>
      </p:sp>
      <p:sp>
        <p:nvSpPr>
          <p:cNvPr id="11" name="rule"/>
          <p:cNvSpPr/>
          <p:nvPr/>
        </p:nvSpPr>
        <p:spPr>
          <a:xfrm>
            <a:off x="4540613" y="3625596"/>
            <a:ext cx="378116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0613" y="3863339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 · 672 tok (under)</a:t>
            </a:r>
          </a:p>
        </p:txBody>
      </p:sp>
      <p:sp>
        <p:nvSpPr>
          <p:cNvPr id="13" name="rule"/>
          <p:cNvSpPr/>
          <p:nvPr/>
        </p:nvSpPr>
        <p:spPr>
          <a:xfrm>
            <a:off x="8513805" y="3625596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13805" y="3863339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1,388,470</a:t>
            </a:r>
          </a:p>
        </p:txBody>
      </p:sp>
      <p:sp>
        <p:nvSpPr>
          <p:cNvPr id="15" name="rule"/>
          <p:cNvSpPr/>
          <p:nvPr/>
        </p:nvSpPr>
        <p:spPr>
          <a:xfrm>
            <a:off x="11506694" y="3625596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06694" y="3863339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1,535,920</a:t>
            </a:r>
          </a:p>
        </p:txBody>
      </p:sp>
      <p:sp>
        <p:nvSpPr>
          <p:cNvPr id="17" name="rule"/>
          <p:cNvSpPr/>
          <p:nvPr/>
        </p:nvSpPr>
        <p:spPr>
          <a:xfrm>
            <a:off x="14499583" y="3625596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99583" y="3863339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1,420,244</a:t>
            </a:r>
          </a:p>
        </p:txBody>
      </p:sp>
      <p:sp>
        <p:nvSpPr>
          <p:cNvPr id="19" name="rule"/>
          <p:cNvSpPr/>
          <p:nvPr/>
        </p:nvSpPr>
        <p:spPr>
          <a:xfrm>
            <a:off x="987552" y="4423409"/>
            <a:ext cx="336103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661153"/>
            <a:ext cx="336103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task · 1,024 tok</a:t>
            </a:r>
          </a:p>
        </p:txBody>
      </p:sp>
      <p:sp>
        <p:nvSpPr>
          <p:cNvPr id="21" name="rule"/>
          <p:cNvSpPr/>
          <p:nvPr/>
        </p:nvSpPr>
        <p:spPr>
          <a:xfrm>
            <a:off x="4540613" y="4423409"/>
            <a:ext cx="378116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0613" y="4661153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2 · 1,344 tok (fits)</a:t>
            </a:r>
          </a:p>
        </p:txBody>
      </p:sp>
      <p:sp>
        <p:nvSpPr>
          <p:cNvPr id="23" name="rule"/>
          <p:cNvSpPr/>
          <p:nvPr/>
        </p:nvSpPr>
        <p:spPr>
          <a:xfrm>
            <a:off x="8513805" y="4423409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13805" y="4661153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—</a:t>
            </a:r>
          </a:p>
        </p:txBody>
      </p:sp>
      <p:sp>
        <p:nvSpPr>
          <p:cNvPr id="25" name="rule"/>
          <p:cNvSpPr/>
          <p:nvPr/>
        </p:nvSpPr>
        <p:spPr>
          <a:xfrm>
            <a:off x="11506694" y="4423409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506694" y="4661153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1,544,946</a:t>
            </a:r>
          </a:p>
        </p:txBody>
      </p:sp>
      <p:sp>
        <p:nvSpPr>
          <p:cNvPr id="27" name="rule"/>
          <p:cNvSpPr/>
          <p:nvPr/>
        </p:nvSpPr>
        <p:spPr>
          <a:xfrm>
            <a:off x="14499583" y="4423409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499583" y="4661153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1,675,327</a:t>
            </a:r>
          </a:p>
        </p:txBody>
      </p:sp>
      <p:sp>
        <p:nvSpPr>
          <p:cNvPr id="29" name="rule"/>
          <p:cNvSpPr/>
          <p:nvPr/>
        </p:nvSpPr>
        <p:spPr>
          <a:xfrm>
            <a:off x="987552" y="5221223"/>
            <a:ext cx="336103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5458967"/>
            <a:ext cx="336103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task · 1,024 tok</a:t>
            </a:r>
          </a:p>
        </p:txBody>
      </p:sp>
      <p:sp>
        <p:nvSpPr>
          <p:cNvPr id="31" name="rule"/>
          <p:cNvSpPr/>
          <p:nvPr/>
        </p:nvSpPr>
        <p:spPr>
          <a:xfrm>
            <a:off x="4540613" y="5221223"/>
            <a:ext cx="378116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40613" y="5458967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4 · 2,688 tok (fits)</a:t>
            </a:r>
          </a:p>
        </p:txBody>
      </p:sp>
      <p:sp>
        <p:nvSpPr>
          <p:cNvPr id="33" name="rule"/>
          <p:cNvSpPr/>
          <p:nvPr/>
        </p:nvSpPr>
        <p:spPr>
          <a:xfrm>
            <a:off x="8513805" y="5221223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13805" y="5458967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—</a:t>
            </a:r>
          </a:p>
        </p:txBody>
      </p:sp>
      <p:sp>
        <p:nvSpPr>
          <p:cNvPr id="35" name="rule"/>
          <p:cNvSpPr/>
          <p:nvPr/>
        </p:nvSpPr>
        <p:spPr>
          <a:xfrm>
            <a:off x="11506694" y="5221223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506694" y="5458967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1,550,855</a:t>
            </a:r>
          </a:p>
        </p:txBody>
      </p:sp>
      <p:sp>
        <p:nvSpPr>
          <p:cNvPr id="37" name="rule"/>
          <p:cNvSpPr/>
          <p:nvPr/>
        </p:nvSpPr>
        <p:spPr>
          <a:xfrm>
            <a:off x="14499583" y="5221223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499583" y="5458967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1,812,526</a:t>
            </a:r>
          </a:p>
        </p:txBody>
      </p:sp>
      <p:sp>
        <p:nvSpPr>
          <p:cNvPr id="39" name="rule"/>
          <p:cNvSpPr/>
          <p:nvPr/>
        </p:nvSpPr>
        <p:spPr>
          <a:xfrm>
            <a:off x="987552" y="6019037"/>
            <a:ext cx="336103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56781"/>
            <a:ext cx="336103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DSD · 8,192 tok</a:t>
            </a:r>
          </a:p>
        </p:txBody>
      </p:sp>
      <p:sp>
        <p:nvSpPr>
          <p:cNvPr id="41" name="rule"/>
          <p:cNvSpPr/>
          <p:nvPr/>
        </p:nvSpPr>
        <p:spPr>
          <a:xfrm>
            <a:off x="4540613" y="6019037"/>
            <a:ext cx="378116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40613" y="6256781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 · 672 tok (under)</a:t>
            </a:r>
          </a:p>
        </p:txBody>
      </p:sp>
      <p:sp>
        <p:nvSpPr>
          <p:cNvPr id="43" name="rule"/>
          <p:cNvSpPr/>
          <p:nvPr/>
        </p:nvSpPr>
        <p:spPr>
          <a:xfrm>
            <a:off x="8513805" y="6019037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13805" y="6256781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7,350,234</a:t>
            </a:r>
          </a:p>
        </p:txBody>
      </p:sp>
      <p:sp>
        <p:nvSpPr>
          <p:cNvPr id="45" name="rule"/>
          <p:cNvSpPr/>
          <p:nvPr/>
        </p:nvSpPr>
        <p:spPr>
          <a:xfrm>
            <a:off x="11506694" y="6019037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506694" y="6256781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8,542,434</a:t>
            </a:r>
          </a:p>
        </p:txBody>
      </p:sp>
      <p:sp>
        <p:nvSpPr>
          <p:cNvPr id="47" name="rule"/>
          <p:cNvSpPr/>
          <p:nvPr/>
        </p:nvSpPr>
        <p:spPr>
          <a:xfrm>
            <a:off x="14499583" y="6019037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4499583" y="6256781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7,482,812</a:t>
            </a:r>
          </a:p>
        </p:txBody>
      </p:sp>
      <p:sp>
        <p:nvSpPr>
          <p:cNvPr id="49" name="rule"/>
          <p:cNvSpPr/>
          <p:nvPr/>
        </p:nvSpPr>
        <p:spPr>
          <a:xfrm>
            <a:off x="987552" y="6816851"/>
            <a:ext cx="336103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7552" y="7054595"/>
            <a:ext cx="336103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DSD · 8,192 tok</a:t>
            </a:r>
          </a:p>
        </p:txBody>
      </p:sp>
      <p:sp>
        <p:nvSpPr>
          <p:cNvPr id="51" name="rule"/>
          <p:cNvSpPr/>
          <p:nvPr/>
        </p:nvSpPr>
        <p:spPr>
          <a:xfrm>
            <a:off x="4540613" y="6816851"/>
            <a:ext cx="378116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40613" y="7054595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2 · 1,344 tok (under)</a:t>
            </a:r>
          </a:p>
        </p:txBody>
      </p:sp>
      <p:sp>
        <p:nvSpPr>
          <p:cNvPr id="53" name="rule"/>
          <p:cNvSpPr/>
          <p:nvPr/>
        </p:nvSpPr>
        <p:spPr>
          <a:xfrm>
            <a:off x="8513805" y="6816851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13805" y="7054595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—</a:t>
            </a:r>
          </a:p>
        </p:txBody>
      </p:sp>
      <p:sp>
        <p:nvSpPr>
          <p:cNvPr id="55" name="rule"/>
          <p:cNvSpPr/>
          <p:nvPr/>
        </p:nvSpPr>
        <p:spPr>
          <a:xfrm>
            <a:off x="11506694" y="6816851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506694" y="7054595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8,619,349</a:t>
            </a:r>
          </a:p>
        </p:txBody>
      </p:sp>
      <p:sp>
        <p:nvSpPr>
          <p:cNvPr id="57" name="rule"/>
          <p:cNvSpPr/>
          <p:nvPr/>
        </p:nvSpPr>
        <p:spPr>
          <a:xfrm>
            <a:off x="14499583" y="6816851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499583" y="7054595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10,669,498</a:t>
            </a:r>
          </a:p>
        </p:txBody>
      </p:sp>
      <p:sp>
        <p:nvSpPr>
          <p:cNvPr id="59" name="rule"/>
          <p:cNvSpPr/>
          <p:nvPr/>
        </p:nvSpPr>
        <p:spPr>
          <a:xfrm>
            <a:off x="987552" y="7614665"/>
            <a:ext cx="336103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7552" y="7852409"/>
            <a:ext cx="336103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DSD · 8,192 tok</a:t>
            </a:r>
          </a:p>
        </p:txBody>
      </p:sp>
      <p:sp>
        <p:nvSpPr>
          <p:cNvPr id="61" name="rule"/>
          <p:cNvSpPr/>
          <p:nvPr/>
        </p:nvSpPr>
        <p:spPr>
          <a:xfrm>
            <a:off x="4540613" y="7614665"/>
            <a:ext cx="378116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40613" y="7852409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4 · 2,688 tok (under)</a:t>
            </a:r>
          </a:p>
        </p:txBody>
      </p:sp>
      <p:sp>
        <p:nvSpPr>
          <p:cNvPr id="63" name="rule"/>
          <p:cNvSpPr/>
          <p:nvPr/>
        </p:nvSpPr>
        <p:spPr>
          <a:xfrm>
            <a:off x="8513805" y="7614665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13805" y="7852409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—</a:t>
            </a:r>
          </a:p>
        </p:txBody>
      </p:sp>
      <p:sp>
        <p:nvSpPr>
          <p:cNvPr id="65" name="rule"/>
          <p:cNvSpPr/>
          <p:nvPr/>
        </p:nvSpPr>
        <p:spPr>
          <a:xfrm>
            <a:off x="11506694" y="7614665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506694" y="7852409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8,675,026</a:t>
            </a:r>
          </a:p>
        </p:txBody>
      </p:sp>
      <p:sp>
        <p:nvSpPr>
          <p:cNvPr id="67" name="rule"/>
          <p:cNvSpPr/>
          <p:nvPr/>
        </p:nvSpPr>
        <p:spPr>
          <a:xfrm>
            <a:off x="14499583" y="7614665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499583" y="7852409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12,343,610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MODEL · ONE LAW, TWO COEFFICIENTS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Both designs obey delta = tax x forwarded words — the tax is the mechanism, 25-35x apart</a:t>
            </a:r>
          </a:p>
        </p:txBody>
      </p:sp>
      <p:pic>
        <p:nvPicPr>
          <p:cNvPr id="4" name="figure" descr="fig_samel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059" y="3159251"/>
            <a:ext cx="7377880" cy="3943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376921"/>
            <a:ext cx="16312896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Delta vs each design's own R=1 baseline collapses on the same axis, fwd_words = (N - N/R)·E. v4's tax is router-level transit (1.06/1.29 cyc/word, near wire speed); v5's is a CE data-task per forwarded word (30.7/47.0). The v5 dsd fit needs one extra constant (~157k cycles): strip rows emit their own block before relaying, which fast owners expose.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MODEL · V4 GO-CHAIN, MEASURED WINNER FOR R &gt;=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v4 cost = endpoint baseline + router-only forwarding</a:t>
            </a:r>
          </a:p>
        </p:txBody>
      </p:sp>
      <p:pic>
        <p:nvPicPr>
          <p:cNvPr id="4" name="figure" descr="fig_v4_model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063" y="2484882"/>
            <a:ext cx="12325873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Generic equation first, fitted coefficients second, topology at right. Setting: N=256, E&gt;=64; pairs are task | owner-side bulk-DSD. v4 epoch_sum excludes small inter-epoch GO gaps.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MECHANISM · ROUTER TRANSIT VS CE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The fabric is not binding: CE per-word handling dominates</a:t>
            </a:r>
          </a:p>
        </p:txBody>
      </p:sp>
      <p:pic>
        <p:nvPicPr>
          <p:cNvPr id="4" name="figure" descr="fig_router_vs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667" y="2484882"/>
            <a:ext cx="10556665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Router-only means switch-to-switch transit with no RAMP, IQ/task, CE landing, or local copy/re-emit. It still consumes links and can backpressure; current measurements are isolated, single-lane runs.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SO WHAT · THE TIER HOLDS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The on-chip tier sits under both old options: resume is now delta-dominated</a:t>
            </a:r>
          </a:p>
        </p:txBody>
      </p:sp>
      <p:pic>
        <p:nvPicPr>
          <p:cNvPr id="4" name="figure" descr="tier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9893" y="3159251"/>
            <a:ext cx="7528213" cy="3943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376921"/>
            <a:ext cx="16312896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Same axes and setting as the M2 boundary figure, plus measured tier C: on-chip strip reload adds only 0.06-2.0 ms (13.0 cyc/word), 46-170x below host ingress I(H), flattening resume onto the ~20 ms L_new delta floor. The old 744-token crossing becomes a fallback choice for un-parked history. Next lever for resume latency is the delta/restart path, not the transfer.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WHY THIS OPTIMIZATION · FOLLOW-UP TO AUG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Common-start is correct—but recomputes longer prefix hits</a:t>
            </a:r>
          </a:p>
        </p:txBody>
      </p:sp>
      <p:pic>
        <p:nvPicPr>
          <p:cNvPr id="4" name="figure" descr="last_week_ragged_exec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8970" y="2484882"/>
            <a:ext cx="11370059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Lane A can reuse 768 tokens while Lane B can reuse only 256. The current batch starts both at 256, so Lane A re-executes 512 already-known token positions.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BENCHMARK-ONLY C1-M CHANGE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We skipped lane-sliced compute; the fixed batch floor stayed</a:t>
            </a:r>
          </a:p>
        </p:txBody>
      </p:sp>
      <p:pic>
        <p:nvPicPr>
          <p:cNvPr id="4" name="figure" descr="decode_step_c1_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8208" y="2484881"/>
            <a:ext cx="9371584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Green is predicated while step &lt; Rᵢ − min(R); yellow still executes for the inactive lane; grey remains full-bsz communication or whole-buffer work.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REAL CS-3 RESULT · 20/20 ACCEPTED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37.49% less lane-step work produced no critical-path speedup</a:t>
            </a:r>
          </a:p>
        </p:txBody>
      </p:sp>
      <p:pic>
        <p:nvPicPr>
          <p:cNvPr id="4" name="figure" descr="c1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115" y="2484882"/>
            <a:ext cx="9323769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Full Qwen3-1.7B, bsz=2, S/N/F/G=256/1024/769/255, five repetitions per case, raw TSC cycles. At K=768, mean speedup is −0.0297%.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NEXT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Pin the fixed floor—or move to independent lane progress</a:t>
            </a:r>
          </a:p>
        </p:txBody>
      </p:sp>
      <p:sp>
        <p:nvSpPr>
          <p:cNvPr id="4" name="card"/>
          <p:cNvSpPr/>
          <p:nvPr/>
        </p:nvSpPr>
        <p:spPr>
          <a:xfrm>
            <a:off x="987552" y="2484882"/>
            <a:ext cx="7424927" cy="4636007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rd"/>
          <p:cNvSpPr/>
          <p:nvPr/>
        </p:nvSpPr>
        <p:spPr>
          <a:xfrm>
            <a:off x="987552" y="2484882"/>
            <a:ext cx="7424927" cy="1069848"/>
          </a:xfrm>
          <a:prstGeom prst="roundRect">
            <a:avLst>
              <a:gd name="adj" fmla="val 6195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80744" y="2768346"/>
            <a:ext cx="6638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1" u="none" i="0">
                <a:solidFill>
                  <a:srgbClr val="18181B"/>
                </a:solidFill>
                <a:latin typeface="Arial"/>
              </a:rPr>
              <a:t>A · Profile the C1 fixed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0744" y="3911346"/>
            <a:ext cx="457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A1A1AA"/>
                </a:solidFill>
                <a:latin typeface="Arial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3664" y="3911346"/>
            <a:ext cx="6099047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Time or ablate collectives, whole-buffer ops and transport by phase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4935474"/>
            <a:ext cx="457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A1A1AA"/>
                </a:solidFill>
                <a:latin typeface="Arial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4935474"/>
            <a:ext cx="6099047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Identify the single largest remaining critical-path item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0744" y="5959602"/>
            <a:ext cx="457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A1A1AA"/>
                </a:solidFill>
                <a:latin typeface="Arial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5959602"/>
            <a:ext cx="6099047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Broaden masking only if that removable term can change the &lt;0.1% result</a:t>
            </a:r>
          </a:p>
        </p:txBody>
      </p:sp>
      <p:sp>
        <p:nvSpPr>
          <p:cNvPr id="13" name="card"/>
          <p:cNvSpPr/>
          <p:nvPr/>
        </p:nvSpPr>
        <p:spPr>
          <a:xfrm>
            <a:off x="8796528" y="2484882"/>
            <a:ext cx="7424927" cy="4636007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rd"/>
          <p:cNvSpPr/>
          <p:nvPr/>
        </p:nvSpPr>
        <p:spPr>
          <a:xfrm>
            <a:off x="8796528" y="2484882"/>
            <a:ext cx="7424927" cy="1069848"/>
          </a:xfrm>
          <a:prstGeom prst="roundRect">
            <a:avLst>
              <a:gd name="adj" fmla="val 6195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19" y="2768346"/>
            <a:ext cx="6638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1" u="none" i="0">
                <a:solidFill>
                  <a:srgbClr val="18181B"/>
                </a:solidFill>
                <a:latin typeface="Arial"/>
              </a:rPr>
              <a:t>B · Design C2 / continuous batching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19" y="3911346"/>
            <a:ext cx="457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A1A1AA"/>
                </a:solidFill>
                <a:latin typeface="Arial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3911346"/>
            <a:ext cx="6099047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Independent per-lane start, cursor and completion state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19" y="4935474"/>
            <a:ext cx="457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A1A1AA"/>
                </a:solidFill>
                <a:latin typeface="Arial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4935474"/>
            <a:ext cx="6099047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Price added SRAM, protocol, admission and scheduler complexity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19" y="5959602"/>
            <a:ext cx="457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A1A1AA"/>
                </a:solidFill>
                <a:latin typeface="Arial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5959602"/>
            <a:ext cx="6099047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Only credit gains that survive a serving-like schedule replay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798</Words>
  <Application>Microsoft Macintosh PowerPoint</Application>
  <PresentationFormat>Custom</PresentationFormat>
  <Paragraphs>166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Le Xu</cp:lastModifiedBy>
  <cp:revision>2</cp:revision>
  <dcterms:created xsi:type="dcterms:W3CDTF">2026-07-20T11:59:30Z</dcterms:created>
  <dcterms:modified xsi:type="dcterms:W3CDTF">2026-07-20T11:59:59Z</dcterms:modified>
</cp:coreProperties>
</file>