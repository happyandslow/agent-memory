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9" r:id="rId3"/>
    <p:sldId id="274" r:id="rId4"/>
    <p:sldId id="283" r:id="rId5"/>
    <p:sldId id="278" r:id="rId6"/>
    <p:sldId id="275" r:id="rId7"/>
    <p:sldId id="267" r:id="rId8"/>
    <p:sldId id="279" r:id="rId9"/>
    <p:sldId id="276" r:id="rId10"/>
    <p:sldId id="277" r:id="rId11"/>
    <p:sldId id="280" r:id="rId12"/>
    <p:sldId id="282" r:id="rId13"/>
    <p:sldId id="281" r:id="rId1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0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2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3300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15641" y="3886200"/>
            <a:ext cx="17160835" cy="1276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0247"/>
              </a:lnSpc>
              <a:buNone/>
            </a:pPr>
            <a:r>
              <a:rPr lang="en-US" sz="10500" kern="0" spc="-158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7-20-2026</a:t>
            </a:r>
          </a:p>
        </p:txBody>
      </p:sp>
      <p:sp>
        <p:nvSpPr>
          <p:cNvPr id="3" name="Text 1"/>
          <p:cNvSpPr/>
          <p:nvPr/>
        </p:nvSpPr>
        <p:spPr>
          <a:xfrm>
            <a:off x="1371600" y="5524500"/>
            <a:ext cx="9723526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08333"/>
              </a:lnSpc>
              <a:buNone/>
            </a:pPr>
            <a:r>
              <a:rPr lang="en-US" sz="315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reuse foundation: PE-internal KV reuse (S6a) — prefill warm-start lands, and both kernels are measured on real WSE-3 for the first time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9250710"/>
            <a:ext cx="1866632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47500" lnSpcReduction="2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Xu</a:t>
            </a:r>
          </a:p>
        </p:txBody>
      </p:sp>
      <p:sp>
        <p:nvSpPr>
          <p:cNvPr id="5" name="Text 3"/>
          <p:cNvSpPr/>
          <p:nvPr/>
        </p:nvSpPr>
        <p:spPr>
          <a:xfrm>
            <a:off x="3239988" y="9250710"/>
            <a:ext cx="133350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47500" lnSpcReduction="2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468588" y="9250710"/>
            <a:ext cx="1510070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47500" lnSpcReduction="20000"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89655"/>
              </a:lnSpc>
              <a:buNone/>
            </a:pP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— and where we are</a:t>
            </a:r>
          </a:p>
        </p:txBody>
      </p:sp>
      <p:sp>
        <p:nvSpPr>
          <p:cNvPr id="3" name="Text 1"/>
          <p:cNvSpPr/>
          <p:nvPr/>
        </p:nvSpPr>
        <p:spPr>
          <a:xfrm>
            <a:off x="1199213" y="2743200"/>
            <a:ext cx="15598315" cy="6220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810"/>
              </a:lnSpc>
              <a:buNone/>
            </a:pPr>
            <a:r>
              <a:rPr lang="en-US" sz="24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star — tiered KV cache management (in-PE → idle-PE → off-chip) plus a policy control plane, under a hard on-chip SRAM budget.</a:t>
            </a:r>
          </a:p>
          <a:p>
            <a:pPr marL="0" indent="0" algn="l">
              <a:lnSpc>
                <a:spcPct val="123810"/>
              </a:lnSpc>
              <a:buNone/>
            </a:pPr>
            <a:endParaRPr lang="en-US" sz="2400" dirty="0">
              <a:solidFill>
                <a:srgbClr val="201F1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23810"/>
              </a:lnSpc>
              <a:buNone/>
            </a:pPr>
            <a:r>
              <a:rPr lang="en-US" sz="24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 Reuse foundation — preserve and key-retrieve KV across consecutive requests.   ◀  WE ARE HERE</a:t>
            </a:r>
          </a:p>
          <a:p>
            <a:pPr marL="0" indent="0" algn="l">
              <a:lnSpc>
                <a:spcPct val="123810"/>
              </a:lnSpc>
              <a:buNone/>
            </a:pPr>
            <a:r>
              <a:rPr lang="en-US" sz="24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 Single-card in-place reuse — skip prefill on a prefix hit; requests-per-bank capacity curve.</a:t>
            </a:r>
          </a:p>
          <a:p>
            <a:pPr marL="0" indent="0" algn="l">
              <a:lnSpc>
                <a:spcPct val="123810"/>
              </a:lnSpc>
              <a:buNone/>
            </a:pPr>
            <a:r>
              <a:rPr lang="en-US" sz="24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 force-decode vs ship-to-prefill — an A/B cost model, validated on a multi-turn trace.</a:t>
            </a:r>
          </a:p>
          <a:p>
            <a:pPr marL="0" indent="0" algn="l">
              <a:lnSpc>
                <a:spcPct val="123810"/>
              </a:lnSpc>
              <a:buNone/>
            </a:pPr>
            <a:r>
              <a:rPr lang="en-US" sz="24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 Idle-PE second tier — park KV on free PEs and reload it; quantify the real cost.</a:t>
            </a:r>
          </a:p>
          <a:p>
            <a:pPr marL="0" indent="0" algn="l">
              <a:lnSpc>
                <a:spcPct val="123810"/>
              </a:lnSpc>
              <a:buNone/>
            </a:pPr>
            <a:r>
              <a:rPr lang="en-US" sz="24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 Off-chip retained pool + eviction — and lift the ~512-token single-pass prefill cap.</a:t>
            </a:r>
          </a:p>
          <a:p>
            <a:pPr marL="0" indent="0" algn="l">
              <a:lnSpc>
                <a:spcPct val="123810"/>
              </a:lnSpc>
              <a:buNone/>
            </a:pPr>
            <a:r>
              <a:rPr lang="en-US" sz="24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 Unified control plane — one min-waste policy across all tiers, ablatable and explainable.</a:t>
            </a:r>
          </a:p>
          <a:p>
            <a:pPr marL="0" indent="0" algn="l">
              <a:lnSpc>
                <a:spcPct val="123810"/>
              </a:lnSpc>
              <a:buNone/>
            </a:pPr>
            <a:r>
              <a:rPr lang="en-US" sz="24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 Scenario evaluation — an agentic workload, plus an area/power-equivalent GPU comparison.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89655"/>
              </a:lnSpc>
              <a:buNone/>
            </a:pP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 — M0 / S6a</a:t>
            </a:r>
          </a:p>
        </p:txBody>
      </p:sp>
      <p:sp>
        <p:nvSpPr>
          <p:cNvPr id="3" name="Text 1"/>
          <p:cNvSpPr/>
          <p:nvPr/>
        </p:nvSpPr>
        <p:spPr>
          <a:xfrm>
            <a:off x="1344168" y="3017520"/>
            <a:ext cx="15453359" cy="5669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S6a-decode  ✓  done earlier and re-confirmed: decode keeps KV across requests instead of discarding it; output matches the reference to the noise floor.</a:t>
            </a:r>
          </a:p>
          <a:p>
            <a:pPr marL="0" indent="0" algn="l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S6a-prefill ✓  the week's main deliverable: a request can now start from a resident prefix instead of from token 0. Implemented, and verified at full scale.</a:t>
            </a:r>
          </a:p>
          <a:p>
            <a:pPr marL="0" indent="0" algn="l">
              <a:lnSpc>
                <a:spcPct val="123810"/>
              </a:lnSpc>
              <a:buNone/>
            </a:pPr>
            <a:endParaRPr lang="en-US" sz="2700" dirty="0">
              <a:solidFill>
                <a:srgbClr val="201F1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Along the way we found a hardware-level trap: a fabric transfer whose length is odd never signals completion on WSE-3 — it just hangs, with no compile error. Reproduced in a small standalone test, then fixed by padding the per-request metadata to an even width.</a:t>
            </a:r>
          </a:p>
          <a:p>
            <a:pPr marL="0" indent="0" algn="l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correctness bugs in the warm-start path were found and fixed — all three would have produced plausible-looking but wrong output rather than an obvious failure.</a:t>
            </a:r>
          </a:p>
          <a:p>
            <a:pPr marL="0" indent="0" algn="l">
              <a:lnSpc>
                <a:spcPct val="123810"/>
              </a:lnSpc>
              <a:buNone/>
            </a:pPr>
            <a:endParaRPr lang="en-US" sz="2700" dirty="0">
              <a:solidFill>
                <a:srgbClr val="201F1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real-scale device runs: 524,288 PEs, 28 layers, 8,192 tokens. Every reuse round is byte-identical to the cold round, so the saving is real, not an accuracy trade.</a:t>
            </a:r>
          </a:p>
          <a:p>
            <a:pPr marL="0" indent="0" algn="l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measured for both kernels — next two slides.</a:t>
            </a:r>
          </a:p>
          <a:p>
            <a:pPr marL="0" indent="0" algn="l">
              <a:lnSpc>
                <a:spcPct val="123810"/>
              </a:lnSpc>
              <a:buNone/>
            </a:pPr>
            <a:endParaRPr lang="en-US" sz="2700" dirty="0">
              <a:solidFill>
                <a:srgbClr val="201F1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Open: a longer-sequence (16,384-token) sweep is running now; code is not committed yet, pending review.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746010"/>
            <a:ext cx="2201912" cy="1599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185C-4CDB-C962-1599-A8E96432D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B640D94-86FE-354B-11BF-219F77F16C74}"/>
              </a:ext>
            </a:extLst>
          </p:cNvPr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89655"/>
              </a:lnSpc>
              <a:buNone/>
            </a:pP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On-chip Floor plan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691D07B-1C91-52BC-7DAF-A60A3BA66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432" y="2156600"/>
            <a:ext cx="7300768" cy="813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348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0331A-9D1D-3F8C-CEFD-4130F1ADD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DCCB96-9555-378D-B6F7-B424730FF585}"/>
              </a:ext>
            </a:extLst>
          </p:cNvPr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89655"/>
              </a:lnSpc>
              <a:buNone/>
            </a:pP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</a:t>
            </a:r>
            <a:r>
              <a:rPr lang="en-US" sz="51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prefill: start from chunk k, not chunk 0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FD4FFB-5581-976D-410B-0A1D3E0EDB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878" y="2801641"/>
            <a:ext cx="15162244" cy="595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134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89655"/>
              </a:lnSpc>
              <a:buNone/>
            </a:pP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</a:t>
            </a:r>
            <a:r>
              <a:rPr lang="en-US" sz="51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prefill: start from chunk k, not chunk 0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746010"/>
            <a:ext cx="2201912" cy="159990"/>
          </a:xfrm>
          <a:prstGeom prst="rect">
            <a:avLst/>
          </a:prstGeom>
        </p:spPr>
      </p:pic>
      <p:pic>
        <p:nvPicPr>
          <p:cNvPr id="5" name="Picture 4" descr="diag_prefi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2331720"/>
            <a:ext cx="15599663" cy="6309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89655"/>
              </a:lnSpc>
              <a:buNone/>
            </a:pP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Prefill — reusing half the prompt saves less than a quarter of the time</a:t>
            </a:r>
          </a:p>
        </p:txBody>
      </p:sp>
      <p:sp>
        <p:nvSpPr>
          <p:cNvPr id="3" name="Shape 1"/>
          <p:cNvSpPr/>
          <p:nvPr/>
        </p:nvSpPr>
        <p:spPr>
          <a:xfrm>
            <a:off x="1371600" y="44431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4" name="Text 2"/>
          <p:cNvSpPr/>
          <p:nvPr/>
        </p:nvSpPr>
        <p:spPr>
          <a:xfrm>
            <a:off x="1371600" y="3875763"/>
            <a:ext cx="2893894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400" b="1" kern="0" spc="144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</a:t>
            </a:r>
          </a:p>
        </p:txBody>
      </p:sp>
      <p:sp>
        <p:nvSpPr>
          <p:cNvPr id="5" name="Shape 3"/>
          <p:cNvSpPr/>
          <p:nvPr/>
        </p:nvSpPr>
        <p:spPr>
          <a:xfrm>
            <a:off x="4440138" y="44431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6" name="Text 4"/>
          <p:cNvSpPr/>
          <p:nvPr/>
        </p:nvSpPr>
        <p:spPr>
          <a:xfrm>
            <a:off x="4706838" y="3875763"/>
            <a:ext cx="2625048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400" b="1" kern="0" spc="144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</a:t>
            </a:r>
          </a:p>
        </p:txBody>
      </p:sp>
      <p:sp>
        <p:nvSpPr>
          <p:cNvPr id="7" name="Shape 5"/>
          <p:cNvSpPr/>
          <p:nvPr/>
        </p:nvSpPr>
        <p:spPr>
          <a:xfrm>
            <a:off x="7506593" y="44431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8" name="Text 6"/>
          <p:cNvSpPr/>
          <p:nvPr/>
        </p:nvSpPr>
        <p:spPr>
          <a:xfrm>
            <a:off x="7773293" y="3875763"/>
            <a:ext cx="1705124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400" b="1" kern="0" spc="144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</a:t>
            </a:r>
          </a:p>
        </p:txBody>
      </p:sp>
      <p:sp>
        <p:nvSpPr>
          <p:cNvPr id="9" name="Shape 7"/>
          <p:cNvSpPr/>
          <p:nvPr/>
        </p:nvSpPr>
        <p:spPr>
          <a:xfrm>
            <a:off x="9668917" y="44431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10" name="Text 8"/>
          <p:cNvSpPr/>
          <p:nvPr/>
        </p:nvSpPr>
        <p:spPr>
          <a:xfrm>
            <a:off x="9935617" y="3875763"/>
            <a:ext cx="2103699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400" b="1" kern="0" spc="144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</a:t>
            </a:r>
          </a:p>
        </p:txBody>
      </p:sp>
      <p:sp>
        <p:nvSpPr>
          <p:cNvPr id="11" name="Shape 9"/>
          <p:cNvSpPr/>
          <p:nvPr/>
        </p:nvSpPr>
        <p:spPr>
          <a:xfrm>
            <a:off x="12229207" y="44431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12" name="Text 10"/>
          <p:cNvSpPr/>
          <p:nvPr/>
        </p:nvSpPr>
        <p:spPr>
          <a:xfrm>
            <a:off x="12495907" y="3875763"/>
            <a:ext cx="3854735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400" b="1" kern="0" spc="144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</a:t>
            </a:r>
          </a:p>
        </p:txBody>
      </p:sp>
      <p:sp>
        <p:nvSpPr>
          <p:cNvPr id="13" name="Shape 11"/>
          <p:cNvSpPr/>
          <p:nvPr/>
        </p:nvSpPr>
        <p:spPr>
          <a:xfrm>
            <a:off x="1371600" y="54337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14" name="Text 12"/>
          <p:cNvSpPr/>
          <p:nvPr/>
        </p:nvSpPr>
        <p:spPr>
          <a:xfrm>
            <a:off x="1371600" y="48431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</a:p>
        </p:txBody>
      </p:sp>
      <p:sp>
        <p:nvSpPr>
          <p:cNvPr id="15" name="Shape 13"/>
          <p:cNvSpPr/>
          <p:nvPr/>
        </p:nvSpPr>
        <p:spPr>
          <a:xfrm>
            <a:off x="4440138" y="54337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16" name="Text 14"/>
          <p:cNvSpPr/>
          <p:nvPr/>
        </p:nvSpPr>
        <p:spPr>
          <a:xfrm>
            <a:off x="4706838" y="48431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</a:p>
        </p:txBody>
      </p:sp>
      <p:sp>
        <p:nvSpPr>
          <p:cNvPr id="17" name="Shape 15"/>
          <p:cNvSpPr/>
          <p:nvPr/>
        </p:nvSpPr>
        <p:spPr>
          <a:xfrm>
            <a:off x="7506593" y="54337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18" name="Text 16"/>
          <p:cNvSpPr/>
          <p:nvPr/>
        </p:nvSpPr>
        <p:spPr>
          <a:xfrm>
            <a:off x="7773293" y="48431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1001.5 ms</a:t>
            </a:r>
          </a:p>
        </p:txBody>
      </p:sp>
      <p:sp>
        <p:nvSpPr>
          <p:cNvPr id="19" name="Shape 17"/>
          <p:cNvSpPr/>
          <p:nvPr/>
        </p:nvSpPr>
        <p:spPr>
          <a:xfrm>
            <a:off x="9668917" y="54337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20" name="Text 18"/>
          <p:cNvSpPr/>
          <p:nvPr/>
        </p:nvSpPr>
        <p:spPr>
          <a:xfrm>
            <a:off x="9935617" y="48431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</a:p>
        </p:txBody>
      </p:sp>
      <p:sp>
        <p:nvSpPr>
          <p:cNvPr id="21" name="Shape 19"/>
          <p:cNvSpPr/>
          <p:nvPr/>
        </p:nvSpPr>
        <p:spPr>
          <a:xfrm>
            <a:off x="12229207" y="54337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22" name="Text 20"/>
          <p:cNvSpPr/>
          <p:nvPr/>
        </p:nvSpPr>
        <p:spPr>
          <a:xfrm>
            <a:off x="12495907" y="48431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8,180 tok/s</a:t>
            </a:r>
          </a:p>
        </p:txBody>
      </p:sp>
      <p:sp>
        <p:nvSpPr>
          <p:cNvPr id="23" name="Shape 21"/>
          <p:cNvSpPr/>
          <p:nvPr/>
        </p:nvSpPr>
        <p:spPr>
          <a:xfrm>
            <a:off x="1371600" y="64243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24" name="Text 22"/>
          <p:cNvSpPr/>
          <p:nvPr/>
        </p:nvSpPr>
        <p:spPr>
          <a:xfrm>
            <a:off x="1371600" y="58337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chunks</a:t>
            </a:r>
          </a:p>
        </p:txBody>
      </p:sp>
      <p:sp>
        <p:nvSpPr>
          <p:cNvPr id="25" name="Shape 23"/>
          <p:cNvSpPr/>
          <p:nvPr/>
        </p:nvSpPr>
        <p:spPr>
          <a:xfrm>
            <a:off x="4440138" y="64243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26" name="Text 24"/>
          <p:cNvSpPr/>
          <p:nvPr/>
        </p:nvSpPr>
        <p:spPr>
          <a:xfrm>
            <a:off x="4706838" y="58337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25 %</a:t>
            </a:r>
          </a:p>
        </p:txBody>
      </p:sp>
      <p:sp>
        <p:nvSpPr>
          <p:cNvPr id="27" name="Shape 25"/>
          <p:cNvSpPr/>
          <p:nvPr/>
        </p:nvSpPr>
        <p:spPr>
          <a:xfrm>
            <a:off x="7506593" y="64243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28" name="Text 26"/>
          <p:cNvSpPr/>
          <p:nvPr/>
        </p:nvSpPr>
        <p:spPr>
          <a:xfrm>
            <a:off x="7773293" y="58337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924.1 ms</a:t>
            </a:r>
          </a:p>
        </p:txBody>
      </p:sp>
      <p:sp>
        <p:nvSpPr>
          <p:cNvPr id="29" name="Shape 27"/>
          <p:cNvSpPr/>
          <p:nvPr/>
        </p:nvSpPr>
        <p:spPr>
          <a:xfrm>
            <a:off x="9668917" y="64243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30" name="Text 28"/>
          <p:cNvSpPr/>
          <p:nvPr/>
        </p:nvSpPr>
        <p:spPr>
          <a:xfrm>
            <a:off x="9935617" y="58337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−7.7 %</a:t>
            </a:r>
          </a:p>
        </p:txBody>
      </p:sp>
      <p:sp>
        <p:nvSpPr>
          <p:cNvPr id="31" name="Shape 29"/>
          <p:cNvSpPr/>
          <p:nvPr/>
        </p:nvSpPr>
        <p:spPr>
          <a:xfrm>
            <a:off x="12229207" y="64243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32" name="Text 30"/>
          <p:cNvSpPr/>
          <p:nvPr/>
        </p:nvSpPr>
        <p:spPr>
          <a:xfrm>
            <a:off x="12495907" y="58337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8,865 tok/s</a:t>
            </a:r>
          </a:p>
        </p:txBody>
      </p:sp>
      <p:sp>
        <p:nvSpPr>
          <p:cNvPr id="33" name="Shape 31"/>
          <p:cNvSpPr/>
          <p:nvPr/>
        </p:nvSpPr>
        <p:spPr>
          <a:xfrm>
            <a:off x="1371600" y="74149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34" name="Text 32"/>
          <p:cNvSpPr/>
          <p:nvPr/>
        </p:nvSpPr>
        <p:spPr>
          <a:xfrm>
            <a:off x="1371600" y="68243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chunks</a:t>
            </a:r>
          </a:p>
        </p:txBody>
      </p:sp>
      <p:sp>
        <p:nvSpPr>
          <p:cNvPr id="35" name="Shape 33"/>
          <p:cNvSpPr/>
          <p:nvPr/>
        </p:nvSpPr>
        <p:spPr>
          <a:xfrm>
            <a:off x="4440138" y="74149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36" name="Text 34"/>
          <p:cNvSpPr/>
          <p:nvPr/>
        </p:nvSpPr>
        <p:spPr>
          <a:xfrm>
            <a:off x="4706838" y="68243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50 %</a:t>
            </a:r>
          </a:p>
        </p:txBody>
      </p:sp>
      <p:sp>
        <p:nvSpPr>
          <p:cNvPr id="37" name="Shape 35"/>
          <p:cNvSpPr/>
          <p:nvPr/>
        </p:nvSpPr>
        <p:spPr>
          <a:xfrm>
            <a:off x="7506593" y="74149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38" name="Text 36"/>
          <p:cNvSpPr/>
          <p:nvPr/>
        </p:nvSpPr>
        <p:spPr>
          <a:xfrm>
            <a:off x="7773293" y="68243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773.3 ms</a:t>
            </a:r>
          </a:p>
        </p:txBody>
      </p:sp>
      <p:sp>
        <p:nvSpPr>
          <p:cNvPr id="39" name="Shape 37"/>
          <p:cNvSpPr/>
          <p:nvPr/>
        </p:nvSpPr>
        <p:spPr>
          <a:xfrm>
            <a:off x="9668917" y="74149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40" name="Text 38"/>
          <p:cNvSpPr/>
          <p:nvPr/>
        </p:nvSpPr>
        <p:spPr>
          <a:xfrm>
            <a:off x="9935617" y="68243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−22.8 %</a:t>
            </a:r>
          </a:p>
        </p:txBody>
      </p:sp>
      <p:sp>
        <p:nvSpPr>
          <p:cNvPr id="41" name="Shape 39"/>
          <p:cNvSpPr/>
          <p:nvPr/>
        </p:nvSpPr>
        <p:spPr>
          <a:xfrm>
            <a:off x="12229207" y="74149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42" name="Text 40"/>
          <p:cNvSpPr/>
          <p:nvPr/>
        </p:nvSpPr>
        <p:spPr>
          <a:xfrm>
            <a:off x="12495907" y="68243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10,594 tok/s</a:t>
            </a:r>
          </a:p>
        </p:txBody>
      </p:sp>
      <p:sp>
        <p:nvSpPr>
          <p:cNvPr id="43" name="Shape 41"/>
          <p:cNvSpPr/>
          <p:nvPr/>
        </p:nvSpPr>
        <p:spPr>
          <a:xfrm>
            <a:off x="1371600" y="84055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44" name="Text 42"/>
          <p:cNvSpPr/>
          <p:nvPr/>
        </p:nvSpPr>
        <p:spPr>
          <a:xfrm>
            <a:off x="1371600" y="78149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chunks</a:t>
            </a:r>
          </a:p>
        </p:txBody>
      </p:sp>
      <p:sp>
        <p:nvSpPr>
          <p:cNvPr id="45" name="Shape 43"/>
          <p:cNvSpPr/>
          <p:nvPr/>
        </p:nvSpPr>
        <p:spPr>
          <a:xfrm>
            <a:off x="4440138" y="84055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46" name="Text 44"/>
          <p:cNvSpPr/>
          <p:nvPr/>
        </p:nvSpPr>
        <p:spPr>
          <a:xfrm>
            <a:off x="4706838" y="78149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75 %</a:t>
            </a:r>
          </a:p>
        </p:txBody>
      </p:sp>
      <p:sp>
        <p:nvSpPr>
          <p:cNvPr id="47" name="Shape 45"/>
          <p:cNvSpPr/>
          <p:nvPr/>
        </p:nvSpPr>
        <p:spPr>
          <a:xfrm>
            <a:off x="7506593" y="84055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48" name="Text 46"/>
          <p:cNvSpPr/>
          <p:nvPr/>
        </p:nvSpPr>
        <p:spPr>
          <a:xfrm>
            <a:off x="7773293" y="78149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549.2 ms</a:t>
            </a:r>
          </a:p>
        </p:txBody>
      </p:sp>
      <p:sp>
        <p:nvSpPr>
          <p:cNvPr id="49" name="Shape 47"/>
          <p:cNvSpPr/>
          <p:nvPr/>
        </p:nvSpPr>
        <p:spPr>
          <a:xfrm>
            <a:off x="9668917" y="84055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50" name="Text 48"/>
          <p:cNvSpPr/>
          <p:nvPr/>
        </p:nvSpPr>
        <p:spPr>
          <a:xfrm>
            <a:off x="9935617" y="78149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−45.2 %</a:t>
            </a:r>
          </a:p>
        </p:txBody>
      </p:sp>
      <p:sp>
        <p:nvSpPr>
          <p:cNvPr id="51" name="Shape 49"/>
          <p:cNvSpPr/>
          <p:nvPr/>
        </p:nvSpPr>
        <p:spPr>
          <a:xfrm>
            <a:off x="12229207" y="84055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52" name="Text 50"/>
          <p:cNvSpPr/>
          <p:nvPr/>
        </p:nvSpPr>
        <p:spPr>
          <a:xfrm>
            <a:off x="12495907" y="78149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14,916 tok/s</a:t>
            </a:r>
          </a:p>
        </p:txBody>
      </p:sp>
      <p:sp>
        <p:nvSpPr>
          <p:cNvPr id="54" name="Text 1"/>
          <p:cNvSpPr/>
          <p:nvPr/>
        </p:nvSpPr>
        <p:spPr>
          <a:xfrm>
            <a:off x="1371600" y="8412480"/>
            <a:ext cx="15453359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67742"/>
              </a:lnSpc>
              <a:buNone/>
            </a:pPr>
            <a:r>
              <a:rPr lang="en-US" sz="160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8,192-token prompt on 524,288 PEs; pure on-device request latency, host work excluded. All reuse rounds byte-identical to the cold round.   —   Why sub-linear: a chunk's cost grows with how much text precedes it (the last chunk costs about 7× the first), so a reused prefix is always the cheapest part of the request. Planning that assumes “half the prompt cached = half the time saved” will overestimate the win.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46E75-5D19-E055-F279-1977563B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CBB6FA2-56F5-44CC-3D20-7A8384BE8B6D}"/>
              </a:ext>
            </a:extLst>
          </p:cNvPr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89655"/>
              </a:lnSpc>
              <a:buNone/>
            </a:pPr>
            <a:r>
              <a:rPr lang="en-US" sz="51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changed — decode: retain the KV instead of rewinding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9F034C-46CF-B1A1-0E1C-E2C4F7FE0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757" y="2563010"/>
            <a:ext cx="16154486" cy="646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555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89655"/>
              </a:lnSpc>
              <a:buNone/>
            </a:pPr>
            <a:r>
              <a:rPr lang="en-US" sz="51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changed — decode: retain the KV instead of rewinding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746010"/>
            <a:ext cx="2201912" cy="159990"/>
          </a:xfrm>
          <a:prstGeom prst="rect">
            <a:avLst/>
          </a:prstGeom>
        </p:spPr>
      </p:pic>
      <p:pic>
        <p:nvPicPr>
          <p:cNvPr id="5" name="Picture 4" descr="diag_de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2331720"/>
            <a:ext cx="15599663" cy="6309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89655"/>
              </a:lnSpc>
              <a:buNone/>
            </a:pP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— the win is skipping whole steps, not making steps cheaper</a:t>
            </a:r>
          </a:p>
        </p:txBody>
      </p:sp>
      <p:sp>
        <p:nvSpPr>
          <p:cNvPr id="3" name="Shape 1"/>
          <p:cNvSpPr/>
          <p:nvPr/>
        </p:nvSpPr>
        <p:spPr>
          <a:xfrm>
            <a:off x="1371600" y="44431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4" name="Text 2"/>
          <p:cNvSpPr/>
          <p:nvPr/>
        </p:nvSpPr>
        <p:spPr>
          <a:xfrm>
            <a:off x="1371600" y="3875763"/>
            <a:ext cx="2893894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400" b="1" kern="0" spc="144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</a:p>
        </p:txBody>
      </p:sp>
      <p:sp>
        <p:nvSpPr>
          <p:cNvPr id="5" name="Shape 3"/>
          <p:cNvSpPr/>
          <p:nvPr/>
        </p:nvSpPr>
        <p:spPr>
          <a:xfrm>
            <a:off x="4440138" y="44431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6" name="Text 4"/>
          <p:cNvSpPr/>
          <p:nvPr/>
        </p:nvSpPr>
        <p:spPr>
          <a:xfrm>
            <a:off x="4706838" y="3875763"/>
            <a:ext cx="2625048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400" b="1" kern="0" spc="144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</a:t>
            </a:r>
          </a:p>
        </p:txBody>
      </p:sp>
      <p:sp>
        <p:nvSpPr>
          <p:cNvPr id="7" name="Shape 5"/>
          <p:cNvSpPr/>
          <p:nvPr/>
        </p:nvSpPr>
        <p:spPr>
          <a:xfrm>
            <a:off x="7506593" y="44431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8" name="Text 6"/>
          <p:cNvSpPr/>
          <p:nvPr/>
        </p:nvSpPr>
        <p:spPr>
          <a:xfrm>
            <a:off x="7773293" y="3875763"/>
            <a:ext cx="1705124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400" b="1" kern="0" spc="144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</a:p>
        </p:txBody>
      </p:sp>
      <p:sp>
        <p:nvSpPr>
          <p:cNvPr id="9" name="Shape 7"/>
          <p:cNvSpPr/>
          <p:nvPr/>
        </p:nvSpPr>
        <p:spPr>
          <a:xfrm>
            <a:off x="9668917" y="44431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10" name="Text 8"/>
          <p:cNvSpPr/>
          <p:nvPr/>
        </p:nvSpPr>
        <p:spPr>
          <a:xfrm>
            <a:off x="9935617" y="3875763"/>
            <a:ext cx="2103699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400" b="1" kern="0" spc="144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</a:t>
            </a:r>
          </a:p>
        </p:txBody>
      </p:sp>
      <p:sp>
        <p:nvSpPr>
          <p:cNvPr id="11" name="Shape 9"/>
          <p:cNvSpPr/>
          <p:nvPr/>
        </p:nvSpPr>
        <p:spPr>
          <a:xfrm>
            <a:off x="12229207" y="44431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12" name="Text 10"/>
          <p:cNvSpPr/>
          <p:nvPr/>
        </p:nvSpPr>
        <p:spPr>
          <a:xfrm>
            <a:off x="12495907" y="3875763"/>
            <a:ext cx="3854735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400" b="1" kern="0" spc="144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</a:t>
            </a:r>
          </a:p>
        </p:txBody>
      </p:sp>
      <p:sp>
        <p:nvSpPr>
          <p:cNvPr id="13" name="Shape 11"/>
          <p:cNvSpPr/>
          <p:nvPr/>
        </p:nvSpPr>
        <p:spPr>
          <a:xfrm>
            <a:off x="1371600" y="54337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14" name="Text 12"/>
          <p:cNvSpPr/>
          <p:nvPr/>
        </p:nvSpPr>
        <p:spPr>
          <a:xfrm>
            <a:off x="1371600" y="48431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round</a:t>
            </a:r>
          </a:p>
        </p:txBody>
      </p:sp>
      <p:sp>
        <p:nvSpPr>
          <p:cNvPr id="15" name="Shape 13"/>
          <p:cNvSpPr/>
          <p:nvPr/>
        </p:nvSpPr>
        <p:spPr>
          <a:xfrm>
            <a:off x="4440138" y="54337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16" name="Text 14"/>
          <p:cNvSpPr/>
          <p:nvPr/>
        </p:nvSpPr>
        <p:spPr>
          <a:xfrm>
            <a:off x="4706838" y="48431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reuse</a:t>
            </a:r>
          </a:p>
        </p:txBody>
      </p:sp>
      <p:sp>
        <p:nvSpPr>
          <p:cNvPr id="17" name="Shape 15"/>
          <p:cNvSpPr/>
          <p:nvPr/>
        </p:nvSpPr>
        <p:spPr>
          <a:xfrm>
            <a:off x="7506593" y="54337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18" name="Text 16"/>
          <p:cNvSpPr/>
          <p:nvPr/>
        </p:nvSpPr>
        <p:spPr>
          <a:xfrm>
            <a:off x="7773293" y="48431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262.9 M cycles</a:t>
            </a:r>
          </a:p>
        </p:txBody>
      </p:sp>
      <p:sp>
        <p:nvSpPr>
          <p:cNvPr id="19" name="Shape 17"/>
          <p:cNvSpPr/>
          <p:nvPr/>
        </p:nvSpPr>
        <p:spPr>
          <a:xfrm>
            <a:off x="9668917" y="54337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20" name="Text 18"/>
          <p:cNvSpPr/>
          <p:nvPr/>
        </p:nvSpPr>
        <p:spPr>
          <a:xfrm>
            <a:off x="9935617" y="48431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</a:p>
        </p:txBody>
      </p:sp>
      <p:sp>
        <p:nvSpPr>
          <p:cNvPr id="21" name="Shape 19"/>
          <p:cNvSpPr/>
          <p:nvPr/>
        </p:nvSpPr>
        <p:spPr>
          <a:xfrm>
            <a:off x="12229207" y="54337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22" name="Text 20"/>
          <p:cNvSpPr/>
          <p:nvPr/>
        </p:nvSpPr>
        <p:spPr>
          <a:xfrm>
            <a:off x="12495907" y="48431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redoes 512 discarded steps</a:t>
            </a:r>
          </a:p>
        </p:txBody>
      </p:sp>
      <p:sp>
        <p:nvSpPr>
          <p:cNvPr id="23" name="Shape 21"/>
          <p:cNvSpPr/>
          <p:nvPr/>
        </p:nvSpPr>
        <p:spPr>
          <a:xfrm>
            <a:off x="1371600" y="64243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24" name="Text 22"/>
          <p:cNvSpPr/>
          <p:nvPr/>
        </p:nvSpPr>
        <p:spPr>
          <a:xfrm>
            <a:off x="1371600" y="58337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round</a:t>
            </a:r>
          </a:p>
        </p:txBody>
      </p:sp>
      <p:sp>
        <p:nvSpPr>
          <p:cNvPr id="25" name="Shape 23"/>
          <p:cNvSpPr/>
          <p:nvPr/>
        </p:nvSpPr>
        <p:spPr>
          <a:xfrm>
            <a:off x="4440138" y="64243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26" name="Text 24"/>
          <p:cNvSpPr/>
          <p:nvPr/>
        </p:nvSpPr>
        <p:spPr>
          <a:xfrm>
            <a:off x="4706838" y="58337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</a:t>
            </a:r>
          </a:p>
        </p:txBody>
      </p:sp>
      <p:sp>
        <p:nvSpPr>
          <p:cNvPr id="27" name="Shape 25"/>
          <p:cNvSpPr/>
          <p:nvPr/>
        </p:nvSpPr>
        <p:spPr>
          <a:xfrm>
            <a:off x="7506593" y="64243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28" name="Text 26"/>
          <p:cNvSpPr/>
          <p:nvPr/>
        </p:nvSpPr>
        <p:spPr>
          <a:xfrm>
            <a:off x="7773293" y="58337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127.7 M cycles</a:t>
            </a:r>
          </a:p>
        </p:txBody>
      </p:sp>
      <p:sp>
        <p:nvSpPr>
          <p:cNvPr id="29" name="Shape 27"/>
          <p:cNvSpPr/>
          <p:nvPr/>
        </p:nvSpPr>
        <p:spPr>
          <a:xfrm>
            <a:off x="9668917" y="64243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30" name="Text 28"/>
          <p:cNvSpPr/>
          <p:nvPr/>
        </p:nvSpPr>
        <p:spPr>
          <a:xfrm>
            <a:off x="9935617" y="58337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−51.4 %</a:t>
            </a:r>
          </a:p>
        </p:txBody>
      </p:sp>
      <p:sp>
        <p:nvSpPr>
          <p:cNvPr id="31" name="Shape 29"/>
          <p:cNvSpPr/>
          <p:nvPr/>
        </p:nvSpPr>
        <p:spPr>
          <a:xfrm>
            <a:off x="12229207" y="64243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32" name="Text 30"/>
          <p:cNvSpPr/>
          <p:nvPr/>
        </p:nvSpPr>
        <p:spPr>
          <a:xfrm>
            <a:off x="12495907" y="58337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only the 256 new steps</a:t>
            </a:r>
          </a:p>
        </p:txBody>
      </p:sp>
      <p:sp>
        <p:nvSpPr>
          <p:cNvPr id="33" name="Shape 31"/>
          <p:cNvSpPr/>
          <p:nvPr/>
        </p:nvSpPr>
        <p:spPr>
          <a:xfrm>
            <a:off x="1371600" y="74149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34" name="Text 32"/>
          <p:cNvSpPr/>
          <p:nvPr/>
        </p:nvSpPr>
        <p:spPr>
          <a:xfrm>
            <a:off x="1371600" y="68243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decode work</a:t>
            </a:r>
          </a:p>
        </p:txBody>
      </p:sp>
      <p:sp>
        <p:nvSpPr>
          <p:cNvPr id="35" name="Shape 33"/>
          <p:cNvSpPr/>
          <p:nvPr/>
        </p:nvSpPr>
        <p:spPr>
          <a:xfrm>
            <a:off x="4440138" y="74149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36" name="Text 34"/>
          <p:cNvSpPr/>
          <p:nvPr/>
        </p:nvSpPr>
        <p:spPr>
          <a:xfrm>
            <a:off x="4706838" y="68243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rounds</a:t>
            </a:r>
          </a:p>
        </p:txBody>
      </p:sp>
      <p:sp>
        <p:nvSpPr>
          <p:cNvPr id="37" name="Shape 35"/>
          <p:cNvSpPr/>
          <p:nvPr/>
        </p:nvSpPr>
        <p:spPr>
          <a:xfrm>
            <a:off x="7506593" y="74149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38" name="Text 36"/>
          <p:cNvSpPr/>
          <p:nvPr/>
        </p:nvSpPr>
        <p:spPr>
          <a:xfrm>
            <a:off x="7773293" y="68243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390.6 → 255.4 M</a:t>
            </a:r>
          </a:p>
        </p:txBody>
      </p:sp>
      <p:sp>
        <p:nvSpPr>
          <p:cNvPr id="39" name="Shape 37"/>
          <p:cNvSpPr/>
          <p:nvPr/>
        </p:nvSpPr>
        <p:spPr>
          <a:xfrm>
            <a:off x="9668917" y="74149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40" name="Text 38"/>
          <p:cNvSpPr/>
          <p:nvPr/>
        </p:nvSpPr>
        <p:spPr>
          <a:xfrm>
            <a:off x="9935617" y="68243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−34.6 %</a:t>
            </a:r>
          </a:p>
        </p:txBody>
      </p:sp>
      <p:sp>
        <p:nvSpPr>
          <p:cNvPr id="41" name="Shape 39"/>
          <p:cNvSpPr/>
          <p:nvPr/>
        </p:nvSpPr>
        <p:spPr>
          <a:xfrm>
            <a:off x="12229207" y="74149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42" name="Text 40"/>
          <p:cNvSpPr/>
          <p:nvPr/>
        </p:nvSpPr>
        <p:spPr>
          <a:xfrm>
            <a:off x="12495907" y="68243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predicted: 768 → 512 steps</a:t>
            </a:r>
          </a:p>
        </p:txBody>
      </p:sp>
      <p:sp>
        <p:nvSpPr>
          <p:cNvPr id="43" name="Shape 41"/>
          <p:cNvSpPr/>
          <p:nvPr/>
        </p:nvSpPr>
        <p:spPr>
          <a:xfrm>
            <a:off x="1371600" y="84055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44" name="Text 42"/>
          <p:cNvSpPr/>
          <p:nvPr/>
        </p:nvSpPr>
        <p:spPr>
          <a:xfrm>
            <a:off x="1371600" y="78149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Control: equal work</a:t>
            </a:r>
          </a:p>
        </p:txBody>
      </p:sp>
      <p:sp>
        <p:nvSpPr>
          <p:cNvPr id="45" name="Shape 43"/>
          <p:cNvSpPr/>
          <p:nvPr/>
        </p:nvSpPr>
        <p:spPr>
          <a:xfrm>
            <a:off x="4440138" y="84055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46" name="Text 44"/>
          <p:cNvSpPr/>
          <p:nvPr/>
        </p:nvSpPr>
        <p:spPr>
          <a:xfrm>
            <a:off x="4706838" y="78149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steps both</a:t>
            </a:r>
          </a:p>
        </p:txBody>
      </p:sp>
      <p:sp>
        <p:nvSpPr>
          <p:cNvPr id="47" name="Shape 45"/>
          <p:cNvSpPr/>
          <p:nvPr/>
        </p:nvSpPr>
        <p:spPr>
          <a:xfrm>
            <a:off x="7506593" y="84055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48" name="Text 46"/>
          <p:cNvSpPr/>
          <p:nvPr/>
        </p:nvSpPr>
        <p:spPr>
          <a:xfrm>
            <a:off x="7773293" y="78149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126.2 vs 126.2 M</a:t>
            </a:r>
          </a:p>
        </p:txBody>
      </p:sp>
      <p:sp>
        <p:nvSpPr>
          <p:cNvPr id="49" name="Shape 47"/>
          <p:cNvSpPr/>
          <p:nvPr/>
        </p:nvSpPr>
        <p:spPr>
          <a:xfrm>
            <a:off x="9668917" y="84055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50" name="Text 48"/>
          <p:cNvSpPr/>
          <p:nvPr/>
        </p:nvSpPr>
        <p:spPr>
          <a:xfrm>
            <a:off x="9935617" y="78149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+0.02 %</a:t>
            </a:r>
          </a:p>
        </p:txBody>
      </p:sp>
      <p:sp>
        <p:nvSpPr>
          <p:cNvPr id="51" name="Shape 49"/>
          <p:cNvSpPr/>
          <p:nvPr/>
        </p:nvSpPr>
        <p:spPr>
          <a:xfrm>
            <a:off x="12229207" y="84055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lstStyle/>
          <a:p>
            <a:endParaRPr lang="en-US" sz="3600"/>
          </a:p>
        </p:txBody>
      </p:sp>
      <p:sp>
        <p:nvSpPr>
          <p:cNvPr id="52" name="Text 50"/>
          <p:cNvSpPr/>
          <p:nvPr/>
        </p:nvSpPr>
        <p:spPr>
          <a:xfrm>
            <a:off x="12495907" y="78149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0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retained step is not cheaper</a:t>
            </a:r>
          </a:p>
        </p:txBody>
      </p:sp>
      <p:sp>
        <p:nvSpPr>
          <p:cNvPr id="54" name="Text 1"/>
          <p:cNvSpPr/>
          <p:nvPr/>
        </p:nvSpPr>
        <p:spPr>
          <a:xfrm>
            <a:off x="1371600" y="8412480"/>
            <a:ext cx="15453359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7742"/>
              </a:lnSpc>
              <a:buNone/>
            </a:pPr>
            <a:r>
              <a:rPr lang="en-US" sz="160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524,288 PEs; cycles at 1.1 GHz; timer starts after KV load, so this is compute only. The control row is the point: retain changes the cost of a decode step by 0.02 %. Its entire value is that steps already taken do not have to be taken again — which is why the comparison has to make the no-reuse arm redo the work it threw away.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89655"/>
              </a:lnSpc>
              <a:buNone/>
            </a:pP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KV cache crosses from prefill to decode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B0E11A-6899-43A1-367B-F9DD96C21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432" y="2156600"/>
            <a:ext cx="7300768" cy="8130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DA2EB-A567-6A1E-690B-24AEB8417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5833E84-6E9C-DDE9-0972-A4294A3843F1}"/>
              </a:ext>
            </a:extLst>
          </p:cNvPr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89655"/>
              </a:lnSpc>
              <a:buNone/>
            </a:pP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KV cache crosses from prefill to decode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672A6C3-53A9-13D8-B4AF-537492B6C6D2}"/>
              </a:ext>
            </a:extLst>
          </p:cNvPr>
          <p:cNvSpPr/>
          <p:nvPr/>
        </p:nvSpPr>
        <p:spPr>
          <a:xfrm>
            <a:off x="1371600" y="9674352"/>
            <a:ext cx="109728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7742"/>
              </a:lnSpc>
              <a:buNone/>
            </a:pPr>
            <a:r>
              <a:rPr lang="en-US" sz="1100" b="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 cache: prefill → decode transfer  ·  WaferEngine on WSE-3  ·  July 2026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FB3CC89-755D-F8DF-AE42-3DDF805E1810}"/>
              </a:ext>
            </a:extLst>
          </p:cNvPr>
          <p:cNvSpPr/>
          <p:nvPr/>
        </p:nvSpPr>
        <p:spPr>
          <a:xfrm>
            <a:off x="2639444" y="2249424"/>
            <a:ext cx="5794895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67742"/>
              </a:lnSpc>
              <a:buNone/>
            </a:pPr>
            <a:r>
              <a:rPr lang="en-US" sz="1500" b="1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— inside one prefill block:  funnel → diagonal → transpose        stage A ≈ 7%</a:t>
            </a: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C1AE8715-EB50-C7F8-2381-37E4FB870701}"/>
              </a:ext>
            </a:extLst>
          </p:cNvPr>
          <p:cNvSpPr/>
          <p:nvPr/>
        </p:nvSpPr>
        <p:spPr>
          <a:xfrm>
            <a:off x="9211580" y="2249424"/>
            <a:ext cx="6436974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67742"/>
              </a:lnSpc>
              <a:buNone/>
            </a:pPr>
            <a:r>
              <a:rPr lang="en-US" sz="1500" b="1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— across regions:  store-and-forward north into decode        stage B ≈ 93%</a:t>
            </a:r>
          </a:p>
        </p:txBody>
      </p:sp>
      <p:pic>
        <p:nvPicPr>
          <p:cNvPr id="5" name="Picture 4" descr="fig_topo_block.png">
            <a:extLst>
              <a:ext uri="{FF2B5EF4-FFF2-40B4-BE49-F238E27FC236}">
                <a16:creationId xmlns:a16="http://schemas.microsoft.com/office/drawing/2014/main" id="{480D2398-A916-2C24-E100-55A50386D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444" y="2761488"/>
            <a:ext cx="5794896" cy="5532120"/>
          </a:xfrm>
          <a:prstGeom prst="rect">
            <a:avLst/>
          </a:prstGeom>
        </p:spPr>
      </p:pic>
      <p:pic>
        <p:nvPicPr>
          <p:cNvPr id="6" name="Picture 5" descr="fig_topo_regions.png">
            <a:extLst>
              <a:ext uri="{FF2B5EF4-FFF2-40B4-BE49-F238E27FC236}">
                <a16:creationId xmlns:a16="http://schemas.microsoft.com/office/drawing/2014/main" id="{0006CDD4-504D-E2EA-AD0D-734B58ED4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1580" y="2761488"/>
            <a:ext cx="6436975" cy="5532120"/>
          </a:xfrm>
          <a:prstGeom prst="rect">
            <a:avLst/>
          </a:prstGeom>
        </p:spPr>
      </p:pic>
      <p:sp>
        <p:nvSpPr>
          <p:cNvPr id="8" name="Text 1">
            <a:extLst>
              <a:ext uri="{FF2B5EF4-FFF2-40B4-BE49-F238E27FC236}">
                <a16:creationId xmlns:a16="http://schemas.microsoft.com/office/drawing/2014/main" id="{E3AE113E-C0A9-1E2C-2120-8C2858871799}"/>
              </a:ext>
            </a:extLst>
          </p:cNvPr>
          <p:cNvSpPr/>
          <p:nvPr/>
        </p:nvSpPr>
        <p:spPr>
          <a:xfrm>
            <a:off x="1371600" y="8430768"/>
            <a:ext cx="15453359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7742"/>
              </a:lnSpc>
              <a:buNone/>
            </a:pPr>
            <a:r>
              <a:rPr lang="en-US" sz="1300" b="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Prefill and decode hold KV on transposed coordinates — a tile on PE (lx, ly) is expected at (ly, lx). Each row funnels sideways to its diagonal PE, which then emits down its column; the turn at the diagonal is the transpose. A second, in-tile relayout puts the bytes in decode's order, so decode only receives and unpacks.</a:t>
            </a:r>
          </a:p>
          <a:p>
            <a:pPr marL="0" indent="0" algn="l">
              <a:lnSpc>
                <a:spcPct val="167742"/>
              </a:lnSpc>
              <a:buNone/>
            </a:pPr>
            <a:r>
              <a:rPr lang="en-US" sz="1300" b="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all of stage A — about 7%. The other 93% is stage B: each tile is handed north PE by PE across the full prefill height and the relay seam, once per layer per K/V plane, with no overlap between planes.</a:t>
            </a:r>
          </a:p>
        </p:txBody>
      </p:sp>
    </p:spTree>
    <p:extLst>
      <p:ext uri="{BB962C8B-B14F-4D97-AF65-F5344CB8AC3E}">
        <p14:creationId xmlns:p14="http://schemas.microsoft.com/office/powerpoint/2010/main" val="7538633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 algn="l">
              <a:lnSpc>
                <a:spcPct val="89655"/>
              </a:lnSpc>
              <a:buNone/>
            </a:pPr>
            <a:r>
              <a:rPr lang="en-US" sz="5700" kern="0" spc="-57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real silicon — it scales with geometry, but runs far below the wire</a:t>
            </a:r>
          </a:p>
        </p:txBody>
      </p:sp>
      <p:sp>
        <p:nvSpPr>
          <p:cNvPr id="4" name="Text 1"/>
          <p:cNvSpPr/>
          <p:nvPr/>
        </p:nvSpPr>
        <p:spPr>
          <a:xfrm>
            <a:off x="1371600" y="9674352"/>
            <a:ext cx="109728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67742"/>
              </a:lnSpc>
              <a:buNone/>
            </a:pPr>
            <a:r>
              <a:rPr lang="en-US" sz="1100" b="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 cache: prefill → decode transfer  ·  WaferEngine on WSE-3  ·  July 2026</a:t>
            </a:r>
          </a:p>
        </p:txBody>
      </p:sp>
      <p:pic>
        <p:nvPicPr>
          <p:cNvPr id="5" name="Picture 4" descr="fig_bw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395728"/>
            <a:ext cx="14081760" cy="5957668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371600" y="8430768"/>
            <a:ext cx="15453359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67742"/>
              </a:lnSpc>
              <a:buNone/>
            </a:pPr>
            <a:r>
              <a:rPr lang="en-US" sz="1300" b="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configurations end to end on the EPCC CS-3, from a 16×16 toy up to the full 512×512 production geometry — no simulator. Effective bandwidth = KV bytes moved ÷ (A+B), timed by on-device counters; it grows almost linearly with geometry, reaching 1.803 GB/s.</a:t>
            </a:r>
          </a:p>
          <a:p>
            <a:pPr marL="0" indent="0" algn="l">
              <a:lnSpc>
                <a:spcPct val="167742"/>
              </a:lnSpc>
              <a:buNone/>
            </a:pPr>
            <a:r>
              <a:rPr lang="en-US" sz="1300" b="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ceiling lines are the point: one fabric link carrying a single clean stream measured 3.91 GB/s on the same machine (0.89× spec). The whole parallel transfer is therefore slower than one clean link and uses ~0.1% of the seam — bound by per-hop latency and by running the planes serially, not by the fabric. Fixes: coalesce the planes into one shift, enlarge the per-hop payload, cut through, route directly.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1102</Words>
  <Application>Microsoft Macintosh PowerPoint</Application>
  <PresentationFormat>Custom</PresentationFormat>
  <Paragraphs>99</Paragraphs>
  <Slides>13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 Xu</cp:lastModifiedBy>
  <cp:revision>4</cp:revision>
  <dcterms:created xsi:type="dcterms:W3CDTF">2026-07-20T06:59:57Z</dcterms:created>
  <dcterms:modified xsi:type="dcterms:W3CDTF">2026-07-20T11:19:35Z</dcterms:modified>
</cp:coreProperties>
</file>