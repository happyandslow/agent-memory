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5"/>
    <p:sldId id="274" r:id="rId25"/>
    <p:sldId id="260" r:id="rId6"/>
    <p:sldId id="267" r:id="rId13"/>
    <p:sldId id="275" r:id="rId26"/>
  </p:sldIdLst>
  <p:notesMasterIdLst>
    <p:notesMasterId r:id="rId2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13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2-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15641" y="3886200"/>
            <a:ext cx="17160835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247"/>
              </a:lnSpc>
              <a:buNone/>
            </a:pPr>
            <a:r>
              <a:rPr lang="en-US" sz="10500" spc="-158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WaferEngine — Weekly Update</a:t>
            </a:r>
          </a:p>
        </p:txBody>
      </p:sp>
      <p:sp>
        <p:nvSpPr>
          <p:cNvPr id="3" name="Text 1"/>
          <p:cNvSpPr/>
          <p:nvPr/>
        </p:nvSpPr>
        <p:spPr>
          <a:xfrm>
            <a:off x="1371600" y="5524500"/>
            <a:ext cx="9723526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31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 reuse foundation: PE-internal KV reuse (S6a) — prefill warm-start lands, and both kernels are measured on real WSE-3 for the first time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9250710"/>
            <a:ext cx="1866632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Xu</a:t>
            </a:r>
          </a:p>
        </p:txBody>
      </p:sp>
      <p:sp>
        <p:nvSpPr>
          <p:cNvPr id="5" name="Text 3"/>
          <p:cNvSpPr/>
          <p:nvPr/>
        </p:nvSpPr>
        <p:spPr>
          <a:xfrm>
            <a:off x="3239988" y="9250710"/>
            <a:ext cx="13335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468588" y="9250710"/>
            <a:ext cx="151007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July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39" y="1528763"/>
            <a:ext cx="17132677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5700" spc="-57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— and where we are</a:t>
            </a:r>
          </a:p>
        </p:txBody>
      </p:sp>
      <p:sp>
        <p:nvSpPr>
          <p:cNvPr id="3" name="Text 1"/>
          <p:cNvSpPr/>
          <p:nvPr/>
        </p:nvSpPr>
        <p:spPr>
          <a:xfrm>
            <a:off x="1344168" y="3722340"/>
            <a:ext cx="15453359" cy="3249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 — tiered KV cache management (in-PE → idle-PE → off-chip) plus a policy control plane, under a hard on-chip SRAM budget.</a:t>
            </a:r>
          </a:p>
          <a:p>
            <a:pPr algn="l" indent="0" marL="0">
              <a:lnSpc>
                <a:spcPct val="123810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</a:p>
          <a:p>
            <a:pPr algn="l" indent="0" marL="0">
              <a:lnSpc>
                <a:spcPct val="123810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  Reuse foundation — preserve and key-retrieve KV across consecutive requests.   ◀  WE ARE HERE</a:t>
            </a:r>
          </a:p>
          <a:p>
            <a:pPr algn="l" indent="0" marL="0">
              <a:lnSpc>
                <a:spcPct val="123810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 Single-card in-place reuse — skip prefill on a prefix hit; requests-per-bank capacity curve.</a:t>
            </a:r>
          </a:p>
          <a:p>
            <a:pPr algn="l" indent="0" marL="0">
              <a:lnSpc>
                <a:spcPct val="123810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 force-decode vs ship-to-prefill — an A/B cost model, validated on a multi-turn trace.</a:t>
            </a:r>
          </a:p>
          <a:p>
            <a:pPr algn="l" indent="0" marL="0">
              <a:lnSpc>
                <a:spcPct val="123810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 Idle-PE second tier — park KV on free PEs and reload it; quantify the real cost.</a:t>
            </a:r>
          </a:p>
          <a:p>
            <a:pPr algn="l" indent="0" marL="0">
              <a:lnSpc>
                <a:spcPct val="123810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 Off-chip retained pool + eviction — and lift the ~512-token single-pass prefill cap.</a:t>
            </a:r>
          </a:p>
          <a:p>
            <a:pPr algn="l" indent="0" marL="0">
              <a:lnSpc>
                <a:spcPct val="123810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 Unified control plane — one min-waste policy across all tiers, ablatable and explainable.</a:t>
            </a:r>
          </a:p>
          <a:p>
            <a:pPr algn="l" indent="0" marL="0">
              <a:lnSpc>
                <a:spcPct val="123810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  Scenario evaluation — an agentic workload, plus an area/power-equivalent GPU comparison.</a:t>
            </a:r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9746010"/>
            <a:ext cx="2201912" cy="1599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39" y="1528763"/>
            <a:ext cx="17132677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5700" spc="-57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actually changed</a:t>
            </a:r>
          </a:p>
        </p:txBody>
      </p:sp>
      <p:sp>
        <p:nvSpPr>
          <p:cNvPr id="3" name="Text 1"/>
          <p:cNvSpPr/>
          <p:nvPr/>
        </p:nvSpPr>
        <p:spPr>
          <a:xfrm>
            <a:off x="1371600" y="3181350"/>
            <a:ext cx="80048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545"/>
              </a:lnSpc>
              <a:buNone/>
            </a:pPr>
            <a:r>
              <a:rPr lang="en-US" sz="3600" spc="-54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 — start from chunk k, not chunk 0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3762375"/>
            <a:ext cx="7495413" cy="1724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52941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 processes a prompt in fixed-size chunks. The key observation is that the K/V banks already physically hold the previous request's chunks — the per-request reset only rewound a counter, it never cleared the data.
So a request now carries a start_chunk: keep the resident chunks 0..k-1, compute only the suffix, and have the host stream only the suffix tokens.
Constraint: the shared prefix must be chunk-aligned, otherwise the boundary chunk has to be recomputed.</a:t>
            </a:r>
          </a:p>
        </p:txBody>
      </p:sp>
      <p:sp>
        <p:nvSpPr>
          <p:cNvPr id="5" name="Text 3"/>
          <p:cNvSpPr/>
          <p:nvPr/>
        </p:nvSpPr>
        <p:spPr>
          <a:xfrm>
            <a:off x="9639300" y="3181350"/>
            <a:ext cx="80048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545"/>
              </a:lnSpc>
              <a:buNone/>
            </a:pPr>
            <a:r>
              <a:rPr lang="en-US" sz="3600" spc="-54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— retain instead of rewind</a:t>
            </a:r>
          </a:p>
        </p:txBody>
      </p:sp>
      <p:sp>
        <p:nvSpPr>
          <p:cNvPr id="6" name="Text 4"/>
          <p:cNvSpPr/>
          <p:nvPr/>
        </p:nvSpPr>
        <p:spPr>
          <a:xfrm>
            <a:off x="9639300" y="3762375"/>
            <a:ext cx="7495413" cy="1228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52941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idea, the same mechanism. Decode's per-request reset rewound the KV write counter, throwing away the previous request's KV while it was still sitting in SRAM.
Retain gates that rewind: continue the position encoding, and recompute the remaining steps from the retained length.
The host then stops re-shipping the prefix each round and sends a metadata-only message instead.</a:t>
            </a:r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9746010"/>
            <a:ext cx="2201912" cy="1599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39" y="1528763"/>
            <a:ext cx="17132677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5700" spc="-57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 — reusing half the prompt saves less than a quarter of the time</a:t>
            </a:r>
          </a:p>
        </p:txBody>
      </p:sp>
      <p:sp>
        <p:nvSpPr>
          <p:cNvPr id="3" name="Shape 1"/>
          <p:cNvSpPr/>
          <p:nvPr/>
        </p:nvSpPr>
        <p:spPr>
          <a:xfrm>
            <a:off x="1371600" y="4443115"/>
            <a:ext cx="306853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3875763"/>
            <a:ext cx="2893894" cy="19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2020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</a:t>
            </a:r>
          </a:p>
        </p:txBody>
      </p:sp>
      <p:sp>
        <p:nvSpPr>
          <p:cNvPr id="5" name="Shape 3"/>
          <p:cNvSpPr/>
          <p:nvPr/>
        </p:nvSpPr>
        <p:spPr>
          <a:xfrm>
            <a:off x="4440138" y="4443115"/>
            <a:ext cx="306645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706838" y="3875763"/>
            <a:ext cx="2625048" cy="19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2020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</a:t>
            </a:r>
          </a:p>
        </p:txBody>
      </p:sp>
      <p:sp>
        <p:nvSpPr>
          <p:cNvPr id="7" name="Shape 5"/>
          <p:cNvSpPr/>
          <p:nvPr/>
        </p:nvSpPr>
        <p:spPr>
          <a:xfrm>
            <a:off x="7506593" y="4443115"/>
            <a:ext cx="2162324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773293" y="3875763"/>
            <a:ext cx="1705124" cy="19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2020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</a:p>
        </p:txBody>
      </p:sp>
      <p:sp>
        <p:nvSpPr>
          <p:cNvPr id="9" name="Shape 7"/>
          <p:cNvSpPr/>
          <p:nvPr/>
        </p:nvSpPr>
        <p:spPr>
          <a:xfrm>
            <a:off x="9668917" y="4443115"/>
            <a:ext cx="256029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935617" y="3875763"/>
            <a:ext cx="2103699" cy="19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2020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</a:t>
            </a:r>
          </a:p>
        </p:txBody>
      </p:sp>
      <p:sp>
        <p:nvSpPr>
          <p:cNvPr id="11" name="Shape 9"/>
          <p:cNvSpPr/>
          <p:nvPr/>
        </p:nvSpPr>
        <p:spPr>
          <a:xfrm>
            <a:off x="12229207" y="4443115"/>
            <a:ext cx="400139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2495907" y="3875763"/>
            <a:ext cx="3854735" cy="19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2020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</a:t>
            </a:r>
          </a:p>
        </p:txBody>
      </p:sp>
      <p:sp>
        <p:nvSpPr>
          <p:cNvPr id="13" name="Shape 11"/>
          <p:cNvSpPr/>
          <p:nvPr/>
        </p:nvSpPr>
        <p:spPr>
          <a:xfrm>
            <a:off x="1371600" y="5433715"/>
            <a:ext cx="306853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4843165"/>
            <a:ext cx="289389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</a:p>
        </p:txBody>
      </p:sp>
      <p:sp>
        <p:nvSpPr>
          <p:cNvPr id="15" name="Shape 13"/>
          <p:cNvSpPr/>
          <p:nvPr/>
        </p:nvSpPr>
        <p:spPr>
          <a:xfrm>
            <a:off x="4440138" y="5433715"/>
            <a:ext cx="306645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706838" y="4843165"/>
            <a:ext cx="26250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0 %</a:t>
            </a:r>
          </a:p>
        </p:txBody>
      </p:sp>
      <p:sp>
        <p:nvSpPr>
          <p:cNvPr id="17" name="Shape 15"/>
          <p:cNvSpPr/>
          <p:nvPr/>
        </p:nvSpPr>
        <p:spPr>
          <a:xfrm>
            <a:off x="7506593" y="5433715"/>
            <a:ext cx="2162324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773293" y="4843165"/>
            <a:ext cx="17051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1001.5 ms</a:t>
            </a:r>
          </a:p>
        </p:txBody>
      </p:sp>
      <p:sp>
        <p:nvSpPr>
          <p:cNvPr id="19" name="Shape 17"/>
          <p:cNvSpPr/>
          <p:nvPr/>
        </p:nvSpPr>
        <p:spPr>
          <a:xfrm>
            <a:off x="9668917" y="5433715"/>
            <a:ext cx="256029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935617" y="4843165"/>
            <a:ext cx="21036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</a:p>
        </p:txBody>
      </p:sp>
      <p:sp>
        <p:nvSpPr>
          <p:cNvPr id="21" name="Shape 19"/>
          <p:cNvSpPr/>
          <p:nvPr/>
        </p:nvSpPr>
        <p:spPr>
          <a:xfrm>
            <a:off x="12229207" y="5433715"/>
            <a:ext cx="400139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2495907" y="4843165"/>
            <a:ext cx="385473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8,180 tok/s</a:t>
            </a:r>
          </a:p>
        </p:txBody>
      </p:sp>
      <p:sp>
        <p:nvSpPr>
          <p:cNvPr id="23" name="Shape 21"/>
          <p:cNvSpPr/>
          <p:nvPr/>
        </p:nvSpPr>
        <p:spPr>
          <a:xfrm>
            <a:off x="1371600" y="6424315"/>
            <a:ext cx="306853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5833765"/>
            <a:ext cx="289389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chunks</a:t>
            </a:r>
          </a:p>
        </p:txBody>
      </p:sp>
      <p:sp>
        <p:nvSpPr>
          <p:cNvPr id="25" name="Shape 23"/>
          <p:cNvSpPr/>
          <p:nvPr/>
        </p:nvSpPr>
        <p:spPr>
          <a:xfrm>
            <a:off x="4440138" y="6424315"/>
            <a:ext cx="306645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706838" y="5833765"/>
            <a:ext cx="26250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25 %</a:t>
            </a:r>
          </a:p>
        </p:txBody>
      </p:sp>
      <p:sp>
        <p:nvSpPr>
          <p:cNvPr id="27" name="Shape 25"/>
          <p:cNvSpPr/>
          <p:nvPr/>
        </p:nvSpPr>
        <p:spPr>
          <a:xfrm>
            <a:off x="7506593" y="6424315"/>
            <a:ext cx="2162324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773293" y="5833765"/>
            <a:ext cx="17051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924.1 ms</a:t>
            </a:r>
          </a:p>
        </p:txBody>
      </p:sp>
      <p:sp>
        <p:nvSpPr>
          <p:cNvPr id="29" name="Shape 27"/>
          <p:cNvSpPr/>
          <p:nvPr/>
        </p:nvSpPr>
        <p:spPr>
          <a:xfrm>
            <a:off x="9668917" y="6424315"/>
            <a:ext cx="256029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935617" y="5833765"/>
            <a:ext cx="21036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−7.7 %</a:t>
            </a:r>
          </a:p>
        </p:txBody>
      </p:sp>
      <p:sp>
        <p:nvSpPr>
          <p:cNvPr id="31" name="Shape 29"/>
          <p:cNvSpPr/>
          <p:nvPr/>
        </p:nvSpPr>
        <p:spPr>
          <a:xfrm>
            <a:off x="12229207" y="6424315"/>
            <a:ext cx="400139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2495907" y="5833765"/>
            <a:ext cx="385473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8,865 tok/s</a:t>
            </a:r>
          </a:p>
        </p:txBody>
      </p:sp>
      <p:sp>
        <p:nvSpPr>
          <p:cNvPr id="33" name="Shape 31"/>
          <p:cNvSpPr/>
          <p:nvPr/>
        </p:nvSpPr>
        <p:spPr>
          <a:xfrm>
            <a:off x="1371600" y="7414915"/>
            <a:ext cx="306853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371600" y="6824365"/>
            <a:ext cx="289389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chunks</a:t>
            </a:r>
          </a:p>
        </p:txBody>
      </p:sp>
      <p:sp>
        <p:nvSpPr>
          <p:cNvPr id="35" name="Shape 33"/>
          <p:cNvSpPr/>
          <p:nvPr/>
        </p:nvSpPr>
        <p:spPr>
          <a:xfrm>
            <a:off x="4440138" y="7414915"/>
            <a:ext cx="306645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706838" y="6824365"/>
            <a:ext cx="26250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50 %</a:t>
            </a:r>
          </a:p>
        </p:txBody>
      </p:sp>
      <p:sp>
        <p:nvSpPr>
          <p:cNvPr id="37" name="Shape 35"/>
          <p:cNvSpPr/>
          <p:nvPr/>
        </p:nvSpPr>
        <p:spPr>
          <a:xfrm>
            <a:off x="7506593" y="7414915"/>
            <a:ext cx="2162324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773293" y="6824365"/>
            <a:ext cx="17051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773.3 ms</a:t>
            </a:r>
          </a:p>
        </p:txBody>
      </p:sp>
      <p:sp>
        <p:nvSpPr>
          <p:cNvPr id="39" name="Shape 37"/>
          <p:cNvSpPr/>
          <p:nvPr/>
        </p:nvSpPr>
        <p:spPr>
          <a:xfrm>
            <a:off x="9668917" y="7414915"/>
            <a:ext cx="256029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935617" y="6824365"/>
            <a:ext cx="21036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−22.8 %</a:t>
            </a:r>
          </a:p>
        </p:txBody>
      </p:sp>
      <p:sp>
        <p:nvSpPr>
          <p:cNvPr id="41" name="Shape 39"/>
          <p:cNvSpPr/>
          <p:nvPr/>
        </p:nvSpPr>
        <p:spPr>
          <a:xfrm>
            <a:off x="12229207" y="7414915"/>
            <a:ext cx="400139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2495907" y="6824365"/>
            <a:ext cx="385473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10,594 tok/s</a:t>
            </a:r>
          </a:p>
        </p:txBody>
      </p:sp>
      <p:sp>
        <p:nvSpPr>
          <p:cNvPr id="43" name="Shape 41"/>
          <p:cNvSpPr/>
          <p:nvPr/>
        </p:nvSpPr>
        <p:spPr>
          <a:xfrm>
            <a:off x="1371600" y="8405515"/>
            <a:ext cx="306853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371600" y="7814965"/>
            <a:ext cx="289389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chunks</a:t>
            </a:r>
          </a:p>
        </p:txBody>
      </p:sp>
      <p:sp>
        <p:nvSpPr>
          <p:cNvPr id="45" name="Shape 43"/>
          <p:cNvSpPr/>
          <p:nvPr/>
        </p:nvSpPr>
        <p:spPr>
          <a:xfrm>
            <a:off x="4440138" y="8405515"/>
            <a:ext cx="306645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706838" y="7814965"/>
            <a:ext cx="26250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75 %</a:t>
            </a:r>
          </a:p>
        </p:txBody>
      </p:sp>
      <p:sp>
        <p:nvSpPr>
          <p:cNvPr id="47" name="Shape 45"/>
          <p:cNvSpPr/>
          <p:nvPr/>
        </p:nvSpPr>
        <p:spPr>
          <a:xfrm>
            <a:off x="7506593" y="8405515"/>
            <a:ext cx="2162324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773293" y="7814965"/>
            <a:ext cx="17051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549.2 ms</a:t>
            </a:r>
          </a:p>
        </p:txBody>
      </p:sp>
      <p:sp>
        <p:nvSpPr>
          <p:cNvPr id="49" name="Shape 47"/>
          <p:cNvSpPr/>
          <p:nvPr/>
        </p:nvSpPr>
        <p:spPr>
          <a:xfrm>
            <a:off x="9668917" y="8405515"/>
            <a:ext cx="256029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9935617" y="7814965"/>
            <a:ext cx="21036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−45.2 %</a:t>
            </a:r>
          </a:p>
        </p:txBody>
      </p:sp>
      <p:sp>
        <p:nvSpPr>
          <p:cNvPr id="51" name="Shape 49"/>
          <p:cNvSpPr/>
          <p:nvPr/>
        </p:nvSpPr>
        <p:spPr>
          <a:xfrm>
            <a:off x="12229207" y="8405515"/>
            <a:ext cx="400139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2495907" y="7814965"/>
            <a:ext cx="385473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14,916 tok/s</a:t>
            </a:r>
          </a:p>
        </p:txBody>
      </p:sp>
      <p:pic>
        <p:nvPicPr>
          <p:cNvPr id="5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9746010"/>
            <a:ext cx="2350443" cy="159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8412480"/>
            <a:ext cx="15453359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7742"/>
              </a:lnSpc>
              <a:buNone/>
            </a:pPr>
            <a:r>
              <a:rPr lang="en-US" sz="19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8,192-token prompt on 524,288 PEs; pure on-device request latency, host work excluded. All reuse rounds byte-identical to the cold round.   —   Why sub-linear: a chunk's cost grows with how much text precedes it (the last chunk costs about 7× the first), so a reused prefix is always the cheapest part of the request. Planning that assumes “half the prompt cached = half the time saved” will overestimate the win.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341239" y="1528763"/>
            <a:ext cx="17132677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5700" spc="-57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 — M0 / S6a</a:t>
            </a:r>
          </a:p>
        </p:txBody>
      </p:sp>
      <p:sp>
        <p:nvSpPr>
          <p:cNvPr id="3" name="Text 1"/>
          <p:cNvSpPr/>
          <p:nvPr/>
        </p:nvSpPr>
        <p:spPr>
          <a:xfrm>
            <a:off x="1344168" y="3017520"/>
            <a:ext cx="15453359" cy="5669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S6a-decode  ✓  done earlier and re-confirmed: decode keeps KV across requests instead of discarding it; output matches the reference to the noise floor.</a:t>
            </a:r>
          </a:p>
          <a:p>
            <a:pPr algn="l" indent="0" marL="0">
              <a:lnSpc>
                <a:spcPct val="123810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S6a-prefill ✓  the week's main deliverable: a request can now start from a resident prefix instead of from token 0. Implemented, and verified at full scale.</a:t>
            </a:r>
          </a:p>
          <a:p>
            <a:pPr algn="l" indent="0" marL="0">
              <a:lnSpc>
                <a:spcPct val="123810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</a:p>
          <a:p>
            <a:pPr algn="l" indent="0" marL="0">
              <a:lnSpc>
                <a:spcPct val="123810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Along the way we found a hardware-level trap: a fabric transfer whose length is odd never signals completion on WSE-3 — it just hangs, with no compile error. Reproduced in a small standalone test, then fixed by padding the per-request metadata to an even width.</a:t>
            </a:r>
          </a:p>
          <a:p>
            <a:pPr algn="l" indent="0" marL="0">
              <a:lnSpc>
                <a:spcPct val="123810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correctness bugs in the warm-start path were found and fixed — all three would have produced plausible-looking but wrong output rather than an obvious failure.</a:t>
            </a:r>
          </a:p>
          <a:p>
            <a:pPr algn="l" indent="0" marL="0">
              <a:lnSpc>
                <a:spcPct val="123810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</a:p>
          <a:p>
            <a:pPr algn="l" indent="0" marL="0">
              <a:lnSpc>
                <a:spcPct val="123810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real-scale device runs: 524,288 PEs, 28 layers, 8,192 tokens. Every reuse round is byte-identical to the cold round, so the saving is real, not an accuracy trade.</a:t>
            </a:r>
          </a:p>
          <a:p>
            <a:pPr algn="l" indent="0" marL="0">
              <a:lnSpc>
                <a:spcPct val="123810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measured for both kernels — next two slides.</a:t>
            </a:r>
          </a:p>
          <a:p>
            <a:pPr algn="l" indent="0" marL="0">
              <a:lnSpc>
                <a:spcPct val="123810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</a:p>
          <a:p>
            <a:pPr algn="l" indent="0" marL="0">
              <a:lnSpc>
                <a:spcPct val="123810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Open: a longer-sequence (16,384-token) sweep is running now; code is not committed yet, pending review.</a:t>
            </a:r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746010"/>
            <a:ext cx="2201912" cy="15999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341239" y="1528763"/>
            <a:ext cx="17132677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5700" spc="-57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— the win is skipping whole steps, not making steps cheaper</a:t>
            </a:r>
          </a:p>
        </p:txBody>
      </p:sp>
      <p:sp>
        <p:nvSpPr>
          <p:cNvPr id="3" name="Shape 1"/>
          <p:cNvSpPr/>
          <p:nvPr/>
        </p:nvSpPr>
        <p:spPr>
          <a:xfrm>
            <a:off x="1371600" y="4443115"/>
            <a:ext cx="306853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3875763"/>
            <a:ext cx="2893894" cy="19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2020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</a:t>
            </a:r>
          </a:p>
        </p:txBody>
      </p:sp>
      <p:sp>
        <p:nvSpPr>
          <p:cNvPr id="5" name="Shape 3"/>
          <p:cNvSpPr/>
          <p:nvPr/>
        </p:nvSpPr>
        <p:spPr>
          <a:xfrm>
            <a:off x="4440138" y="4443115"/>
            <a:ext cx="306645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706838" y="3875763"/>
            <a:ext cx="2625048" cy="19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2020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</a:t>
            </a:r>
          </a:p>
        </p:txBody>
      </p:sp>
      <p:sp>
        <p:nvSpPr>
          <p:cNvPr id="7" name="Shape 5"/>
          <p:cNvSpPr/>
          <p:nvPr/>
        </p:nvSpPr>
        <p:spPr>
          <a:xfrm>
            <a:off x="7506593" y="4443115"/>
            <a:ext cx="2162324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773293" y="3875763"/>
            <a:ext cx="1705124" cy="19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2020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</a:p>
        </p:txBody>
      </p:sp>
      <p:sp>
        <p:nvSpPr>
          <p:cNvPr id="9" name="Shape 7"/>
          <p:cNvSpPr/>
          <p:nvPr/>
        </p:nvSpPr>
        <p:spPr>
          <a:xfrm>
            <a:off x="9668917" y="4443115"/>
            <a:ext cx="256029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935617" y="3875763"/>
            <a:ext cx="2103699" cy="19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2020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</a:p>
        </p:txBody>
      </p:sp>
      <p:sp>
        <p:nvSpPr>
          <p:cNvPr id="11" name="Shape 9"/>
          <p:cNvSpPr/>
          <p:nvPr/>
        </p:nvSpPr>
        <p:spPr>
          <a:xfrm>
            <a:off x="12229207" y="4443115"/>
            <a:ext cx="400139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2495907" y="3875763"/>
            <a:ext cx="3854735" cy="19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2020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</a:t>
            </a:r>
          </a:p>
        </p:txBody>
      </p:sp>
      <p:sp>
        <p:nvSpPr>
          <p:cNvPr id="13" name="Shape 11"/>
          <p:cNvSpPr/>
          <p:nvPr/>
        </p:nvSpPr>
        <p:spPr>
          <a:xfrm>
            <a:off x="1371600" y="5433715"/>
            <a:ext cx="306853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4843165"/>
            <a:ext cx="289389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round</a:t>
            </a:r>
          </a:p>
        </p:txBody>
      </p:sp>
      <p:sp>
        <p:nvSpPr>
          <p:cNvPr id="15" name="Shape 13"/>
          <p:cNvSpPr/>
          <p:nvPr/>
        </p:nvSpPr>
        <p:spPr>
          <a:xfrm>
            <a:off x="4440138" y="5433715"/>
            <a:ext cx="306645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706838" y="4843165"/>
            <a:ext cx="26250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reuse</a:t>
            </a:r>
          </a:p>
        </p:txBody>
      </p:sp>
      <p:sp>
        <p:nvSpPr>
          <p:cNvPr id="17" name="Shape 15"/>
          <p:cNvSpPr/>
          <p:nvPr/>
        </p:nvSpPr>
        <p:spPr>
          <a:xfrm>
            <a:off x="7506593" y="5433715"/>
            <a:ext cx="2162324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773293" y="4843165"/>
            <a:ext cx="17051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262.9 M cycles</a:t>
            </a:r>
          </a:p>
        </p:txBody>
      </p:sp>
      <p:sp>
        <p:nvSpPr>
          <p:cNvPr id="19" name="Shape 17"/>
          <p:cNvSpPr/>
          <p:nvPr/>
        </p:nvSpPr>
        <p:spPr>
          <a:xfrm>
            <a:off x="9668917" y="5433715"/>
            <a:ext cx="256029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935617" y="4843165"/>
            <a:ext cx="21036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</a:p>
        </p:txBody>
      </p:sp>
      <p:sp>
        <p:nvSpPr>
          <p:cNvPr id="21" name="Shape 19"/>
          <p:cNvSpPr/>
          <p:nvPr/>
        </p:nvSpPr>
        <p:spPr>
          <a:xfrm>
            <a:off x="12229207" y="5433715"/>
            <a:ext cx="400139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2495907" y="4843165"/>
            <a:ext cx="385473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redoes 512 discarded steps</a:t>
            </a:r>
          </a:p>
        </p:txBody>
      </p:sp>
      <p:sp>
        <p:nvSpPr>
          <p:cNvPr id="23" name="Shape 21"/>
          <p:cNvSpPr/>
          <p:nvPr/>
        </p:nvSpPr>
        <p:spPr>
          <a:xfrm>
            <a:off x="1371600" y="6424315"/>
            <a:ext cx="306853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5833765"/>
            <a:ext cx="289389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round</a:t>
            </a:r>
          </a:p>
        </p:txBody>
      </p:sp>
      <p:sp>
        <p:nvSpPr>
          <p:cNvPr id="25" name="Shape 23"/>
          <p:cNvSpPr/>
          <p:nvPr/>
        </p:nvSpPr>
        <p:spPr>
          <a:xfrm>
            <a:off x="4440138" y="6424315"/>
            <a:ext cx="306645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706838" y="5833765"/>
            <a:ext cx="26250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</a:t>
            </a:r>
          </a:p>
        </p:txBody>
      </p:sp>
      <p:sp>
        <p:nvSpPr>
          <p:cNvPr id="27" name="Shape 25"/>
          <p:cNvSpPr/>
          <p:nvPr/>
        </p:nvSpPr>
        <p:spPr>
          <a:xfrm>
            <a:off x="7506593" y="6424315"/>
            <a:ext cx="2162324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773293" y="5833765"/>
            <a:ext cx="17051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127.7 M cycles</a:t>
            </a:r>
          </a:p>
        </p:txBody>
      </p:sp>
      <p:sp>
        <p:nvSpPr>
          <p:cNvPr id="29" name="Shape 27"/>
          <p:cNvSpPr/>
          <p:nvPr/>
        </p:nvSpPr>
        <p:spPr>
          <a:xfrm>
            <a:off x="9668917" y="6424315"/>
            <a:ext cx="256029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935617" y="5833765"/>
            <a:ext cx="21036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−51.4 %</a:t>
            </a:r>
          </a:p>
        </p:txBody>
      </p:sp>
      <p:sp>
        <p:nvSpPr>
          <p:cNvPr id="31" name="Shape 29"/>
          <p:cNvSpPr/>
          <p:nvPr/>
        </p:nvSpPr>
        <p:spPr>
          <a:xfrm>
            <a:off x="12229207" y="6424315"/>
            <a:ext cx="400139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2495907" y="5833765"/>
            <a:ext cx="385473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only the 256 new steps</a:t>
            </a:r>
          </a:p>
        </p:txBody>
      </p:sp>
      <p:sp>
        <p:nvSpPr>
          <p:cNvPr id="33" name="Shape 31"/>
          <p:cNvSpPr/>
          <p:nvPr/>
        </p:nvSpPr>
        <p:spPr>
          <a:xfrm>
            <a:off x="1371600" y="7414915"/>
            <a:ext cx="306853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371600" y="6824365"/>
            <a:ext cx="289389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decode work</a:t>
            </a:r>
          </a:p>
        </p:txBody>
      </p:sp>
      <p:sp>
        <p:nvSpPr>
          <p:cNvPr id="35" name="Shape 33"/>
          <p:cNvSpPr/>
          <p:nvPr/>
        </p:nvSpPr>
        <p:spPr>
          <a:xfrm>
            <a:off x="4440138" y="7414915"/>
            <a:ext cx="306645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706838" y="6824365"/>
            <a:ext cx="26250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rounds</a:t>
            </a:r>
          </a:p>
        </p:txBody>
      </p:sp>
      <p:sp>
        <p:nvSpPr>
          <p:cNvPr id="37" name="Shape 35"/>
          <p:cNvSpPr/>
          <p:nvPr/>
        </p:nvSpPr>
        <p:spPr>
          <a:xfrm>
            <a:off x="7506593" y="7414915"/>
            <a:ext cx="2162324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773293" y="6824365"/>
            <a:ext cx="17051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390.6 → 255.4 M</a:t>
            </a:r>
          </a:p>
        </p:txBody>
      </p:sp>
      <p:sp>
        <p:nvSpPr>
          <p:cNvPr id="39" name="Shape 37"/>
          <p:cNvSpPr/>
          <p:nvPr/>
        </p:nvSpPr>
        <p:spPr>
          <a:xfrm>
            <a:off x="9668917" y="7414915"/>
            <a:ext cx="256029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935617" y="6824365"/>
            <a:ext cx="21036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−34.6 %</a:t>
            </a:r>
          </a:p>
        </p:txBody>
      </p:sp>
      <p:sp>
        <p:nvSpPr>
          <p:cNvPr id="41" name="Shape 39"/>
          <p:cNvSpPr/>
          <p:nvPr/>
        </p:nvSpPr>
        <p:spPr>
          <a:xfrm>
            <a:off x="12229207" y="7414915"/>
            <a:ext cx="400139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2495907" y="6824365"/>
            <a:ext cx="385473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predicted: 768 → 512 steps</a:t>
            </a:r>
          </a:p>
        </p:txBody>
      </p:sp>
      <p:sp>
        <p:nvSpPr>
          <p:cNvPr id="43" name="Shape 41"/>
          <p:cNvSpPr/>
          <p:nvPr/>
        </p:nvSpPr>
        <p:spPr>
          <a:xfrm>
            <a:off x="1371600" y="8405515"/>
            <a:ext cx="306853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371600" y="7814965"/>
            <a:ext cx="289389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Control: equal work</a:t>
            </a:r>
          </a:p>
        </p:txBody>
      </p:sp>
      <p:sp>
        <p:nvSpPr>
          <p:cNvPr id="45" name="Shape 43"/>
          <p:cNvSpPr/>
          <p:nvPr/>
        </p:nvSpPr>
        <p:spPr>
          <a:xfrm>
            <a:off x="4440138" y="8405515"/>
            <a:ext cx="306645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706838" y="7814965"/>
            <a:ext cx="26250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steps both</a:t>
            </a:r>
          </a:p>
        </p:txBody>
      </p:sp>
      <p:sp>
        <p:nvSpPr>
          <p:cNvPr id="47" name="Shape 45"/>
          <p:cNvSpPr/>
          <p:nvPr/>
        </p:nvSpPr>
        <p:spPr>
          <a:xfrm>
            <a:off x="7506593" y="8405515"/>
            <a:ext cx="2162324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773293" y="7814965"/>
            <a:ext cx="17051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126.2 vs 126.2 M</a:t>
            </a:r>
          </a:p>
        </p:txBody>
      </p:sp>
      <p:sp>
        <p:nvSpPr>
          <p:cNvPr id="49" name="Shape 47"/>
          <p:cNvSpPr/>
          <p:nvPr/>
        </p:nvSpPr>
        <p:spPr>
          <a:xfrm>
            <a:off x="9668917" y="8405515"/>
            <a:ext cx="256029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9935617" y="7814965"/>
            <a:ext cx="21036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+0.02 %</a:t>
            </a:r>
          </a:p>
        </p:txBody>
      </p:sp>
      <p:sp>
        <p:nvSpPr>
          <p:cNvPr id="51" name="Shape 49"/>
          <p:cNvSpPr/>
          <p:nvPr/>
        </p:nvSpPr>
        <p:spPr>
          <a:xfrm>
            <a:off x="12229207" y="8405515"/>
            <a:ext cx="400139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2495907" y="7814965"/>
            <a:ext cx="385473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retained step is not cheaper</a:t>
            </a:r>
          </a:p>
        </p:txBody>
      </p:sp>
      <p:pic>
        <p:nvPicPr>
          <p:cNvPr id="5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746010"/>
            <a:ext cx="2350443" cy="159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8412480"/>
            <a:ext cx="15453359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7742"/>
              </a:lnSpc>
              <a:buNone/>
            </a:pPr>
            <a:r>
              <a:rPr lang="en-US" sz="19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524,288 PEs; cycles at 1.1 GHz; timer starts after KV load, so this is compute only. The control row is the point: retain changes the cost of a decode step by 0.02 %. Its entire value is that steps already taken do not have to be taken again — which is why the comparison has to make the no-reuse arm redo the work it threw away.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2026-07-20T06:59:57Z</dcterms:created>
  <dcterms:modified xsi:type="dcterms:W3CDTF">2026-07-20T06:59:57Z</dcterms:modified>
</cp:coreProperties>
</file>