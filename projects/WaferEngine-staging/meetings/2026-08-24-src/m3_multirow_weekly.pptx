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week closes the M3 multi-row storage question with device data: both candidate designs (v4 GO-chain, v5 cascade) ran on real CS-3, both are modeled to &lt;1%, and the combined result upgrades the M2 resume tradeoff from a two-way A/B to a three-tier hierarchy.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Position: M1 in-PE reuse is done (tier 0). M2 priced recompute (A, 77.4 us/token) vs host reload (B, E5 ingress 46-338 ms) and found the crossing at 744 tokens. M3 (idle-PE tier) needs multi-row storage because one storage PE holds ~11K words: L=1024 already needs R=2 rows, L=8192 needs ~12. The single-row protocol was device-proven earlier (51 runs); the open question was HOW to coordinate R rows — and at what cost.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v4 needed direct switch-position byte writes (the tile_config library writes the wrong tx bit for RAMP - register-dump proven; byte = in_sel&lt;&lt;5|out_bits, S-&gt;RAMP=0x50). First-ever v4 silicon this week: GO chain, role reprogramming, and the byte writes all work at 256 PEs. v5's compute column is cmp-verified byte-identical to the single-row demo; every strip route is static so cross-color ordering hazards are impossible by construction. Editable source: docs/diagrams/m3-multirow-v4-vs-v5.excalidraw.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EPCC CS-3, distance=1, n=3 per cell, zero infrastructure failures across 81 runs; every cell reproduced to the cycle. E = words per PE (E=64 ~ L=1024 tokens at lpb=4; E=512 ~ L=8192). v4 metric = sum of per-band spans (excludes inter-epoch GO gaps, ~2*bh cycles each). dsd = owner-side bulk fabin-DSD reload receive (Exp-B mechanism). Crossover: each design pays an always-on R=1 premium over v3 (v4 ~ +9.6 cyc/word for role machinery, v5 ~ +1.6 for cascade branches), but for R&gt;=2 v4's cheap transit dominates: dsd E=512 R=4 is 30% faster than v5.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preregistered hypotheses were productively falsified: H1 (v5 R=1 reproduces v3 anchors) failed at +0.7-2.3% - the cascade's per-word branches do not compile out, so every implementation carries its own baseline. H2 (v4 overhead = per-epoch constant) failed in form - v4's delta is also per-forwarded-word, just router-priced. H3 (linearity in fwd_words) confirmed for E&gt;=64 in both designs. Fitting: taxes from delta-vs-fwd slopes over (R,E) grid; c_fwd_word=75.4 from four independent park-span decompositions; c_relay_word~28.8 from the dsd identity, cross-checked against task mode to 1.6%.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recurring dichotomy, now measured four independent ways: anything the CE touches per word costs ~13-75 cycles; anything router-level costs ~1-2. This is the design rule for every future on-chip transfer mechanism. Remaining as-built headroom: the storage-side park receive (43.3) and emit (13.0) are still CE-per-word; DSD-ifying them (the next Exp-B-style rung) is projected to cut the tier's marginal ~4-5x. The wire itself is 39x under-used as built.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Tier reading: T0 in-PE resident (free, scarcest SRAM) / T1 on-chip strip (swap ~ L/692 token-equivalents as-built; capacity R x ~11K words per column, columns parallel) / T2 recompute (only for tiny or un-parked history) / T2 DRAM (capacity overflow; shared edge IO, host in the loop). Caveats stated: delta floor is L_new=256 at 77.4 us/token - smaller L_new shrinks it; throughput view still wants the storage-DSD rung; concurrent-decode interference and round-gap fit are the remaining unmeasured items. Open design: a hybrid (v4 router transit + v5 static compute column) would dominate both at ~1.6 baseline + ~1.1 tax.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ot"/>
          <p:cNvSpPr/>
          <p:nvPr/>
        </p:nvSpPr>
        <p:spPr>
          <a:xfrm>
            <a:off x="987552" y="914400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" y="960120"/>
            <a:ext cx="54864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WaferEngine · CS-3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355848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6D28D9"/>
                </a:solidFill>
                <a:latin typeface="Arial"/>
              </a:rPr>
              <a:t>WEEKLY COLLABORATOR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005072"/>
            <a:ext cx="16312896" cy="2221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18181B"/>
                </a:solidFill>
                <a:latin typeface="Arial"/>
              </a:rPr>
              <a:t>On-Chip KV Offload as a Storage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6519672"/>
            <a:ext cx="12344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0" u="none" i="0">
                <a:solidFill>
                  <a:srgbClr val="52525B"/>
                </a:solidFill>
                <a:latin typeface="Arial"/>
              </a:rPr>
              <a:t>Two multi-row storage designs measured on real WSE-3; the on-chip tier now sits under both prior resume options.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8485632"/>
            <a:ext cx="1630375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8796528"/>
            <a:ext cx="3598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9125712"/>
            <a:ext cx="35981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Qwen3-1.7B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680" y="8796528"/>
            <a:ext cx="449585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680" y="9125712"/>
            <a:ext cx="44958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81 CS-3 runs, 0-cycle spread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1539" y="8796528"/>
            <a:ext cx="254740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1539" y="9125712"/>
            <a:ext cx="254740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M3 idle-PE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8941" y="8796528"/>
            <a:ext cx="2107763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8941" y="9125712"/>
            <a:ext cx="21077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2026-08-24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GOAL · WHERE WE ARE IN THE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M2 ended at recompute-vs-host with a 744-token crossing; M3 asks if idle PEs beat both</a:t>
            </a:r>
          </a:p>
        </p:txBody>
      </p:sp>
      <p:pic>
        <p:nvPicPr>
          <p:cNvPr id="4" name="figure" descr="recap_e1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803" y="3159251"/>
            <a:ext cx="5972393" cy="3943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376921"/>
            <a:ext cx="16312896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Last time (M2 E10/E10D, all device-measured): below H*=744 recompute wins, above it host reload wins — but reload rides shared edge IO and the host. M3's question: can idle on-chip PEs hold parked KV as a middle tier? This week: build the multi-row storage strip both candidate ways, measure both end-to-end, and price the 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IMPLEMENTATION · TWO COORDINATION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v4 reprograms compute roles per epoch; v5 keeps compute byte-identical and cascades inside the strip</a:t>
            </a:r>
          </a:p>
        </p:txBody>
      </p:sp>
      <p:pic>
        <p:nvPicPr>
          <p:cNvPr id="4" name="figure" descr="v4_vs_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436" y="3159251"/>
            <a:ext cx="12221126" cy="3943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376921"/>
            <a:ext cx="16312896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Both share the proven single-row protocol on one borrowed color. v4: bands park in sequential epochs, chained fully on-chip by a GO color; every tapped PE rewrites its switch positions per epoch. v5: row 0 keeps the nearest band and store-and-forwards deeper words on static per-hop colors; a STRIP_TAIL word rides behind the data as the causal end-of-stream. Reload returns over the same paths reversed.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RESULTS · 81 RUNS, EVERY CELL N=3 WITH 0-CYCLE SPREAD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Full park+reload cycle (cycles): v5 wins single-row, v4 wins every multi-row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159251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CONFIG (N=256)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13782" y="3159251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V3 SINGLE-ROW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0012" y="3159251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V4 GO-CHAIN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66242" y="3159251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V5 CASCADE</a:t>
            </a:r>
          </a:p>
        </p:txBody>
      </p:sp>
      <p:sp>
        <p:nvSpPr>
          <p:cNvPr id="8" name="rule"/>
          <p:cNvSpPr/>
          <p:nvPr/>
        </p:nvSpPr>
        <p:spPr>
          <a:xfrm>
            <a:off x="987552" y="3625596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863339"/>
            <a:ext cx="393420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task E=64 · R=1</a:t>
            </a:r>
          </a:p>
        </p:txBody>
      </p:sp>
      <p:sp>
        <p:nvSpPr>
          <p:cNvPr id="10" name="rule"/>
          <p:cNvSpPr/>
          <p:nvPr/>
        </p:nvSpPr>
        <p:spPr>
          <a:xfrm>
            <a:off x="5113782" y="3625596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3782" y="3863339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1,388,470</a:t>
            </a:r>
          </a:p>
        </p:txBody>
      </p:sp>
      <p:sp>
        <p:nvSpPr>
          <p:cNvPr id="12" name="rule"/>
          <p:cNvSpPr/>
          <p:nvPr/>
        </p:nvSpPr>
        <p:spPr>
          <a:xfrm>
            <a:off x="9240012" y="3625596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0012" y="3863339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1,535,920</a:t>
            </a:r>
          </a:p>
        </p:txBody>
      </p:sp>
      <p:sp>
        <p:nvSpPr>
          <p:cNvPr id="14" name="rule"/>
          <p:cNvSpPr/>
          <p:nvPr/>
        </p:nvSpPr>
        <p:spPr>
          <a:xfrm>
            <a:off x="13366242" y="3625596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66242" y="3863339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1,420,244</a:t>
            </a:r>
          </a:p>
        </p:txBody>
      </p:sp>
      <p:sp>
        <p:nvSpPr>
          <p:cNvPr id="16" name="rule"/>
          <p:cNvSpPr/>
          <p:nvPr/>
        </p:nvSpPr>
        <p:spPr>
          <a:xfrm>
            <a:off x="987552" y="4423409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661153"/>
            <a:ext cx="393420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task E=64 · R=2</a:t>
            </a:r>
          </a:p>
        </p:txBody>
      </p:sp>
      <p:sp>
        <p:nvSpPr>
          <p:cNvPr id="18" name="rule"/>
          <p:cNvSpPr/>
          <p:nvPr/>
        </p:nvSpPr>
        <p:spPr>
          <a:xfrm>
            <a:off x="5113782" y="4423409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3782" y="4661153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—</a:t>
            </a:r>
          </a:p>
        </p:txBody>
      </p:sp>
      <p:sp>
        <p:nvSpPr>
          <p:cNvPr id="20" name="rule"/>
          <p:cNvSpPr/>
          <p:nvPr/>
        </p:nvSpPr>
        <p:spPr>
          <a:xfrm>
            <a:off x="9240012" y="4423409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0012" y="4661153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1,544,946</a:t>
            </a:r>
          </a:p>
        </p:txBody>
      </p:sp>
      <p:sp>
        <p:nvSpPr>
          <p:cNvPr id="22" name="rule"/>
          <p:cNvSpPr/>
          <p:nvPr/>
        </p:nvSpPr>
        <p:spPr>
          <a:xfrm>
            <a:off x="13366242" y="4423409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66242" y="4661153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1,675,327</a:t>
            </a:r>
          </a:p>
        </p:txBody>
      </p:sp>
      <p:sp>
        <p:nvSpPr>
          <p:cNvPr id="24" name="rule"/>
          <p:cNvSpPr/>
          <p:nvPr/>
        </p:nvSpPr>
        <p:spPr>
          <a:xfrm>
            <a:off x="987552" y="5221223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5458967"/>
            <a:ext cx="393420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task E=64 · R=4</a:t>
            </a:r>
          </a:p>
        </p:txBody>
      </p:sp>
      <p:sp>
        <p:nvSpPr>
          <p:cNvPr id="26" name="rule"/>
          <p:cNvSpPr/>
          <p:nvPr/>
        </p:nvSpPr>
        <p:spPr>
          <a:xfrm>
            <a:off x="5113782" y="5221223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3782" y="5458967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—</a:t>
            </a:r>
          </a:p>
        </p:txBody>
      </p:sp>
      <p:sp>
        <p:nvSpPr>
          <p:cNvPr id="28" name="rule"/>
          <p:cNvSpPr/>
          <p:nvPr/>
        </p:nvSpPr>
        <p:spPr>
          <a:xfrm>
            <a:off x="9240012" y="5221223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0012" y="5458967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1,550,855</a:t>
            </a:r>
          </a:p>
        </p:txBody>
      </p:sp>
      <p:sp>
        <p:nvSpPr>
          <p:cNvPr id="30" name="rule"/>
          <p:cNvSpPr/>
          <p:nvPr/>
        </p:nvSpPr>
        <p:spPr>
          <a:xfrm>
            <a:off x="13366242" y="5221223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66242" y="5458967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1,812,526</a:t>
            </a:r>
          </a:p>
        </p:txBody>
      </p:sp>
      <p:sp>
        <p:nvSpPr>
          <p:cNvPr id="32" name="rule"/>
          <p:cNvSpPr/>
          <p:nvPr/>
        </p:nvSpPr>
        <p:spPr>
          <a:xfrm>
            <a:off x="987552" y="6019037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6256781"/>
            <a:ext cx="393420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dsd E=512 · R=1</a:t>
            </a:r>
          </a:p>
        </p:txBody>
      </p:sp>
      <p:sp>
        <p:nvSpPr>
          <p:cNvPr id="34" name="rule"/>
          <p:cNvSpPr/>
          <p:nvPr/>
        </p:nvSpPr>
        <p:spPr>
          <a:xfrm>
            <a:off x="5113782" y="6019037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13782" y="6256781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7,350,234</a:t>
            </a:r>
          </a:p>
        </p:txBody>
      </p:sp>
      <p:sp>
        <p:nvSpPr>
          <p:cNvPr id="36" name="rule"/>
          <p:cNvSpPr/>
          <p:nvPr/>
        </p:nvSpPr>
        <p:spPr>
          <a:xfrm>
            <a:off x="9240012" y="6019037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40012" y="6256781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8,542,434</a:t>
            </a:r>
          </a:p>
        </p:txBody>
      </p:sp>
      <p:sp>
        <p:nvSpPr>
          <p:cNvPr id="38" name="rule"/>
          <p:cNvSpPr/>
          <p:nvPr/>
        </p:nvSpPr>
        <p:spPr>
          <a:xfrm>
            <a:off x="13366242" y="6019037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66242" y="6256781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7,482,812</a:t>
            </a:r>
          </a:p>
        </p:txBody>
      </p:sp>
      <p:sp>
        <p:nvSpPr>
          <p:cNvPr id="40" name="rule"/>
          <p:cNvSpPr/>
          <p:nvPr/>
        </p:nvSpPr>
        <p:spPr>
          <a:xfrm>
            <a:off x="987552" y="6816851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7054595"/>
            <a:ext cx="393420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dsd E=512 · R=2</a:t>
            </a:r>
          </a:p>
        </p:txBody>
      </p:sp>
      <p:sp>
        <p:nvSpPr>
          <p:cNvPr id="42" name="rule"/>
          <p:cNvSpPr/>
          <p:nvPr/>
        </p:nvSpPr>
        <p:spPr>
          <a:xfrm>
            <a:off x="5113782" y="6816851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3782" y="7054595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—</a:t>
            </a:r>
          </a:p>
        </p:txBody>
      </p:sp>
      <p:sp>
        <p:nvSpPr>
          <p:cNvPr id="44" name="rule"/>
          <p:cNvSpPr/>
          <p:nvPr/>
        </p:nvSpPr>
        <p:spPr>
          <a:xfrm>
            <a:off x="9240012" y="6816851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40012" y="7054595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8,619,349</a:t>
            </a:r>
          </a:p>
        </p:txBody>
      </p:sp>
      <p:sp>
        <p:nvSpPr>
          <p:cNvPr id="46" name="rule"/>
          <p:cNvSpPr/>
          <p:nvPr/>
        </p:nvSpPr>
        <p:spPr>
          <a:xfrm>
            <a:off x="13366242" y="6816851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366242" y="7054595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10,669,498</a:t>
            </a:r>
          </a:p>
        </p:txBody>
      </p:sp>
      <p:sp>
        <p:nvSpPr>
          <p:cNvPr id="48" name="rule"/>
          <p:cNvSpPr/>
          <p:nvPr/>
        </p:nvSpPr>
        <p:spPr>
          <a:xfrm>
            <a:off x="987552" y="7614665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7852409"/>
            <a:ext cx="393420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dsd E=512 · R=4</a:t>
            </a:r>
          </a:p>
        </p:txBody>
      </p:sp>
      <p:sp>
        <p:nvSpPr>
          <p:cNvPr id="50" name="rule"/>
          <p:cNvSpPr/>
          <p:nvPr/>
        </p:nvSpPr>
        <p:spPr>
          <a:xfrm>
            <a:off x="5113782" y="7614665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13782" y="7852409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—</a:t>
            </a:r>
          </a:p>
        </p:txBody>
      </p:sp>
      <p:sp>
        <p:nvSpPr>
          <p:cNvPr id="52" name="rule"/>
          <p:cNvSpPr/>
          <p:nvPr/>
        </p:nvSpPr>
        <p:spPr>
          <a:xfrm>
            <a:off x="9240012" y="7614665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40012" y="7852409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8,675,026</a:t>
            </a:r>
          </a:p>
        </p:txBody>
      </p:sp>
      <p:sp>
        <p:nvSpPr>
          <p:cNvPr id="54" name="rule"/>
          <p:cNvSpPr/>
          <p:nvPr/>
        </p:nvSpPr>
        <p:spPr>
          <a:xfrm>
            <a:off x="13366242" y="7614665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366242" y="7852409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12,343,610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MODEL · ONE LAW, TWO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Both designs obey delta = tax x forwarded words — the tax is the mechanism, 25-35x apart</a:t>
            </a:r>
          </a:p>
        </p:txBody>
      </p:sp>
      <p:pic>
        <p:nvPicPr>
          <p:cNvPr id="4" name="figure" descr="fig_same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059" y="3159251"/>
            <a:ext cx="7377880" cy="3943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376921"/>
            <a:ext cx="16312896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Delta vs each design's own R=1 baseline collapses on the same axis, fwd_words = (N - N/R)·E. v4's tax is router-level transit (1.06/1.29 cyc/word, near wire speed); v5's is a CE data-task per forwarded word (30.7/47.0). The v5 dsd fit needs one extra constant (~157k cycles): strip rows emit their own block before relaying, which fast owners expose.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MODEL · THE COEFFICIENT LADDER (ALL DEVICE-FIT)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Every per-word cost in the tier, pinned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13539783" cy="1851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0" b="1" u="none" i="0">
                <a:solidFill>
                  <a:srgbClr val="6D28D9"/>
                </a:solidFill>
                <a:latin typeface="Arial"/>
              </a:rPr>
              <a:t>39 anchors, &lt;1%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30255" y="2404872"/>
            <a:ext cx="227019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three device-fit models in one file: v3 0.89% / v5 0.83% / v4 0.23% max error</a:t>
            </a:r>
          </a:p>
        </p:txBody>
      </p:sp>
      <p:sp>
        <p:nvSpPr>
          <p:cNvPr id="6" name="card"/>
          <p:cNvSpPr/>
          <p:nvPr/>
        </p:nvSpPr>
        <p:spPr>
          <a:xfrm>
            <a:off x="987552" y="4839462"/>
            <a:ext cx="3797046" cy="2148840"/>
          </a:xfrm>
          <a:prstGeom prst="roundRect">
            <a:avLst>
              <a:gd name="adj" fmla="val 6195"/>
            </a:avLst>
          </a:prstGeom>
          <a:solidFill>
            <a:srgbClr val="F2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177790"/>
            <a:ext cx="3028950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u="none" i="0">
                <a:solidFill>
                  <a:srgbClr val="6D28D9"/>
                </a:solidFill>
                <a:latin typeface="Arial"/>
              </a:rPr>
              <a:t>75.4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91606"/>
            <a:ext cx="3028950" cy="1307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c_fwd_word cyc/word: row-0 park receive + forward (receive-only was 43.3)</a:t>
            </a:r>
          </a:p>
        </p:txBody>
      </p:sp>
      <p:sp>
        <p:nvSpPr>
          <p:cNvPr id="9" name="card"/>
          <p:cNvSpPr/>
          <p:nvPr/>
        </p:nvSpPr>
        <p:spPr>
          <a:xfrm>
            <a:off x="5159502" y="4839462"/>
            <a:ext cx="3797046" cy="2148840"/>
          </a:xfrm>
          <a:prstGeom prst="roundRect">
            <a:avLst>
              <a:gd name="adj" fmla="val 6195"/>
            </a:avLst>
          </a:prstGeom>
          <a:solidFill>
            <a:srgbClr val="E9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43550" y="5177790"/>
            <a:ext cx="3028950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u="none" i="0">
                <a:solidFill>
                  <a:srgbClr val="1D4ED8"/>
                </a:solidFill>
                <a:latin typeface="Arial"/>
              </a:rPr>
              <a:t>28.8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3550" y="5991606"/>
            <a:ext cx="3028950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c_relay_word cyc/word: row-0 reload relay (bare emit loop: 13.0)</a:t>
            </a:r>
          </a:p>
        </p:txBody>
      </p:sp>
      <p:sp>
        <p:nvSpPr>
          <p:cNvPr id="12" name="card"/>
          <p:cNvSpPr/>
          <p:nvPr/>
        </p:nvSpPr>
        <p:spPr>
          <a:xfrm>
            <a:off x="9331452" y="4839462"/>
            <a:ext cx="3797046" cy="2148840"/>
          </a:xfrm>
          <a:prstGeom prst="roundRect">
            <a:avLst>
              <a:gd name="adj" fmla="val 6195"/>
            </a:avLst>
          </a:prstGeom>
          <a:solidFill>
            <a:srgbClr val="E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0" y="5177790"/>
            <a:ext cx="3028950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u="none" i="0">
                <a:solidFill>
                  <a:srgbClr val="047857"/>
                </a:solidFill>
                <a:latin typeface="Arial"/>
              </a:rPr>
              <a:t>1.1 vs 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0" y="5991606"/>
            <a:ext cx="3028950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multirow tax cyc/word, task: v4 router transit vs v5 CE store-and-forward</a:t>
            </a:r>
          </a:p>
        </p:txBody>
      </p:sp>
      <p:sp>
        <p:nvSpPr>
          <p:cNvPr id="15" name="card"/>
          <p:cNvSpPr/>
          <p:nvPr/>
        </p:nvSpPr>
        <p:spPr>
          <a:xfrm>
            <a:off x="13503402" y="4839462"/>
            <a:ext cx="3797046" cy="2148840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87450" y="5177790"/>
            <a:ext cx="3028950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u="none" i="0">
                <a:solidFill>
                  <a:srgbClr val="18181B"/>
                </a:solidFill>
                <a:latin typeface="Arial"/>
              </a:rPr>
              <a:t>+9.6 / +1.6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87450" y="5991606"/>
            <a:ext cx="3028950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always-on R=1 premium over v3, cyc/word: v4 roles / v5 cascade branches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SO WHAT · THE TIER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on-chip tier sits under both old options: resume is now delta-dominated</a:t>
            </a:r>
          </a:p>
        </p:txBody>
      </p:sp>
      <p:pic>
        <p:nvPicPr>
          <p:cNvPr id="4" name="figure" descr="tier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893" y="3159251"/>
            <a:ext cx="7528213" cy="3943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376921"/>
            <a:ext cx="16312896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Same axes and setting as the M2 boundary figure, plus measured tier C: on-chip strip reload adds only 0.06-2.0 ms (13.0 cyc/word), 46-170x below host ingress I(H), flattening resume onto the ~20 ms L_new delta floor. The old 744-token crossing becomes a fallback choice for un-parked history. Next lever for resume latency is the delta/restart path, not the transfer.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Macintosh PowerPoint</Application>
  <PresentationFormat>Custom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2</cp:revision>
  <dcterms:created xsi:type="dcterms:W3CDTF">2026-07-20T11:59:30Z</dcterms:created>
  <dcterms:modified xsi:type="dcterms:W3CDTF">2026-07-20T11:59:59Z</dcterms:modified>
</cp:coreProperties>
</file>