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6"/>
    <p:sldId id="265" r:id="rId5"/>
    <p:sldId id="266" r:id="rId4"/>
    <p:sldId id="267" r:id="rId3"/>
    <p:sldId id="268" r:id="rId2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3.xml"/><Relationship Id="rId3" Type="http://schemas.openxmlformats.org/officeDocument/2006/relationships/slide" Target="slides/slide12.xml"/><Relationship Id="rId4" Type="http://schemas.openxmlformats.org/officeDocument/2006/relationships/slide" Target="slides/slide11.xml"/><Relationship Id="rId5" Type="http://schemas.openxmlformats.org/officeDocument/2006/relationships/slide" Target="slides/slide10.xml"/><Relationship Id="rId6" Type="http://schemas.openxmlformats.org/officeDocument/2006/relationships/slide" Target="slides/slide9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079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DRAFT for Le's review. Sources: three sessions — 4b-mini-ppl-debug (layout C), 4b-pp-demo (trace length distributions), 4b-wide-layer (GPU baseline, capacity, interconnect, positioning; Rounds 153–171). Every CS-3 tok/s on these slides is the number the source session reported, converted at 750 MHz; Le's 2026-09-07 rule is 0.85 GHz (multiply by 1.133). Ratios of cycle counts do not move with the clock; ratios against the H100 do. Decision pending.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three verdicts, one per section. (1) from the H100 baseline (4b-wide-layer Round 156). (2) from the trace re-cut (4b-pp-demo) against the analytical ladder (Rounds 153–154). (3) from layout C's single-layer measurement and 4b-wide-layer's phase-TSC profile (4b-mini-ppl-debug, conclusion doc §5b).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analyses/2026-09-12-trace-length-distributions/ (README, plot_length_distributions.py, results/lengths.json). Recomputed from the existing study files: gc-trace steps.csv, mooncake data/*.jsonl, servegen lengths.json. Per-turn Claude Code: decode p50 5.8K / p90 23.5K, new prefill p50 10.9K / p90 254K; per session max context p50 94K / p90 281K / p99 965K. ServeGen R1 reasoning share of output p50 76%; requests with output &gt; 2K are 16% of requests but 57% of decode tokens.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4b-pp-demo's conclusion for the on-chip KV debate. The 103K figure is 29K placed + ≈74K unplaced SRAM, derived not measured. Supporting measured numbers from the 09-03/09-05 captures (not new): 99% of Claude Code calls have a successor re-reading ≥95% of their KV within 10–18 s; not keeping it costs a median 13.9 s reload = 61% of the next call's latency; decode-stream concurrency p50 = 1 in both traces.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4b-pp-demo, memory/inbox/2026-09-12-trace-length-distributions-and-subagent-vs-main.md. Subagent input is 3× smaller but still 10^5-scale — it does not fit 29K either. Output is essentially one tool call with no visible reasoning. Behaviour rows (output share of traffic, intra-turn gap, calls per session, output by model) are in the appendix.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4b-pp-demo. The 309K appeared in the 09-04/09-05 captures and last week's deck; it is not wrong, it is the main-thread-only cut. 197K is the all-calls median and is the number 4b-wide-layer's capacity and PD-split analyses use.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docs/reports/2026-09-13-sglang-qwen3-4b-h100-baseline.md and 4b-wide-layer Round 156. CS-3 column: decode cycles/step = 681K + 16.1 × context, converted at 750 MHz by the source session. At 0.85 GHz the CS-3 rates rise by 1.133 and the leads become ~5.4× / 4.5× / 2.6× shallower; the batched and prefill deficits shrink to ~2.0× and ~6×. Le to decide which clock the deck uses. Finding 10 (prefill behind) goes from extrapolated to measured.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4b-wide-layer Round 156. The single-stream decode lead (4.0–4.7×) grows with context — and the workload with long context is the one that does not fit.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4b-wide-layer Rounds 153–154. The far pool at 167K is the score-buffer wall, not a storage limit: fp8 storage alone allows ≈225K, and chunked scoring (lever C3, owned by the 4b-chunked-softmax session) removes the wall. The yes/no columns compare each ceiling against the quoted trace percentile; they are my reading of the numbers the session gave, not a table the session produced.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4b-wide-layer Round 153. The sentence is the session's; the reopener is Round 154's.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4b-wide-layer Round 156/157. The 175 µs is measured; the extension is arithmetic. tok/s at 750 MHz as reported.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4b-wide-layer Round 159. Fitting 29K of KV into half a token budget needs ≈8 TB/s — the link is 53× short — and the H100 reads the same KV 22× faster from HBM. This is a bandwidth-class fact, not an engineering gap. The earlier 171 µs crossing figure was the public API and is retracted (see Corrections).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4b-wide-layer Round 159. The 6–10 µs round trip is Le's interconnect figure plus turnaround, unmeasured here. AFD = Attention–FFN Disaggregation, NVIDIA's split in which the GPU holds prefill and decode attention plus the whole KV and the LPX side does FFN/MoE.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4b-wide-layer Round 171. Modelling: CS-3 decode = (681K + 16.1·C) cycles at 750 MHz; H100 decode = 4.60 + 0.0489·C/1K ms (fit to measured 1K–32K); H100 prefill measured, held at the 32K rate beyond 32K (optimistic for H100). GPU-streamed = KV stays on the GPU and the whole cache crosses per token. PD-split's decode side is the wafer, so it keeps the 29K ceiling. Best in every row here is PD-split.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4b-wide-layer Round 171. PD-split's margin over CS-3 alone: 1.03× at 208 tokens, 1.5× at 2.4K, 2.3× at 6.9K, 2.4× at 17K, 3.9× at 27K. Its weakest win is long-prefix/tiny-decode (classification), where the H100 alone is within 8%.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4b-wide-layer Round 171 and Round 168. H100 prefill beyond 32K is held at the 32K rate, so these two H100 times are understated. The GPU-streamed column is worse than the H100 alone in every row of the spectrum except the 680-token one, and 8–13× worse above 29K: 'keep KV on the GPU' is dead at every scale.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4b-wide-layer Rounds 169 and 171. The 3.2 GB/s was host-to-wafer memcpy through the public API, a different leg from the card-to-card interconnect.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4b-wide-layer Round 164. The frontier is two-dimensional and only the depth axis has been pushed.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4b-wide-layer Round 164. The 1.17 cyc/word figure came from the fused-block thread's simfab microbench, which also corrected a 13 cyc/word relay artefact. Two measurements still missing: the width axis (four measured points on height, none on width), and the wafer-edge round trip to a GPU (waits on Cerebras opening the API).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docs/diagrams/2026-09-13-layoutC-color-regions.png (.excalidraw editable). Northbound groups G4–G7 are mirrored proposals with no chip-fit, route, queue or SRAM validation. Purple columns are router-only activation bridges; orange x=645 is the KV feeder reservation.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docs/diagrams/2026-09-10-layoutC-tall-a2.png; geometry source of truth is docs/reports/2026-09-13-layoutC-implementation-handoff.md §3. Why the row shards are 32/10/16 and which tensor axis each stage shards: the hidden-reshard and weight-axes figures in the appendix.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docs/reports/2026-09-13-layoutC-single-layer-performance.md (+ evidence JSON). Three independent jobs per cell, 33 tokens each, first 4 dropped, median of 29 then median across jobs. All 1,013,760 output elements exact against each geometry's own operation-order oracle. Common boundary: START enqueue → all output rows complete on one collector PE; empty cost 8,231 cycles, not subtracted. Context sensitivity is tiny on both sides: +0.42 / +0.47 cycles per KV position. The bar chart is in the appendix.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docs/reports/2026-09-13-attn-vs-ffn-three-axes.png (footnote cropped for the slide; the FLOP-panel subtitle still collides with the 1200 tick — re-export pending). Numbers: ATTN 560 MACs / 11,886 cycles / 31.75 KB; FFN 1,140 MACs / 5,802 cycles / 29.77 KB. SRAM from demo/qwen3-4b-thin-stage/results/cs3/out_S1B_2K/msize.txt. This replaces the per-PE-work bar chart, which plotted FLOP only and is withdrawn (Corrections).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4b-mini-ppl-debug's correction plus docs/reports/2026-09-13-layoutC-performance-conclusion.md §5b. Also withdrawn with the MAC model: the '2.65× optimal three-way split' floor and the 0.31× / 0.62× first-order pipelined-throughput figures.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docs/reports/2026-09-13-layoutC-first-group-feedback.md, docs/reports/2026-09-10-layoutC-kv-fix.md. The transport, checker and handoff work carry over to the fused block.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4b-mini-ppl-debug relaying Le's 09-13 decision. Memory note (layoutc-closed-fused-sparse-attention-next) adds: fusion 1.34× at fixed wafer and SRAM-ahead vs the FFN block; gate = compile-only .text-vs-layer-halving; streaming measured cheap. Those figures were not in the message sent to this deck and are not on the slide.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4b-wide-layer Rounds 158 and 162. Speculative decoding amortises the fixed term and the KV scan; batching amortises only the first, and our batching measured 2.2×. Unaffected by the caveat: everything trace-based — the three workload shapes, AFD's weights-side nature, MoE sparsity inverting sign, KV not crossing a link.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4b-wide-layer Rounds 158 and 162, from the NVIDIA blog and the Cerebras Hot Chips 2026 post. LPX also uses a plesiosynchronous protocol aligning hundreds of chips as one system.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4b-wide-layer Rounds 163–164. Not marked recommended because Le has not decided. Rounds 166–167 (Le: 'weights and KV are not different; a fixed system prompt is weights') refine the taxonomy row and were not relayed to this deck — pending Le.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4b-wide-layer Rounds 163–164, expanded from the compare slide.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first item changes numbers on four slides (baseline, multi-card, and the three spectrum tables); nothing else on the deck depends on it. Items 4–5 are the two measurements 4b-wide-layer names as missing.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4b-mini-ppl-debug, second message; docs/reports/2026-09-13-layoutC-performance-conclusion.md §5 (struck) and §5b (corrected).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4b-wide-layer Round 159 and Round 169.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4b-pp-demo. Pending Le: Round 167 ('a fixed system prompt is weights') and Round 168 ('a 4B never serves the Claude Code model; applying Round 35's caveat changes the verdict') were not relayed to this deck and may belong here.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analyses/2026-09-12-trace-length-distributions/results/lengths.json. Per turn (4,032 turns): decode p50 5.8K / p90 23.5K; new prefill p50 10.9K / p90 254K. Per session (1,057): max context p50 94K / p90 281K / p99 965K.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analyses/2026-09-12-trace-length-distributions/results/lengths.json, from analyses/2026-09-03-mooncake-trace-study/data/*.jsonl.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analyses/2026-09-05-servegen-trace-study/results/lengths.json. R1: reasoning share of output p50 76%; requests with output &gt; 2K are 16% of requests but 57% of decode tokens.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4b-pp-demo; agent-memory memory/inbox/2026-09-12-trace-length-distributions-and-subagent-vs-main.md.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TIME: 4b-wide-layer phase-TSC profile. SRAM: demo/qwen3-4b-thin-stage/results/cs3/out_S1B_2K/msize.txt. MACs: 4b-mini-ppl-debug's derivation. FLOP says FFN 2.04×; TIME says ATTN 2.05×; SRAM says ATTN 1.07×.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docs/reports/2026-09-13-layoutC-single-layer-performance.png.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docs/reports/2026-09-13-layoutC-implementation-handoff.md §3. 65,536 PEs reserved, 63,488 active. PE counts are columns × rows from the stated geometry.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docs/diagrams/2026-09-10-layoutC-hidden-reshard.png.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docs/diagrams/2026-09-10-layoutC-weight-axes.png.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4b-wide-layer Round 162. The vs-HBM column is 27.1 / 8.1 = 3.35 TB/s as the HBM reference; the 1.2× and 25× are my arithmetic on the session's thresholds — strike if unwanted.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4b-wide-layer Round 158.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40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4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43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ot"/>
          <p:cNvSpPr/>
          <p:nvPr/>
        </p:nvSpPr>
        <p:spPr>
          <a:xfrm>
            <a:off x="987552" y="914400"/>
            <a:ext cx="384048" cy="3840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27048" y="960120"/>
            <a:ext cx="5486400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18181B"/>
                </a:solidFill>
                <a:latin typeface="Arial"/>
              </a:rPr>
              <a:t>WaferEngine · CS-3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" y="3355848"/>
            <a:ext cx="1631289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u="none" i="0" spc="150">
                <a:solidFill>
                  <a:srgbClr val="6D28D9"/>
                </a:solidFill>
                <a:latin typeface="Arial"/>
              </a:rPr>
              <a:t>WEEKLY COLLABORATOR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4005072"/>
            <a:ext cx="16312896" cy="1110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100" b="1" u="none" i="0">
                <a:solidFill>
                  <a:srgbClr val="18181B"/>
                </a:solidFill>
                <a:latin typeface="Arial"/>
              </a:rPr>
              <a:t>Both Sides Measured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5408676"/>
            <a:ext cx="12344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3000" b="0" u="none" i="0">
                <a:solidFill>
                  <a:srgbClr val="52525B"/>
                </a:solidFill>
                <a:latin typeface="Arial"/>
              </a:rPr>
              <a:t>Where the wafer wins, and what it cannot hold: a 4B GPU baseline, three traces re-cut, and layout C on silicon.</a:t>
            </a:r>
          </a:p>
        </p:txBody>
      </p:sp>
      <p:sp>
        <p:nvSpPr>
          <p:cNvPr id="7" name="rule"/>
          <p:cNvSpPr/>
          <p:nvPr/>
        </p:nvSpPr>
        <p:spPr>
          <a:xfrm>
            <a:off x="987552" y="8485632"/>
            <a:ext cx="16303751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8796528"/>
            <a:ext cx="198870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u="none" i="0" spc="150">
                <a:solidFill>
                  <a:srgbClr val="A1A1AA"/>
                </a:solidFill>
                <a:latin typeface="Arial"/>
              </a:rPr>
              <a:t>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9125712"/>
            <a:ext cx="19887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Qwen3-4B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6252" y="8796528"/>
            <a:ext cx="7098565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u="none" i="0" spc="150">
                <a:solidFill>
                  <a:srgbClr val="A1A1AA"/>
                </a:solidFill>
                <a:latin typeface="Arial"/>
              </a:rPr>
              <a:t>RATES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6252" y="9125712"/>
            <a:ext cx="709856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CS-3 tok/s at 750 MHz as reported — clock TBD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74818" y="8796528"/>
            <a:ext cx="2581929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u="none" i="0" spc="150">
                <a:solidFill>
                  <a:srgbClr val="A1A1AA"/>
                </a:solidFill>
                <a:latin typeface="Arial"/>
              </a:rPr>
              <a:t>PERIOD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74818" y="9125712"/>
            <a:ext cx="258192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09-07 → 09-13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56748" y="8796528"/>
            <a:ext cx="2107763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u="none" i="0" spc="150">
                <a:solidFill>
                  <a:srgbClr val="A1A1AA"/>
                </a:solidFill>
                <a:latin typeface="Arial"/>
              </a:rPr>
              <a:t>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56748" y="9125712"/>
            <a:ext cx="2107763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2026-09-13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" y="2967228"/>
            <a:ext cx="1631289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u="none" i="0" spc="150">
                <a:solidFill>
                  <a:srgbClr val="6D28D9"/>
                </a:solidFill>
                <a:latin typeface="Arial"/>
              </a:rPr>
              <a:t>THIS WEEK IN THREE 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3698748"/>
            <a:ext cx="16312896" cy="1975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200" b="1" u="none" i="0">
                <a:solidFill>
                  <a:srgbClr val="18181B"/>
                </a:solidFill>
                <a:latin typeface="Arial"/>
              </a:rPr>
              <a:t>Decode leads 4–5×, on the one workload we cannot hold.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" y="6085332"/>
            <a:ext cx="12344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3000" b="0" u="none" i="0">
                <a:solidFill>
                  <a:srgbClr val="52525B"/>
                </a:solidFill>
                <a:latin typeface="Arial"/>
              </a:rPr>
              <a:t>Layout C is closed: the kernel is coordination-bound, not FLOP-bound. Both sides measured for the first 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" y="3877056"/>
            <a:ext cx="16312896" cy="1110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100" b="1" u="none" i="0">
                <a:solidFill>
                  <a:srgbClr val="6D28D9"/>
                </a:solidFill>
                <a:latin typeface="Arial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5239512"/>
            <a:ext cx="16312896" cy="6743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u="none" i="0">
                <a:solidFill>
                  <a:srgbClr val="18181B"/>
                </a:solidFill>
                <a:latin typeface="Arial"/>
              </a:rPr>
              <a:t>The workload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" y="6099048"/>
            <a:ext cx="1188720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52525B"/>
                </a:solidFill>
                <a:latin typeface="Arial"/>
              </a:rPr>
              <a:t>Three traces, re-cut per request on 2026-09-12: Claude Code (46,650 de-duplicated calls), Mooncake (39,632 requests), ServeGen (four Alibaba models).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" y="914400"/>
            <a:ext cx="1631289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u="none" i="0" spc="150">
                <a:solidFill>
                  <a:srgbClr val="A1A1AA"/>
                </a:solidFill>
                <a:latin typeface="Arial"/>
              </a:rPr>
              <a:t>WORKLOAD · REQUEST LENGTHS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1371600"/>
            <a:ext cx="16312896" cy="6743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u="none" i="0">
                <a:solidFill>
                  <a:srgbClr val="18181B"/>
                </a:solidFill>
                <a:latin typeface="Arial"/>
              </a:rPr>
              <a:t>Three worlds, not one workload</a:t>
            </a:r>
          </a:p>
        </p:txBody>
      </p:sp>
      <p:pic>
        <p:nvPicPr>
          <p:cNvPr id="4" name="figure" descr="trace_length_dis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7921" y="2484882"/>
            <a:ext cx="11232157" cy="4617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87552" y="7376922"/>
            <a:ext cx="16312896" cy="9806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A1A1AA"/>
                </a:solidFill>
                <a:latin typeface="Arial"/>
              </a:rPr>
              <a:t>Per-request input context (left) and output length (right), log scale; p10–p99 bar, p50 filled, p90 open, × max. Dashed lines: 29,184 tokens measured placed-region ceiling, and ≈103K whole-wafer total (derived, not measured). Claude Code: one user, 26,144 main-thread + 20,506 subagent calls, 2026-08-04 → 09-02. Mooncake output is hard-capped at 2,000. ServeGen publishes no p10.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" y="914400"/>
            <a:ext cx="1631289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u="none" i="0" spc="150">
                <a:solidFill>
                  <a:srgbClr val="A1A1AA"/>
                </a:solidFill>
                <a:latin typeface="Arial"/>
              </a:rPr>
              <a:t>WORKLOAD · WHAT THE DISTRIBUTIONS SAY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1371600"/>
            <a:ext cx="16312896" cy="13487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u="none" i="0">
                <a:solidFill>
                  <a:srgbClr val="18181B"/>
                </a:solidFill>
                <a:latin typeface="Arial"/>
              </a:rPr>
              <a:t>Only the agentic harness produces the case where not even one request fits</a:t>
            </a:r>
          </a:p>
        </p:txBody>
      </p:sp>
      <p:sp>
        <p:nvSpPr>
          <p:cNvPr id="4" name="dot"/>
          <p:cNvSpPr/>
          <p:nvPr/>
        </p:nvSpPr>
        <p:spPr>
          <a:xfrm>
            <a:off x="987552" y="3287268"/>
            <a:ext cx="109728" cy="10972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53312" y="3159251"/>
            <a:ext cx="1594713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Claude Code: huge input (p50 100–300K), medium output (a few K to ~20K per turn)</a:t>
            </a:r>
          </a:p>
        </p:txBody>
      </p:sp>
      <p:sp>
        <p:nvSpPr>
          <p:cNvPr id="6" name="dot"/>
          <p:cNvSpPr/>
          <p:nvPr/>
        </p:nvSpPr>
        <p:spPr>
          <a:xfrm>
            <a:off x="987552" y="4000499"/>
            <a:ext cx="109728" cy="10972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53312" y="3872483"/>
            <a:ext cx="1594713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Mooncake: input a few K, output a few hundred — p99 input 62–85K</a:t>
            </a:r>
          </a:p>
        </p:txBody>
      </p:sp>
      <p:sp>
        <p:nvSpPr>
          <p:cNvPr id="8" name="dot"/>
          <p:cNvSpPr/>
          <p:nvPr/>
        </p:nvSpPr>
        <p:spPr>
          <a:xfrm>
            <a:off x="987552" y="4713731"/>
            <a:ext cx="109728" cy="10972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53312" y="4585716"/>
            <a:ext cx="1594713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ServeGen R1: input a few hundred, output a few thousand — p99 input ≤ 23K</a:t>
            </a:r>
          </a:p>
        </p:txBody>
      </p:sp>
      <p:sp>
        <p:nvSpPr>
          <p:cNvPr id="10" name="dot"/>
          <p:cNvSpPr/>
          <p:nvPr/>
        </p:nvSpPr>
        <p:spPr>
          <a:xfrm>
            <a:off x="987552" y="5426964"/>
            <a:ext cx="109728" cy="10972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53312" y="5298948"/>
            <a:ext cx="1594713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Every non-agentic trace has p99 input inside the measured 29,184-token ceiling</a:t>
            </a:r>
          </a:p>
        </p:txBody>
      </p:sp>
      <p:sp>
        <p:nvSpPr>
          <p:cNvPr id="12" name="dot"/>
          <p:cNvSpPr/>
          <p:nvPr/>
        </p:nvSpPr>
        <p:spPr>
          <a:xfrm>
            <a:off x="987552" y="6140196"/>
            <a:ext cx="109728" cy="10972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53312" y="6012180"/>
            <a:ext cx="1594713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The whole-wafer total (≈103K, derived) holds tens of such sessions — and a fraction of one Claude Code request</a:t>
            </a:r>
          </a:p>
        </p:txBody>
      </p:sp>
      <p:sp>
        <p:nvSpPr>
          <p:cNvPr id="14" name="dot"/>
          <p:cNvSpPr/>
          <p:nvPr/>
        </p:nvSpPr>
        <p:spPr>
          <a:xfrm>
            <a:off x="987552" y="6853428"/>
            <a:ext cx="109728" cy="10972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53312" y="6725412"/>
            <a:ext cx="1594713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So 'grow one request' vs 'park many requests' has no workload-independent answer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" y="914400"/>
            <a:ext cx="1631289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u="none" i="0" spc="150">
                <a:solidFill>
                  <a:srgbClr val="A1A1AA"/>
                </a:solidFill>
                <a:latin typeface="Arial"/>
              </a:rPr>
              <a:t>WORKLOAD · CLAUDE CODE, SPLIT BY CALLER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1371600"/>
            <a:ext cx="16312896" cy="6743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u="none" i="0">
                <a:solidFill>
                  <a:srgbClr val="18181B"/>
                </a:solidFill>
                <a:latin typeface="Arial"/>
              </a:rPr>
              <a:t>Subagent calls are a different shape, not a smaller 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" y="2210562"/>
            <a:ext cx="118872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52525B"/>
                </a:solidFill>
                <a:latin typeface="Arial"/>
              </a:rPr>
              <a:t>Tokens per call; p10 / p50 / p90 / p99 unless noted.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3070098"/>
            <a:ext cx="557509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 spc="150">
                <a:solidFill>
                  <a:srgbClr val="A1A1AA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54672" y="3070098"/>
            <a:ext cx="5176875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 spc="150">
                <a:solidFill>
                  <a:srgbClr val="A1A1AA"/>
                </a:solidFill>
                <a:latin typeface="Arial"/>
              </a:rPr>
              <a:t>MAIN THREAD (26,144 CALLS)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23572" y="3070098"/>
            <a:ext cx="5176875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 spc="150">
                <a:solidFill>
                  <a:srgbClr val="A1A1AA"/>
                </a:solidFill>
                <a:latin typeface="Arial"/>
              </a:rPr>
              <a:t>SUBAGENTS (20,506 CALLS)</a:t>
            </a:r>
          </a:p>
        </p:txBody>
      </p:sp>
      <p:sp>
        <p:nvSpPr>
          <p:cNvPr id="8" name="rule"/>
          <p:cNvSpPr/>
          <p:nvPr/>
        </p:nvSpPr>
        <p:spPr>
          <a:xfrm>
            <a:off x="987552" y="3536441"/>
            <a:ext cx="557509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3774185"/>
            <a:ext cx="557509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Input context</a:t>
            </a:r>
          </a:p>
        </p:txBody>
      </p:sp>
      <p:sp>
        <p:nvSpPr>
          <p:cNvPr id="10" name="rule"/>
          <p:cNvSpPr/>
          <p:nvPr/>
        </p:nvSpPr>
        <p:spPr>
          <a:xfrm>
            <a:off x="6754672" y="3536441"/>
            <a:ext cx="5176875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54672" y="3774185"/>
            <a:ext cx="5176875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95K / 302K / 719K / 955K</a:t>
            </a:r>
          </a:p>
        </p:txBody>
      </p:sp>
      <p:sp>
        <p:nvSpPr>
          <p:cNvPr id="12" name="rule"/>
          <p:cNvSpPr/>
          <p:nvPr/>
        </p:nvSpPr>
        <p:spPr>
          <a:xfrm>
            <a:off x="12123572" y="3536441"/>
            <a:ext cx="5176875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123572" y="3774185"/>
            <a:ext cx="5176875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29K / 100K / 326K / 726K</a:t>
            </a:r>
          </a:p>
        </p:txBody>
      </p:sp>
      <p:sp>
        <p:nvSpPr>
          <p:cNvPr id="14" name="rule"/>
          <p:cNvSpPr/>
          <p:nvPr/>
        </p:nvSpPr>
        <p:spPr>
          <a:xfrm>
            <a:off x="987552" y="4359402"/>
            <a:ext cx="557509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4597146"/>
            <a:ext cx="557509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First call of a session, context p50</a:t>
            </a:r>
          </a:p>
        </p:txBody>
      </p:sp>
      <p:sp>
        <p:nvSpPr>
          <p:cNvPr id="16" name="rule"/>
          <p:cNvSpPr/>
          <p:nvPr/>
        </p:nvSpPr>
        <p:spPr>
          <a:xfrm>
            <a:off x="6754672" y="4359402"/>
            <a:ext cx="5176875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54672" y="4597146"/>
            <a:ext cx="5176875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51.5K</a:t>
            </a:r>
          </a:p>
        </p:txBody>
      </p:sp>
      <p:sp>
        <p:nvSpPr>
          <p:cNvPr id="18" name="rule"/>
          <p:cNvSpPr/>
          <p:nvPr/>
        </p:nvSpPr>
        <p:spPr>
          <a:xfrm>
            <a:off x="12123572" y="4359402"/>
            <a:ext cx="5176875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123572" y="4597146"/>
            <a:ext cx="5176875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18.6K</a:t>
            </a:r>
          </a:p>
        </p:txBody>
      </p:sp>
      <p:sp>
        <p:nvSpPr>
          <p:cNvPr id="20" name="rule"/>
          <p:cNvSpPr/>
          <p:nvPr/>
        </p:nvSpPr>
        <p:spPr>
          <a:xfrm>
            <a:off x="987552" y="5182362"/>
            <a:ext cx="557509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" y="5420106"/>
            <a:ext cx="557509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Output (p10 / p50 / p90 / p99 / max)</a:t>
            </a:r>
          </a:p>
        </p:txBody>
      </p:sp>
      <p:sp>
        <p:nvSpPr>
          <p:cNvPr id="22" name="rule"/>
          <p:cNvSpPr/>
          <p:nvPr/>
        </p:nvSpPr>
        <p:spPr>
          <a:xfrm>
            <a:off x="6754672" y="5182362"/>
            <a:ext cx="5176875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54672" y="5420106"/>
            <a:ext cx="5176875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166 / 763 / 3.8K / 10.6K / 64K</a:t>
            </a:r>
          </a:p>
        </p:txBody>
      </p:sp>
      <p:sp>
        <p:nvSpPr>
          <p:cNvPr id="24" name="rule"/>
          <p:cNvSpPr/>
          <p:nvPr/>
        </p:nvSpPr>
        <p:spPr>
          <a:xfrm>
            <a:off x="12123572" y="5182362"/>
            <a:ext cx="5176875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123572" y="5420106"/>
            <a:ext cx="5176875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2 / 4 / 170 / 1.5K / 22.8K</a:t>
            </a:r>
          </a:p>
        </p:txBody>
      </p:sp>
      <p:sp>
        <p:nvSpPr>
          <p:cNvPr id="26" name="rule"/>
          <p:cNvSpPr/>
          <p:nvPr/>
        </p:nvSpPr>
        <p:spPr>
          <a:xfrm>
            <a:off x="987552" y="6005322"/>
            <a:ext cx="557509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6243066"/>
            <a:ext cx="557509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Calls with output ≤ 5 tokens (≤ 50)</a:t>
            </a:r>
          </a:p>
        </p:txBody>
      </p:sp>
      <p:sp>
        <p:nvSpPr>
          <p:cNvPr id="28" name="rule"/>
          <p:cNvSpPr/>
          <p:nvPr/>
        </p:nvSpPr>
        <p:spPr>
          <a:xfrm>
            <a:off x="6754672" y="6005322"/>
            <a:ext cx="5176875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54672" y="6243066"/>
            <a:ext cx="5176875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0.2% (1.1%)</a:t>
            </a:r>
          </a:p>
        </p:txBody>
      </p:sp>
      <p:sp>
        <p:nvSpPr>
          <p:cNvPr id="30" name="rule"/>
          <p:cNvSpPr/>
          <p:nvPr/>
        </p:nvSpPr>
        <p:spPr>
          <a:xfrm>
            <a:off x="12123572" y="6005322"/>
            <a:ext cx="5176875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123572" y="6243066"/>
            <a:ext cx="5176875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58% (70%)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" y="914400"/>
            <a:ext cx="1631289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u="none" i="0" spc="150">
                <a:solidFill>
                  <a:srgbClr val="A1A1AA"/>
                </a:solidFill>
                <a:latin typeface="Arial"/>
              </a:rPr>
              <a:t>WORKLOAD · CONSEQUENCE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1371600"/>
            <a:ext cx="16312896" cy="13487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u="none" i="0">
                <a:solidFill>
                  <a:srgbClr val="18181B"/>
                </a:solidFill>
                <a:latin typeface="Arial"/>
              </a:rPr>
              <a:t>The decode budget lives on the main thread; subagents are prefill-dominated fan-out</a:t>
            </a:r>
          </a:p>
        </p:txBody>
      </p:sp>
      <p:sp>
        <p:nvSpPr>
          <p:cNvPr id="4" name="dot"/>
          <p:cNvSpPr/>
          <p:nvPr/>
        </p:nvSpPr>
        <p:spPr>
          <a:xfrm>
            <a:off x="987552" y="3287268"/>
            <a:ext cx="109728" cy="10972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53312" y="3159251"/>
            <a:ext cx="1594713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Subagents are 44% of all calls, with output p50 of 4 tokens</a:t>
            </a:r>
          </a:p>
        </p:txBody>
      </p:sp>
      <p:sp>
        <p:nvSpPr>
          <p:cNvPr id="6" name="dot"/>
          <p:cNvSpPr/>
          <p:nvPr/>
        </p:nvSpPr>
        <p:spPr>
          <a:xfrm>
            <a:off x="987552" y="4000499"/>
            <a:ext cx="109728" cy="10972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53312" y="3872483"/>
            <a:ext cx="1594713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Main-thread output is 11.6% of that class's token traffic; subagents 1.5%</a:t>
            </a:r>
          </a:p>
        </p:txBody>
      </p:sp>
      <p:sp>
        <p:nvSpPr>
          <p:cNvPr id="8" name="dot"/>
          <p:cNvSpPr/>
          <p:nvPr/>
        </p:nvSpPr>
        <p:spPr>
          <a:xfrm>
            <a:off x="987552" y="4713731"/>
            <a:ext cx="109728" cy="10972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53312" y="4585716"/>
            <a:ext cx="1594713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Correction to last week: the 'median context 309K' was the main-thread number</a:t>
            </a:r>
          </a:p>
        </p:txBody>
      </p:sp>
      <p:sp>
        <p:nvSpPr>
          <p:cNvPr id="10" name="dot"/>
          <p:cNvSpPr/>
          <p:nvPr/>
        </p:nvSpPr>
        <p:spPr>
          <a:xfrm>
            <a:off x="987552" y="5426964"/>
            <a:ext cx="109728" cy="10972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53312" y="5298948"/>
            <a:ext cx="1594713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Including subagent calls, the per-call median is 197K — the figure used from here 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" y="3877056"/>
            <a:ext cx="16312896" cy="1110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100" b="1" u="none" i="0">
                <a:solidFill>
                  <a:srgbClr val="6D28D9"/>
                </a:solidFill>
                <a:latin typeface="Arial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5239512"/>
            <a:ext cx="16312896" cy="6743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u="none" i="0">
                <a:solidFill>
                  <a:srgbClr val="18181B"/>
                </a:solidFill>
                <a:latin typeface="Arial"/>
              </a:rPr>
              <a:t>The GPU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" y="6099048"/>
            <a:ext cx="1188720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52525B"/>
                </a:solidFill>
                <a:latin typeface="Arial"/>
              </a:rPr>
              <a:t>SGLang 0.5.19 on one H100 80GB, vanilla, every cell measured. Same model on both sides for the first time.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" y="914400"/>
            <a:ext cx="1631289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u="none" i="0" spc="150">
                <a:solidFill>
                  <a:srgbClr val="A1A1AA"/>
                </a:solidFill>
                <a:latin typeface="Arial"/>
              </a:rPr>
              <a:t>BASELINE · MEASURED BOTH SIDES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1371600"/>
            <a:ext cx="16312896" cy="13487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u="none" i="0">
                <a:solidFill>
                  <a:srgbClr val="18181B"/>
                </a:solidFill>
                <a:latin typeface="Arial"/>
              </a:rPr>
              <a:t>The wafer leads single-stream decode by 4–5× and trails prefill by 7×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" y="2884932"/>
            <a:ext cx="1188720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52525B"/>
                </a:solidFill>
                <a:latin typeface="Arial"/>
              </a:rPr>
              <a:t>Qwen3-4B. CS-3 rates as reported by the source session (750 MHz); clock convention pending.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4146803"/>
            <a:ext cx="426205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 spc="150">
                <a:solidFill>
                  <a:srgbClr val="A1A1AA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41632" y="4146803"/>
            <a:ext cx="393420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 spc="150">
                <a:solidFill>
                  <a:srgbClr val="A1A1AA"/>
                </a:solidFill>
                <a:latin typeface="Arial"/>
              </a:rPr>
              <a:t>CS-3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67862" y="4146803"/>
            <a:ext cx="426205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 spc="150">
                <a:solidFill>
                  <a:srgbClr val="A1A1AA"/>
                </a:solidFill>
                <a:latin typeface="Arial"/>
              </a:rPr>
              <a:t>H100 80GB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021943" y="4146803"/>
            <a:ext cx="3278505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 spc="150">
                <a:solidFill>
                  <a:srgbClr val="A1A1AA"/>
                </a:solidFill>
                <a:latin typeface="Arial"/>
              </a:rPr>
              <a:t>LEAD</a:t>
            </a:r>
          </a:p>
        </p:txBody>
      </p:sp>
      <p:sp>
        <p:nvSpPr>
          <p:cNvPr id="9" name="rule"/>
          <p:cNvSpPr/>
          <p:nvPr/>
        </p:nvSpPr>
        <p:spPr>
          <a:xfrm>
            <a:off x="987552" y="4613147"/>
            <a:ext cx="426205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4850891"/>
            <a:ext cx="426205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Decode, bs = 1 @ 4K</a:t>
            </a:r>
          </a:p>
        </p:txBody>
      </p:sp>
      <p:sp>
        <p:nvSpPr>
          <p:cNvPr id="11" name="rule"/>
          <p:cNvSpPr/>
          <p:nvPr/>
        </p:nvSpPr>
        <p:spPr>
          <a:xfrm>
            <a:off x="5441632" y="4613147"/>
            <a:ext cx="393420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41632" y="4850891"/>
            <a:ext cx="393420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~1,000 tok/s (1.0 ms)</a:t>
            </a:r>
          </a:p>
        </p:txBody>
      </p:sp>
      <p:sp>
        <p:nvSpPr>
          <p:cNvPr id="13" name="rule"/>
          <p:cNvSpPr/>
          <p:nvPr/>
        </p:nvSpPr>
        <p:spPr>
          <a:xfrm>
            <a:off x="9567862" y="4613147"/>
            <a:ext cx="426205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67862" y="4850891"/>
            <a:ext cx="426205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213 tok/s (4.70 ms)</a:t>
            </a:r>
          </a:p>
        </p:txBody>
      </p:sp>
      <p:sp>
        <p:nvSpPr>
          <p:cNvPr id="15" name="rule"/>
          <p:cNvSpPr/>
          <p:nvPr/>
        </p:nvSpPr>
        <p:spPr>
          <a:xfrm>
            <a:off x="14021943" y="4613147"/>
            <a:ext cx="3278505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021943" y="4850891"/>
            <a:ext cx="3278505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CS-3 4.7×</a:t>
            </a:r>
          </a:p>
        </p:txBody>
      </p:sp>
      <p:sp>
        <p:nvSpPr>
          <p:cNvPr id="17" name="rule"/>
          <p:cNvSpPr/>
          <p:nvPr/>
        </p:nvSpPr>
        <p:spPr>
          <a:xfrm>
            <a:off x="987552" y="5246369"/>
            <a:ext cx="426205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5484113"/>
            <a:ext cx="426205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Decode, bs = 1 @ ~30K</a:t>
            </a:r>
          </a:p>
        </p:txBody>
      </p:sp>
      <p:sp>
        <p:nvSpPr>
          <p:cNvPr id="19" name="rule"/>
          <p:cNvSpPr/>
          <p:nvPr/>
        </p:nvSpPr>
        <p:spPr>
          <a:xfrm>
            <a:off x="5441632" y="5246369"/>
            <a:ext cx="393420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41632" y="5484113"/>
            <a:ext cx="393420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653 tok/s</a:t>
            </a:r>
          </a:p>
        </p:txBody>
      </p:sp>
      <p:sp>
        <p:nvSpPr>
          <p:cNvPr id="21" name="rule"/>
          <p:cNvSpPr/>
          <p:nvPr/>
        </p:nvSpPr>
        <p:spPr>
          <a:xfrm>
            <a:off x="9567862" y="5246369"/>
            <a:ext cx="426205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67862" y="5484113"/>
            <a:ext cx="426205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162 tok/s</a:t>
            </a:r>
          </a:p>
        </p:txBody>
      </p:sp>
      <p:sp>
        <p:nvSpPr>
          <p:cNvPr id="23" name="rule"/>
          <p:cNvSpPr/>
          <p:nvPr/>
        </p:nvSpPr>
        <p:spPr>
          <a:xfrm>
            <a:off x="14021943" y="5246369"/>
            <a:ext cx="3278505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021943" y="5484113"/>
            <a:ext cx="3278505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CS-3 4.0×</a:t>
            </a:r>
          </a:p>
        </p:txBody>
      </p:sp>
      <p:sp>
        <p:nvSpPr>
          <p:cNvPr id="25" name="rule"/>
          <p:cNvSpPr/>
          <p:nvPr/>
        </p:nvSpPr>
        <p:spPr>
          <a:xfrm>
            <a:off x="987552" y="5879591"/>
            <a:ext cx="426205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7552" y="6117335"/>
            <a:ext cx="426205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Context slope</a:t>
            </a:r>
          </a:p>
        </p:txBody>
      </p:sp>
      <p:sp>
        <p:nvSpPr>
          <p:cNvPr id="27" name="rule"/>
          <p:cNvSpPr/>
          <p:nvPr/>
        </p:nvSpPr>
        <p:spPr>
          <a:xfrm>
            <a:off x="5441632" y="5879591"/>
            <a:ext cx="393420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41632" y="6117335"/>
            <a:ext cx="393420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21.5 ns/token</a:t>
            </a:r>
          </a:p>
        </p:txBody>
      </p:sp>
      <p:sp>
        <p:nvSpPr>
          <p:cNvPr id="29" name="rule"/>
          <p:cNvSpPr/>
          <p:nvPr/>
        </p:nvSpPr>
        <p:spPr>
          <a:xfrm>
            <a:off x="9567862" y="5879591"/>
            <a:ext cx="426205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67862" y="6117335"/>
            <a:ext cx="426205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48.9 ns/token</a:t>
            </a:r>
          </a:p>
        </p:txBody>
      </p:sp>
      <p:sp>
        <p:nvSpPr>
          <p:cNvPr id="31" name="rule"/>
          <p:cNvSpPr/>
          <p:nvPr/>
        </p:nvSpPr>
        <p:spPr>
          <a:xfrm>
            <a:off x="14021943" y="5879591"/>
            <a:ext cx="3278505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4021943" y="6117335"/>
            <a:ext cx="3278505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CS-3 2.3× shallower</a:t>
            </a:r>
          </a:p>
        </p:txBody>
      </p:sp>
      <p:sp>
        <p:nvSpPr>
          <p:cNvPr id="33" name="rule"/>
          <p:cNvSpPr/>
          <p:nvPr/>
        </p:nvSpPr>
        <p:spPr>
          <a:xfrm>
            <a:off x="987552" y="6512813"/>
            <a:ext cx="426205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7552" y="6750557"/>
            <a:ext cx="426205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Decode, batched</a:t>
            </a:r>
          </a:p>
        </p:txBody>
      </p:sp>
      <p:sp>
        <p:nvSpPr>
          <p:cNvPr id="35" name="rule"/>
          <p:cNvSpPr/>
          <p:nvPr/>
        </p:nvSpPr>
        <p:spPr>
          <a:xfrm>
            <a:off x="5441632" y="6512813"/>
            <a:ext cx="393420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41632" y="6750557"/>
            <a:ext cx="393420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~2,100 tok/s</a:t>
            </a:r>
          </a:p>
        </p:txBody>
      </p:sp>
      <p:sp>
        <p:nvSpPr>
          <p:cNvPr id="37" name="rule"/>
          <p:cNvSpPr/>
          <p:nvPr/>
        </p:nvSpPr>
        <p:spPr>
          <a:xfrm>
            <a:off x="9567862" y="6512813"/>
            <a:ext cx="426205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67862" y="6750557"/>
            <a:ext cx="426205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4,684 tok/s (bs 32 @ 1K)</a:t>
            </a:r>
          </a:p>
        </p:txBody>
      </p:sp>
      <p:sp>
        <p:nvSpPr>
          <p:cNvPr id="39" name="rule"/>
          <p:cNvSpPr/>
          <p:nvPr/>
        </p:nvSpPr>
        <p:spPr>
          <a:xfrm>
            <a:off x="14021943" y="6512813"/>
            <a:ext cx="3278505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4021943" y="6750557"/>
            <a:ext cx="3278505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H100 2.2×</a:t>
            </a:r>
          </a:p>
        </p:txBody>
      </p:sp>
      <p:sp>
        <p:nvSpPr>
          <p:cNvPr id="41" name="rule"/>
          <p:cNvSpPr/>
          <p:nvPr/>
        </p:nvSpPr>
        <p:spPr>
          <a:xfrm>
            <a:off x="987552" y="7146035"/>
            <a:ext cx="426205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87552" y="7383779"/>
            <a:ext cx="426205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Prefill, native</a:t>
            </a:r>
          </a:p>
        </p:txBody>
      </p:sp>
      <p:sp>
        <p:nvSpPr>
          <p:cNvPr id="43" name="rule"/>
          <p:cNvSpPr/>
          <p:nvPr/>
        </p:nvSpPr>
        <p:spPr>
          <a:xfrm>
            <a:off x="5441632" y="7146035"/>
            <a:ext cx="393420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41632" y="7383779"/>
            <a:ext cx="393420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9.3–9.8K tok/s</a:t>
            </a:r>
          </a:p>
        </p:txBody>
      </p:sp>
      <p:sp>
        <p:nvSpPr>
          <p:cNvPr id="45" name="rule"/>
          <p:cNvSpPr/>
          <p:nvPr/>
        </p:nvSpPr>
        <p:spPr>
          <a:xfrm>
            <a:off x="9567862" y="7146035"/>
            <a:ext cx="426205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567862" y="7383779"/>
            <a:ext cx="426205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66.5–70.4K tok/s</a:t>
            </a:r>
          </a:p>
        </p:txBody>
      </p:sp>
      <p:sp>
        <p:nvSpPr>
          <p:cNvPr id="47" name="rule"/>
          <p:cNvSpPr/>
          <p:nvPr/>
        </p:nvSpPr>
        <p:spPr>
          <a:xfrm>
            <a:off x="14021943" y="7146035"/>
            <a:ext cx="3278505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4021943" y="7383779"/>
            <a:ext cx="3278505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H100 ~7×</a:t>
            </a:r>
          </a:p>
        </p:txBody>
      </p:sp>
      <p:sp>
        <p:nvSpPr>
          <p:cNvPr id="49" name="rule"/>
          <p:cNvSpPr/>
          <p:nvPr/>
        </p:nvSpPr>
        <p:spPr>
          <a:xfrm>
            <a:off x="987552" y="7779257"/>
            <a:ext cx="426205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87552" y="8017001"/>
            <a:ext cx="426205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Max context, one request</a:t>
            </a:r>
          </a:p>
        </p:txBody>
      </p:sp>
      <p:sp>
        <p:nvSpPr>
          <p:cNvPr id="51" name="rule"/>
          <p:cNvSpPr/>
          <p:nvPr/>
        </p:nvSpPr>
        <p:spPr>
          <a:xfrm>
            <a:off x="5441632" y="7779257"/>
            <a:ext cx="393420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41632" y="8017001"/>
            <a:ext cx="393420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29K</a:t>
            </a:r>
          </a:p>
        </p:txBody>
      </p:sp>
      <p:sp>
        <p:nvSpPr>
          <p:cNvPr id="53" name="rule"/>
          <p:cNvSpPr/>
          <p:nvPr/>
        </p:nvSpPr>
        <p:spPr>
          <a:xfrm>
            <a:off x="9567862" y="7779257"/>
            <a:ext cx="426205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567862" y="8017001"/>
            <a:ext cx="426205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~524K</a:t>
            </a:r>
          </a:p>
        </p:txBody>
      </p:sp>
      <p:sp>
        <p:nvSpPr>
          <p:cNvPr id="55" name="rule"/>
          <p:cNvSpPr/>
          <p:nvPr/>
        </p:nvSpPr>
        <p:spPr>
          <a:xfrm>
            <a:off x="14021943" y="7779257"/>
            <a:ext cx="3278505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4021943" y="8017001"/>
            <a:ext cx="3278505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H100 18×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" y="914400"/>
            <a:ext cx="1631289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u="none" i="0" spc="150">
                <a:solidFill>
                  <a:srgbClr val="A1A1AA"/>
                </a:solidFill>
                <a:latin typeface="Arial"/>
              </a:rPr>
              <a:t>BASELINE · WHAT IT SETTLES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1371600"/>
            <a:ext cx="16312896" cy="13487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u="none" i="0">
                <a:solidFill>
                  <a:srgbClr val="18181B"/>
                </a:solidFill>
                <a:latin typeface="Arial"/>
              </a:rPr>
              <a:t>Our only measured advantage applies exclusively to the workload we cannot hold</a:t>
            </a:r>
          </a:p>
        </p:txBody>
      </p:sp>
      <p:sp>
        <p:nvSpPr>
          <p:cNvPr id="4" name="dot"/>
          <p:cNvSpPr/>
          <p:nvPr/>
        </p:nvSpPr>
        <p:spPr>
          <a:xfrm>
            <a:off x="987552" y="3287268"/>
            <a:ext cx="109728" cy="10972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53312" y="3159251"/>
            <a:ext cx="1594713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Confirmed: prefill is ~7× behind — finding 10 is now measured, not extrapolated</a:t>
            </a:r>
          </a:p>
        </p:txBody>
      </p:sp>
      <p:sp>
        <p:nvSpPr>
          <p:cNvPr id="6" name="dot"/>
          <p:cNvSpPr/>
          <p:nvPr/>
        </p:nvSpPr>
        <p:spPr>
          <a:xfrm>
            <a:off x="987552" y="4000499"/>
            <a:ext cx="109728" cy="10972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53312" y="3872483"/>
            <a:ext cx="1594713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Killed: the 'fast recompute engine for short-context multi-tenant traffic' claim</a:t>
            </a:r>
          </a:p>
        </p:txBody>
      </p:sp>
      <p:sp>
        <p:nvSpPr>
          <p:cNvPr id="8" name="dot"/>
          <p:cNvSpPr/>
          <p:nvPr/>
        </p:nvSpPr>
        <p:spPr>
          <a:xfrm>
            <a:off x="987552" y="4713731"/>
            <a:ext cx="109728" cy="10972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53312" y="4585716"/>
            <a:ext cx="1594713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Even the analytical thin-stage forced prefill (31–43K tok/s) is 1.6–2.2× slower than the H100's measured native prefill</a:t>
            </a:r>
          </a:p>
        </p:txBody>
      </p:sp>
      <p:sp>
        <p:nvSpPr>
          <p:cNvPr id="10" name="dot"/>
          <p:cNvSpPr/>
          <p:nvPr/>
        </p:nvSpPr>
        <p:spPr>
          <a:xfrm>
            <a:off x="987552" y="5426964"/>
            <a:ext cx="109728" cy="10972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53312" y="5298948"/>
            <a:ext cx="1594713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There is no prefill-side wedge anywhere on the roadmap</a:t>
            </a:r>
          </a:p>
        </p:txBody>
      </p:sp>
      <p:sp>
        <p:nvSpPr>
          <p:cNvPr id="12" name="dot"/>
          <p:cNvSpPr/>
          <p:nvPr/>
        </p:nvSpPr>
        <p:spPr>
          <a:xfrm>
            <a:off x="987552" y="6140196"/>
            <a:ext cx="109728" cy="10972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53312" y="6012180"/>
            <a:ext cx="1594713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Median agentic turn at short context: CS-3 6.9 s vs H100 28 s</a:t>
            </a:r>
          </a:p>
        </p:txBody>
      </p:sp>
      <p:sp>
        <p:nvSpPr>
          <p:cNvPr id="14" name="dot"/>
          <p:cNvSpPr/>
          <p:nvPr/>
        </p:nvSpPr>
        <p:spPr>
          <a:xfrm>
            <a:off x="987552" y="6853428"/>
            <a:ext cx="109728" cy="10972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53312" y="6725412"/>
            <a:ext cx="1594713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At the real 197K context: H100 ~75 s, CS-3 cannot hold it at all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" y="3877056"/>
            <a:ext cx="16312896" cy="1110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100" b="1" u="none" i="0">
                <a:solidFill>
                  <a:srgbClr val="6D28D9"/>
                </a:solidFill>
                <a:latin typeface="Arial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5239512"/>
            <a:ext cx="16312896" cy="6743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u="none" i="0">
                <a:solidFill>
                  <a:srgbClr val="18181B"/>
                </a:solidFill>
                <a:latin typeface="Arial"/>
              </a:rPr>
              <a:t>The capacity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" y="6099048"/>
            <a:ext cx="1188720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52525B"/>
                </a:solidFill>
                <a:latin typeface="Arial"/>
              </a:rPr>
              <a:t>Every rung of the on-chip ladder against the traces, then the two ways around it: more wafers, or a link.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" y="914400"/>
            <a:ext cx="1631289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u="none" i="0" spc="150">
                <a:solidFill>
                  <a:srgbClr val="A1A1AA"/>
                </a:solidFill>
                <a:latin typeface="Arial"/>
              </a:rPr>
              <a:t>CAPACITY · THE LADDER AGAINST THE TRACES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1371600"/>
            <a:ext cx="16312896" cy="13487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u="none" i="0">
                <a:solidFill>
                  <a:srgbClr val="18181B"/>
                </a:solidFill>
                <a:latin typeface="Arial"/>
              </a:rPr>
              <a:t>No rung reaches the agent harness; the workloads it reaches also fit in 80 GB of HBM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" y="2884932"/>
            <a:ext cx="1188720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52525B"/>
                </a:solidFill>
                <a:latin typeface="Arial"/>
              </a:rPr>
              <a:t>Ceilings are analytical except today's, which is measured. Trace percentiles: Claude Code p50 197K, Mooncake p99 85K, ServeGen p99 23K.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4146803"/>
            <a:ext cx="374226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 spc="150">
                <a:solidFill>
                  <a:srgbClr val="A1A1AA"/>
                </a:solidFill>
                <a:latin typeface="Arial"/>
              </a:rPr>
              <a:t>RUNG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21842" y="4146803"/>
            <a:ext cx="201506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 spc="150">
                <a:solidFill>
                  <a:srgbClr val="A1A1AA"/>
                </a:solidFill>
                <a:latin typeface="Arial"/>
              </a:rPr>
              <a:t>CEILING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28933" y="4146803"/>
            <a:ext cx="201506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 spc="150">
                <a:solidFill>
                  <a:srgbClr val="A1A1AA"/>
                </a:solidFill>
                <a:latin typeface="Arial"/>
              </a:rPr>
              <a:t>BASIS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36024" y="4146803"/>
            <a:ext cx="3454399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 spc="150">
                <a:solidFill>
                  <a:srgbClr val="A1A1AA"/>
                </a:solidFill>
                <a:latin typeface="Arial"/>
              </a:rPr>
              <a:t>CLAUDE CODE P50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2447" y="4146803"/>
            <a:ext cx="4318000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 spc="150">
                <a:solidFill>
                  <a:srgbClr val="A1A1AA"/>
                </a:solidFill>
                <a:latin typeface="Arial"/>
              </a:rPr>
              <a:t>MOONCAKE · SERVEGEN P99</a:t>
            </a:r>
          </a:p>
        </p:txBody>
      </p:sp>
      <p:sp>
        <p:nvSpPr>
          <p:cNvPr id="10" name="rule"/>
          <p:cNvSpPr/>
          <p:nvPr/>
        </p:nvSpPr>
        <p:spPr>
          <a:xfrm>
            <a:off x="987552" y="4613147"/>
            <a:ext cx="374226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4850891"/>
            <a:ext cx="374226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Today</a:t>
            </a:r>
          </a:p>
        </p:txBody>
      </p:sp>
      <p:sp>
        <p:nvSpPr>
          <p:cNvPr id="12" name="rule"/>
          <p:cNvSpPr/>
          <p:nvPr/>
        </p:nvSpPr>
        <p:spPr>
          <a:xfrm>
            <a:off x="4921842" y="4613147"/>
            <a:ext cx="201506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21842" y="4850891"/>
            <a:ext cx="201506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29,184</a:t>
            </a:r>
          </a:p>
        </p:txBody>
      </p:sp>
      <p:sp>
        <p:nvSpPr>
          <p:cNvPr id="14" name="rule"/>
          <p:cNvSpPr/>
          <p:nvPr/>
        </p:nvSpPr>
        <p:spPr>
          <a:xfrm>
            <a:off x="7128933" y="4613147"/>
            <a:ext cx="201506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28933" y="4850891"/>
            <a:ext cx="201506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measured</a:t>
            </a:r>
          </a:p>
        </p:txBody>
      </p:sp>
      <p:sp>
        <p:nvSpPr>
          <p:cNvPr id="16" name="rule"/>
          <p:cNvSpPr/>
          <p:nvPr/>
        </p:nvSpPr>
        <p:spPr>
          <a:xfrm>
            <a:off x="9336024" y="4613147"/>
            <a:ext cx="3454399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36024" y="4850891"/>
            <a:ext cx="3454399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no</a:t>
            </a:r>
          </a:p>
        </p:txBody>
      </p:sp>
      <p:sp>
        <p:nvSpPr>
          <p:cNvPr id="18" name="rule"/>
          <p:cNvSpPr/>
          <p:nvPr/>
        </p:nvSpPr>
        <p:spPr>
          <a:xfrm>
            <a:off x="12982447" y="4613147"/>
            <a:ext cx="4318000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982447" y="4850891"/>
            <a:ext cx="4318000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no · yes</a:t>
            </a:r>
          </a:p>
        </p:txBody>
      </p:sp>
      <p:sp>
        <p:nvSpPr>
          <p:cNvPr id="20" name="rule"/>
          <p:cNvSpPr/>
          <p:nvPr/>
        </p:nvSpPr>
        <p:spPr>
          <a:xfrm>
            <a:off x="987552" y="5246369"/>
            <a:ext cx="374226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" y="5484113"/>
            <a:ext cx="374226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Fusion</a:t>
            </a:r>
          </a:p>
        </p:txBody>
      </p:sp>
      <p:sp>
        <p:nvSpPr>
          <p:cNvPr id="22" name="rule"/>
          <p:cNvSpPr/>
          <p:nvPr/>
        </p:nvSpPr>
        <p:spPr>
          <a:xfrm>
            <a:off x="4921842" y="5246369"/>
            <a:ext cx="201506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21842" y="5484113"/>
            <a:ext cx="201506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~17.6K</a:t>
            </a:r>
          </a:p>
        </p:txBody>
      </p:sp>
      <p:sp>
        <p:nvSpPr>
          <p:cNvPr id="24" name="rule"/>
          <p:cNvSpPr/>
          <p:nvPr/>
        </p:nvSpPr>
        <p:spPr>
          <a:xfrm>
            <a:off x="7128933" y="5246369"/>
            <a:ext cx="201506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28933" y="5484113"/>
            <a:ext cx="201506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derived</a:t>
            </a:r>
          </a:p>
        </p:txBody>
      </p:sp>
      <p:sp>
        <p:nvSpPr>
          <p:cNvPr id="26" name="rule"/>
          <p:cNvSpPr/>
          <p:nvPr/>
        </p:nvSpPr>
        <p:spPr>
          <a:xfrm>
            <a:off x="9336024" y="5246369"/>
            <a:ext cx="3454399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36024" y="5484113"/>
            <a:ext cx="3454399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no</a:t>
            </a:r>
          </a:p>
        </p:txBody>
      </p:sp>
      <p:sp>
        <p:nvSpPr>
          <p:cNvPr id="28" name="rule"/>
          <p:cNvSpPr/>
          <p:nvPr/>
        </p:nvSpPr>
        <p:spPr>
          <a:xfrm>
            <a:off x="12982447" y="5246369"/>
            <a:ext cx="4318000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982447" y="5484113"/>
            <a:ext cx="4318000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no · no</a:t>
            </a:r>
          </a:p>
        </p:txBody>
      </p:sp>
      <p:sp>
        <p:nvSpPr>
          <p:cNvPr id="30" name="rule"/>
          <p:cNvSpPr/>
          <p:nvPr/>
        </p:nvSpPr>
        <p:spPr>
          <a:xfrm>
            <a:off x="987552" y="5879591"/>
            <a:ext cx="374226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7552" y="6117335"/>
            <a:ext cx="374226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Split</a:t>
            </a:r>
          </a:p>
        </p:txBody>
      </p:sp>
      <p:sp>
        <p:nvSpPr>
          <p:cNvPr id="32" name="rule"/>
          <p:cNvSpPr/>
          <p:nvPr/>
        </p:nvSpPr>
        <p:spPr>
          <a:xfrm>
            <a:off x="4921842" y="5879591"/>
            <a:ext cx="201506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21842" y="6117335"/>
            <a:ext cx="201506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~26K</a:t>
            </a:r>
          </a:p>
        </p:txBody>
      </p:sp>
      <p:sp>
        <p:nvSpPr>
          <p:cNvPr id="34" name="rule"/>
          <p:cNvSpPr/>
          <p:nvPr/>
        </p:nvSpPr>
        <p:spPr>
          <a:xfrm>
            <a:off x="7128933" y="5879591"/>
            <a:ext cx="201506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28933" y="6117335"/>
            <a:ext cx="201506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derived</a:t>
            </a:r>
          </a:p>
        </p:txBody>
      </p:sp>
      <p:sp>
        <p:nvSpPr>
          <p:cNvPr id="36" name="rule"/>
          <p:cNvSpPr/>
          <p:nvPr/>
        </p:nvSpPr>
        <p:spPr>
          <a:xfrm>
            <a:off x="9336024" y="5879591"/>
            <a:ext cx="3454399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36024" y="6117335"/>
            <a:ext cx="3454399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no</a:t>
            </a:r>
          </a:p>
        </p:txBody>
      </p:sp>
      <p:sp>
        <p:nvSpPr>
          <p:cNvPr id="38" name="rule"/>
          <p:cNvSpPr/>
          <p:nvPr/>
        </p:nvSpPr>
        <p:spPr>
          <a:xfrm>
            <a:off x="12982447" y="5879591"/>
            <a:ext cx="4318000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982447" y="6117335"/>
            <a:ext cx="4318000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no · yes</a:t>
            </a:r>
          </a:p>
        </p:txBody>
      </p:sp>
      <p:sp>
        <p:nvSpPr>
          <p:cNvPr id="40" name="rule"/>
          <p:cNvSpPr/>
          <p:nvPr/>
        </p:nvSpPr>
        <p:spPr>
          <a:xfrm>
            <a:off x="987552" y="6512813"/>
            <a:ext cx="374226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87552" y="6750557"/>
            <a:ext cx="374226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Near pool</a:t>
            </a:r>
          </a:p>
        </p:txBody>
      </p:sp>
      <p:sp>
        <p:nvSpPr>
          <p:cNvPr id="42" name="rule"/>
          <p:cNvSpPr/>
          <p:nvPr/>
        </p:nvSpPr>
        <p:spPr>
          <a:xfrm>
            <a:off x="4921842" y="6512813"/>
            <a:ext cx="201506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921842" y="6750557"/>
            <a:ext cx="201506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95K</a:t>
            </a:r>
          </a:p>
        </p:txBody>
      </p:sp>
      <p:sp>
        <p:nvSpPr>
          <p:cNvPr id="44" name="rule"/>
          <p:cNvSpPr/>
          <p:nvPr/>
        </p:nvSpPr>
        <p:spPr>
          <a:xfrm>
            <a:off x="7128933" y="6512813"/>
            <a:ext cx="201506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28933" y="6750557"/>
            <a:ext cx="201506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derived</a:t>
            </a:r>
          </a:p>
        </p:txBody>
      </p:sp>
      <p:sp>
        <p:nvSpPr>
          <p:cNvPr id="46" name="rule"/>
          <p:cNvSpPr/>
          <p:nvPr/>
        </p:nvSpPr>
        <p:spPr>
          <a:xfrm>
            <a:off x="9336024" y="6512813"/>
            <a:ext cx="3454399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336024" y="6750557"/>
            <a:ext cx="3454399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no</a:t>
            </a:r>
          </a:p>
        </p:txBody>
      </p:sp>
      <p:sp>
        <p:nvSpPr>
          <p:cNvPr id="48" name="rule"/>
          <p:cNvSpPr/>
          <p:nvPr/>
        </p:nvSpPr>
        <p:spPr>
          <a:xfrm>
            <a:off x="12982447" y="6512813"/>
            <a:ext cx="4318000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982447" y="6750557"/>
            <a:ext cx="4318000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yes · yes</a:t>
            </a:r>
          </a:p>
        </p:txBody>
      </p:sp>
      <p:sp>
        <p:nvSpPr>
          <p:cNvPr id="50" name="rule"/>
          <p:cNvSpPr/>
          <p:nvPr/>
        </p:nvSpPr>
        <p:spPr>
          <a:xfrm>
            <a:off x="987552" y="7146035"/>
            <a:ext cx="374226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87552" y="7383779"/>
            <a:ext cx="374226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Far pool (every lever)</a:t>
            </a:r>
          </a:p>
        </p:txBody>
      </p:sp>
      <p:sp>
        <p:nvSpPr>
          <p:cNvPr id="52" name="rule"/>
          <p:cNvSpPr/>
          <p:nvPr/>
        </p:nvSpPr>
        <p:spPr>
          <a:xfrm>
            <a:off x="4921842" y="7146035"/>
            <a:ext cx="201506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921842" y="7383779"/>
            <a:ext cx="201506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167K</a:t>
            </a:r>
          </a:p>
        </p:txBody>
      </p:sp>
      <p:sp>
        <p:nvSpPr>
          <p:cNvPr id="54" name="rule"/>
          <p:cNvSpPr/>
          <p:nvPr/>
        </p:nvSpPr>
        <p:spPr>
          <a:xfrm>
            <a:off x="7128933" y="7146035"/>
            <a:ext cx="201506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128933" y="7383779"/>
            <a:ext cx="201506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derived</a:t>
            </a:r>
          </a:p>
        </p:txBody>
      </p:sp>
      <p:sp>
        <p:nvSpPr>
          <p:cNvPr id="56" name="rule"/>
          <p:cNvSpPr/>
          <p:nvPr/>
        </p:nvSpPr>
        <p:spPr>
          <a:xfrm>
            <a:off x="9336024" y="7146035"/>
            <a:ext cx="3454399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336024" y="7383779"/>
            <a:ext cx="3454399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no — below the median</a:t>
            </a:r>
          </a:p>
        </p:txBody>
      </p:sp>
      <p:sp>
        <p:nvSpPr>
          <p:cNvPr id="58" name="rule"/>
          <p:cNvSpPr/>
          <p:nvPr/>
        </p:nvSpPr>
        <p:spPr>
          <a:xfrm>
            <a:off x="12982447" y="7146035"/>
            <a:ext cx="4318000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2982447" y="7383779"/>
            <a:ext cx="4318000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yes · yes</a:t>
            </a:r>
          </a:p>
        </p:txBody>
      </p:sp>
      <p:sp>
        <p:nvSpPr>
          <p:cNvPr id="60" name="rule"/>
          <p:cNvSpPr/>
          <p:nvPr/>
        </p:nvSpPr>
        <p:spPr>
          <a:xfrm>
            <a:off x="987552" y="7779257"/>
            <a:ext cx="374226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87552" y="8017001"/>
            <a:ext cx="374226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18181B"/>
                </a:solidFill>
                <a:latin typeface="Arial"/>
              </a:rPr>
              <a:t>fp8 + far pool + chunked scoring</a:t>
            </a:r>
          </a:p>
        </p:txBody>
      </p:sp>
      <p:sp>
        <p:nvSpPr>
          <p:cNvPr id="62" name="rule"/>
          <p:cNvSpPr/>
          <p:nvPr/>
        </p:nvSpPr>
        <p:spPr>
          <a:xfrm>
            <a:off x="4921842" y="7779257"/>
            <a:ext cx="201506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921842" y="8017001"/>
            <a:ext cx="201506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≈225K</a:t>
            </a:r>
          </a:p>
        </p:txBody>
      </p:sp>
      <p:sp>
        <p:nvSpPr>
          <p:cNvPr id="64" name="rule"/>
          <p:cNvSpPr/>
          <p:nvPr/>
        </p:nvSpPr>
        <p:spPr>
          <a:xfrm>
            <a:off x="7128933" y="7779257"/>
            <a:ext cx="201506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128933" y="8017001"/>
            <a:ext cx="201506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derived</a:t>
            </a:r>
          </a:p>
        </p:txBody>
      </p:sp>
      <p:sp>
        <p:nvSpPr>
          <p:cNvPr id="66" name="rule"/>
          <p:cNvSpPr/>
          <p:nvPr/>
        </p:nvSpPr>
        <p:spPr>
          <a:xfrm>
            <a:off x="9336024" y="7779257"/>
            <a:ext cx="3454399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36024" y="8017001"/>
            <a:ext cx="3454399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yes — ~55% of calls</a:t>
            </a:r>
          </a:p>
        </p:txBody>
      </p:sp>
      <p:sp>
        <p:nvSpPr>
          <p:cNvPr id="68" name="rule"/>
          <p:cNvSpPr/>
          <p:nvPr/>
        </p:nvSpPr>
        <p:spPr>
          <a:xfrm>
            <a:off x="12982447" y="7779257"/>
            <a:ext cx="4318000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2982447" y="8017001"/>
            <a:ext cx="4318000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yes · yes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" y="2473452"/>
            <a:ext cx="1631289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u="none" i="0" spc="150">
                <a:solidFill>
                  <a:srgbClr val="6D28D9"/>
                </a:solidFill>
                <a:latin typeface="Arial"/>
              </a:rPr>
              <a:t>CAPACITY · IN ONE SENTENCE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3204972"/>
            <a:ext cx="16312896" cy="2962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200" b="1" u="none" i="0">
                <a:solidFill>
                  <a:srgbClr val="18181B"/>
                </a:solidFill>
                <a:latin typeface="Arial"/>
              </a:rPr>
              <a:t>Capacity cannot reach the workload that wants it; the workloads it reaches do not need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" y="6579108"/>
            <a:ext cx="12344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3000" b="0" u="none" i="0">
                <a:solidFill>
                  <a:srgbClr val="52525B"/>
                </a:solidFill>
                <a:latin typeface="Arial"/>
              </a:rPr>
              <a:t>The reopener is the score-buffer wall: fp8 storage plus chunked scoring would clear the 197K median for ~55% of agent calls — all derived.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" y="914400"/>
            <a:ext cx="1631289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u="none" i="0" spc="150">
                <a:solidFill>
                  <a:srgbClr val="A1A1AA"/>
                </a:solidFill>
                <a:latin typeface="Arial"/>
              </a:rPr>
              <a:t>CAPACITY · BUYING IT WITH WAFERS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1371600"/>
            <a:ext cx="16312896" cy="13487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u="none" i="0">
                <a:solidFill>
                  <a:srgbClr val="18181B"/>
                </a:solidFill>
                <a:latin typeface="Arial"/>
              </a:rPr>
              <a:t>Multi-card does not rescue capacity: it halves the one thing we lead</a:t>
            </a:r>
          </a:p>
        </p:txBody>
      </p:sp>
      <p:sp>
        <p:nvSpPr>
          <p:cNvPr id="4" name="dot"/>
          <p:cNvSpPr/>
          <p:nvPr/>
        </p:nvSpPr>
        <p:spPr>
          <a:xfrm>
            <a:off x="987552" y="3287268"/>
            <a:ext cx="109728" cy="10972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53312" y="3159251"/>
            <a:ext cx="1594713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Measured: 175 µs per wafer per token at today's layout</a:t>
            </a:r>
          </a:p>
        </p:txBody>
      </p:sp>
      <p:sp>
        <p:nvSpPr>
          <p:cNvPr id="6" name="dot"/>
          <p:cNvSpPr/>
          <p:nvPr/>
        </p:nvSpPr>
        <p:spPr>
          <a:xfrm>
            <a:off x="987552" y="4000499"/>
            <a:ext cx="109728" cy="10972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53312" y="3872483"/>
            <a:ext cx="1594713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29K → 197K needs ≈ 6 extra wafers, i.e. +1.01 ms per token (derived)</a:t>
            </a:r>
          </a:p>
        </p:txBody>
      </p:sp>
      <p:sp>
        <p:nvSpPr>
          <p:cNvPr id="8" name="dot"/>
          <p:cNvSpPr/>
          <p:nvPr/>
        </p:nvSpPr>
        <p:spPr>
          <a:xfrm>
            <a:off x="987552" y="4713731"/>
            <a:ext cx="109728" cy="10972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53312" y="4585716"/>
            <a:ext cx="1594713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Decode goes from 1.05 to 2.06 ms per token: 954 → 485 tok/s</a:t>
            </a:r>
          </a:p>
        </p:txBody>
      </p:sp>
      <p:sp>
        <p:nvSpPr>
          <p:cNvPr id="10" name="dot"/>
          <p:cNvSpPr/>
          <p:nvPr/>
        </p:nvSpPr>
        <p:spPr>
          <a:xfrm>
            <a:off x="987552" y="5426964"/>
            <a:ext cx="109728" cy="10972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53312" y="5298948"/>
            <a:ext cx="1594713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A negative-sum trade in the one dimension where the wafer is ahead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" y="914400"/>
            <a:ext cx="1631289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u="none" i="0" spc="150">
                <a:solidFill>
                  <a:srgbClr val="A1A1AA"/>
                </a:solidFill>
                <a:latin typeface="Arial"/>
              </a:rPr>
              <a:t>CAPACITY · KV OVER A LINK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1371600"/>
            <a:ext cx="16312896" cy="6743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u="none" i="0">
                <a:solidFill>
                  <a:srgbClr val="18181B"/>
                </a:solidFill>
                <a:latin typeface="Arial"/>
              </a:rPr>
              <a:t>Per token, attention reads the whole KV — it cannot cross a link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" y="2210562"/>
            <a:ext cx="1188720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52525B"/>
                </a:solidFill>
                <a:latin typeface="Arial"/>
              </a:rPr>
              <a:t>Card-to-card interconnect at 1.2 Tbit/s (150 GB/s), per Le; not measured in this project. Whole decode step on the wafer is 1.0 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3472434"/>
            <a:ext cx="2997490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 spc="150">
                <a:solidFill>
                  <a:srgbClr val="A1A1AA"/>
                </a:solidFill>
                <a:latin typeface="Arial"/>
              </a:rPr>
              <a:t>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77066" y="3472434"/>
            <a:ext cx="2997490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 spc="150">
                <a:solidFill>
                  <a:srgbClr val="A1A1AA"/>
                </a:solidFill>
                <a:latin typeface="Arial"/>
              </a:rPr>
              <a:t>KV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6580" y="3472434"/>
            <a:ext cx="4870921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 spc="150">
                <a:solidFill>
                  <a:srgbClr val="A1A1AA"/>
                </a:solidFill>
                <a:latin typeface="Arial"/>
              </a:rPr>
              <a:t>OVER THE 150 GB/S LINK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429526" y="3472434"/>
            <a:ext cx="4870921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 spc="150">
                <a:solidFill>
                  <a:srgbClr val="A1A1AA"/>
                </a:solidFill>
                <a:latin typeface="Arial"/>
              </a:rPr>
              <a:t>H100 FROM ITS OWN HBM</a:t>
            </a:r>
          </a:p>
        </p:txBody>
      </p:sp>
      <p:sp>
        <p:nvSpPr>
          <p:cNvPr id="9" name="rule"/>
          <p:cNvSpPr/>
          <p:nvPr/>
        </p:nvSpPr>
        <p:spPr>
          <a:xfrm>
            <a:off x="987552" y="3938778"/>
            <a:ext cx="2997490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4176522"/>
            <a:ext cx="299749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29K</a:t>
            </a:r>
          </a:p>
        </p:txBody>
      </p:sp>
      <p:sp>
        <p:nvSpPr>
          <p:cNvPr id="11" name="rule"/>
          <p:cNvSpPr/>
          <p:nvPr/>
        </p:nvSpPr>
        <p:spPr>
          <a:xfrm>
            <a:off x="4177066" y="3938778"/>
            <a:ext cx="2997490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77066" y="4176522"/>
            <a:ext cx="2997490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4.01 GB</a:t>
            </a:r>
          </a:p>
        </p:txBody>
      </p:sp>
      <p:sp>
        <p:nvSpPr>
          <p:cNvPr id="13" name="rule"/>
          <p:cNvSpPr/>
          <p:nvPr/>
        </p:nvSpPr>
        <p:spPr>
          <a:xfrm>
            <a:off x="7366580" y="3938778"/>
            <a:ext cx="4870921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66580" y="4176522"/>
            <a:ext cx="4870921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26.7 ms / token</a:t>
            </a:r>
          </a:p>
        </p:txBody>
      </p:sp>
      <p:sp>
        <p:nvSpPr>
          <p:cNvPr id="15" name="rule"/>
          <p:cNvSpPr/>
          <p:nvPr/>
        </p:nvSpPr>
        <p:spPr>
          <a:xfrm>
            <a:off x="12429526" y="3938778"/>
            <a:ext cx="4870921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429526" y="4176522"/>
            <a:ext cx="4870921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1.20 ms</a:t>
            </a:r>
          </a:p>
        </p:txBody>
      </p:sp>
      <p:sp>
        <p:nvSpPr>
          <p:cNvPr id="17" name="rule"/>
          <p:cNvSpPr/>
          <p:nvPr/>
        </p:nvSpPr>
        <p:spPr>
          <a:xfrm>
            <a:off x="987552" y="4761738"/>
            <a:ext cx="2997490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4999482"/>
            <a:ext cx="299749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197K</a:t>
            </a:r>
          </a:p>
        </p:txBody>
      </p:sp>
      <p:sp>
        <p:nvSpPr>
          <p:cNvPr id="19" name="rule"/>
          <p:cNvSpPr/>
          <p:nvPr/>
        </p:nvSpPr>
        <p:spPr>
          <a:xfrm>
            <a:off x="4177066" y="4761738"/>
            <a:ext cx="2997490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77066" y="4999482"/>
            <a:ext cx="2997490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27.1 GB</a:t>
            </a:r>
          </a:p>
        </p:txBody>
      </p:sp>
      <p:sp>
        <p:nvSpPr>
          <p:cNvPr id="21" name="rule"/>
          <p:cNvSpPr/>
          <p:nvPr/>
        </p:nvSpPr>
        <p:spPr>
          <a:xfrm>
            <a:off x="7366580" y="4761738"/>
            <a:ext cx="4870921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66580" y="4999482"/>
            <a:ext cx="4870921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180 ms / token</a:t>
            </a:r>
          </a:p>
        </p:txBody>
      </p:sp>
      <p:sp>
        <p:nvSpPr>
          <p:cNvPr id="23" name="rule"/>
          <p:cNvSpPr/>
          <p:nvPr/>
        </p:nvSpPr>
        <p:spPr>
          <a:xfrm>
            <a:off x="12429526" y="4761738"/>
            <a:ext cx="4870921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429526" y="4999482"/>
            <a:ext cx="4870921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8.08 ms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" y="914400"/>
            <a:ext cx="1631289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u="none" i="0" spc="150">
                <a:solidFill>
                  <a:srgbClr val="A1A1AA"/>
                </a:solidFill>
                <a:latin typeface="Arial"/>
              </a:rPr>
              <a:t>CAPACITY · WHAT THE LINK DOES BUY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1371600"/>
            <a:ext cx="16312896" cy="13487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u="none" i="0">
                <a:solidFill>
                  <a:srgbClr val="18181B"/>
                </a:solidFill>
                <a:latin typeface="Arial"/>
              </a:rPr>
              <a:t>KV must live where the attention compute is; the link carries activations, and AFD is a weights-side solution</a:t>
            </a:r>
          </a:p>
        </p:txBody>
      </p:sp>
      <p:sp>
        <p:nvSpPr>
          <p:cNvPr id="4" name="dot"/>
          <p:cNvSpPr/>
          <p:nvPr/>
        </p:nvSpPr>
        <p:spPr>
          <a:xfrm>
            <a:off x="987552" y="3287268"/>
            <a:ext cx="109728" cy="10972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53312" y="3159251"/>
            <a:ext cx="1594713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Activations: 5 KB per layer, 34 ns of wire — pure latency</a:t>
            </a:r>
          </a:p>
        </p:txBody>
      </p:sp>
      <p:sp>
        <p:nvSpPr>
          <p:cNvPr id="6" name="dot"/>
          <p:cNvSpPr/>
          <p:nvPr/>
        </p:nvSpPr>
        <p:spPr>
          <a:xfrm>
            <a:off x="987552" y="4000499"/>
            <a:ext cx="109728" cy="10972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53312" y="3872483"/>
            <a:ext cx="1594713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36 layers × 6–10 µs round trip = 0.22–0.36 ms per token: affordable</a:t>
            </a:r>
          </a:p>
        </p:txBody>
      </p:sp>
      <p:sp>
        <p:nvSpPr>
          <p:cNvPr id="8" name="dot"/>
          <p:cNvSpPr/>
          <p:nvPr/>
        </p:nvSpPr>
        <p:spPr>
          <a:xfrm>
            <a:off x="987552" y="4713731"/>
            <a:ext cx="109728" cy="10972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53312" y="4585716"/>
            <a:ext cx="1594713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So attention–FFN disaggregation is viable on the real interconnect</a:t>
            </a:r>
          </a:p>
        </p:txBody>
      </p:sp>
      <p:sp>
        <p:nvSpPr>
          <p:cNvPr id="10" name="dot"/>
          <p:cNvSpPr/>
          <p:nvPr/>
        </p:nvSpPr>
        <p:spPr>
          <a:xfrm>
            <a:off x="987552" y="5426964"/>
            <a:ext cx="109728" cy="10972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53312" y="5298948"/>
            <a:ext cx="1594713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But it removes FFN weight traffic: worth 57.3% at 4K, only 15.0% at 197K</a:t>
            </a:r>
          </a:p>
        </p:txBody>
      </p:sp>
      <p:sp>
        <p:nvSpPr>
          <p:cNvPr id="12" name="dot"/>
          <p:cNvSpPr/>
          <p:nvPr/>
        </p:nvSpPr>
        <p:spPr>
          <a:xfrm>
            <a:off x="987552" y="6140196"/>
            <a:ext cx="109728" cy="10972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53312" y="6012180"/>
            <a:ext cx="1594713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A dense 4B on an 80 GB GPU is AFD's worst case — which is why NVIDIA keeps attention + KV together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" y="3877056"/>
            <a:ext cx="16312896" cy="1110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100" b="1" u="none" i="0">
                <a:solidFill>
                  <a:srgbClr val="6D28D9"/>
                </a:solidFill>
                <a:latin typeface="Arial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5239512"/>
            <a:ext cx="16312896" cy="6743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u="none" i="0">
                <a:solidFill>
                  <a:srgbClr val="18181B"/>
                </a:solidFill>
                <a:latin typeface="Arial"/>
              </a:rPr>
              <a:t>The prefix × decode spectrum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" y="6099048"/>
            <a:ext cx="1188720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52525B"/>
                </a:solidFill>
                <a:latin typeface="Arial"/>
              </a:rPr>
              <a:t>Four configurations across eleven workload scenarios, derived from each machine's measured rates. Per-request wall time.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" y="914400"/>
            <a:ext cx="1631289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u="none" i="0" spc="150">
                <a:solidFill>
                  <a:srgbClr val="A1A1AA"/>
                </a:solidFill>
                <a:latin typeface="Arial"/>
              </a:rPr>
              <a:t>SPECTRUM · SCENARIOS THAT FIT (1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1371600"/>
            <a:ext cx="16312896" cy="13487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u="none" i="0">
                <a:solidFill>
                  <a:srgbClr val="18181B"/>
                </a:solidFill>
                <a:latin typeface="Arial"/>
              </a:rPr>
              <a:t>PD-split wins every scenario that fits: the GPU prefills, the wafer decodes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" y="2884932"/>
            <a:ext cx="1188720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52525B"/>
                </a:solidFill>
                <a:latin typeface="Arial"/>
              </a:rPr>
              <a:t>ms per request. PD-split = GPU prefill → link → CS-3 decode. Derived from measured rates; link at 0.98 µs per prefix token (unmeasured).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4146803"/>
            <a:ext cx="5380892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 spc="150">
                <a:solidFill>
                  <a:srgbClr val="A1A1AA"/>
                </a:solidFill>
                <a:latin typeface="Arial"/>
              </a:rPr>
              <a:t>SCENARIO (PREFIX / DECODE)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60468" y="4146803"/>
            <a:ext cx="2391507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 spc="150">
                <a:solidFill>
                  <a:srgbClr val="A1A1AA"/>
                </a:solidFill>
                <a:latin typeface="Arial"/>
              </a:rPr>
              <a:t>CS-3 ALONE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4146803"/>
            <a:ext cx="2391507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 spc="150">
                <a:solidFill>
                  <a:srgbClr val="A1A1AA"/>
                </a:solidFill>
                <a:latin typeface="Arial"/>
              </a:rPr>
              <a:t>PD-SPLIT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27531" y="4146803"/>
            <a:ext cx="2391507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 spc="150">
                <a:solidFill>
                  <a:srgbClr val="A1A1AA"/>
                </a:solidFill>
                <a:latin typeface="Arial"/>
              </a:rPr>
              <a:t>H100 ALONE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311063" y="4146803"/>
            <a:ext cx="2989384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 spc="150">
                <a:solidFill>
                  <a:srgbClr val="A1A1AA"/>
                </a:solidFill>
                <a:latin typeface="Arial"/>
              </a:rPr>
              <a:t>GPU-STREAMED</a:t>
            </a:r>
          </a:p>
        </p:txBody>
      </p:sp>
      <p:sp>
        <p:nvSpPr>
          <p:cNvPr id="10" name="rule"/>
          <p:cNvSpPr/>
          <p:nvPr/>
        </p:nvSpPr>
        <p:spPr>
          <a:xfrm>
            <a:off x="987552" y="4613147"/>
            <a:ext cx="5380892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4850891"/>
            <a:ext cx="538089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Qwen-Turbo p50 (680 / 11)</a:t>
            </a:r>
          </a:p>
        </p:txBody>
      </p:sp>
      <p:sp>
        <p:nvSpPr>
          <p:cNvPr id="12" name="rule"/>
          <p:cNvSpPr/>
          <p:nvPr/>
        </p:nvSpPr>
        <p:spPr>
          <a:xfrm>
            <a:off x="6560468" y="4613147"/>
            <a:ext cx="2391507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0468" y="4850891"/>
            <a:ext cx="2391507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82</a:t>
            </a:r>
          </a:p>
        </p:txBody>
      </p:sp>
      <p:sp>
        <p:nvSpPr>
          <p:cNvPr id="14" name="rule"/>
          <p:cNvSpPr/>
          <p:nvPr/>
        </p:nvSpPr>
        <p:spPr>
          <a:xfrm>
            <a:off x="9144000" y="4613147"/>
            <a:ext cx="2391507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4850891"/>
            <a:ext cx="2391507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21</a:t>
            </a:r>
          </a:p>
        </p:txBody>
      </p:sp>
      <p:sp>
        <p:nvSpPr>
          <p:cNvPr id="16" name="rule"/>
          <p:cNvSpPr/>
          <p:nvPr/>
        </p:nvSpPr>
        <p:spPr>
          <a:xfrm>
            <a:off x="11727531" y="4613147"/>
            <a:ext cx="2391507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727531" y="4850891"/>
            <a:ext cx="2391507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61</a:t>
            </a:r>
          </a:p>
        </p:txBody>
      </p:sp>
      <p:sp>
        <p:nvSpPr>
          <p:cNvPr id="18" name="rule"/>
          <p:cNvSpPr/>
          <p:nvPr/>
        </p:nvSpPr>
        <p:spPr>
          <a:xfrm>
            <a:off x="14311063" y="4613147"/>
            <a:ext cx="2989384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311063" y="4850891"/>
            <a:ext cx="2989384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28</a:t>
            </a:r>
          </a:p>
        </p:txBody>
      </p:sp>
      <p:sp>
        <p:nvSpPr>
          <p:cNvPr id="20" name="rule"/>
          <p:cNvSpPr/>
          <p:nvPr/>
        </p:nvSpPr>
        <p:spPr>
          <a:xfrm>
            <a:off x="987552" y="5373014"/>
            <a:ext cx="5380892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" y="5610758"/>
            <a:ext cx="538089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ServeGen R1 p50 (208 / 792)</a:t>
            </a:r>
          </a:p>
        </p:txBody>
      </p:sp>
      <p:sp>
        <p:nvSpPr>
          <p:cNvPr id="22" name="rule"/>
          <p:cNvSpPr/>
          <p:nvPr/>
        </p:nvSpPr>
        <p:spPr>
          <a:xfrm>
            <a:off x="6560468" y="5373014"/>
            <a:ext cx="2391507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60468" y="5610758"/>
            <a:ext cx="2391507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745</a:t>
            </a:r>
          </a:p>
        </p:txBody>
      </p:sp>
      <p:sp>
        <p:nvSpPr>
          <p:cNvPr id="24" name="rule"/>
          <p:cNvSpPr/>
          <p:nvPr/>
        </p:nvSpPr>
        <p:spPr>
          <a:xfrm>
            <a:off x="9144000" y="5373014"/>
            <a:ext cx="2391507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0" y="5610758"/>
            <a:ext cx="2391507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726</a:t>
            </a:r>
          </a:p>
        </p:txBody>
      </p:sp>
      <p:sp>
        <p:nvSpPr>
          <p:cNvPr id="26" name="rule"/>
          <p:cNvSpPr/>
          <p:nvPr/>
        </p:nvSpPr>
        <p:spPr>
          <a:xfrm>
            <a:off x="11727531" y="5373014"/>
            <a:ext cx="2391507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727531" y="5610758"/>
            <a:ext cx="2391507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3,654</a:t>
            </a:r>
          </a:p>
        </p:txBody>
      </p:sp>
      <p:sp>
        <p:nvSpPr>
          <p:cNvPr id="28" name="rule"/>
          <p:cNvSpPr/>
          <p:nvPr/>
        </p:nvSpPr>
        <p:spPr>
          <a:xfrm>
            <a:off x="14311063" y="5373014"/>
            <a:ext cx="2989384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311063" y="5610758"/>
            <a:ext cx="2989384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888</a:t>
            </a:r>
          </a:p>
        </p:txBody>
      </p:sp>
      <p:sp>
        <p:nvSpPr>
          <p:cNvPr id="30" name="rule"/>
          <p:cNvSpPr/>
          <p:nvPr/>
        </p:nvSpPr>
        <p:spPr>
          <a:xfrm>
            <a:off x="987552" y="6132880"/>
            <a:ext cx="5380892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7552" y="6370624"/>
            <a:ext cx="538089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Long reasoning (208 / 10,000)</a:t>
            </a:r>
          </a:p>
        </p:txBody>
      </p:sp>
      <p:sp>
        <p:nvSpPr>
          <p:cNvPr id="32" name="rule"/>
          <p:cNvSpPr/>
          <p:nvPr/>
        </p:nvSpPr>
        <p:spPr>
          <a:xfrm>
            <a:off x="6560468" y="6132880"/>
            <a:ext cx="2391507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60468" y="6370624"/>
            <a:ext cx="2391507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9,147</a:t>
            </a:r>
          </a:p>
        </p:txBody>
      </p:sp>
      <p:sp>
        <p:nvSpPr>
          <p:cNvPr id="34" name="rule"/>
          <p:cNvSpPr/>
          <p:nvPr/>
        </p:nvSpPr>
        <p:spPr>
          <a:xfrm>
            <a:off x="9144000" y="6132880"/>
            <a:ext cx="2391507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0" y="6370624"/>
            <a:ext cx="2391507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9,128</a:t>
            </a:r>
          </a:p>
        </p:txBody>
      </p:sp>
      <p:sp>
        <p:nvSpPr>
          <p:cNvPr id="36" name="rule"/>
          <p:cNvSpPr/>
          <p:nvPr/>
        </p:nvSpPr>
        <p:spPr>
          <a:xfrm>
            <a:off x="11727531" y="6132880"/>
            <a:ext cx="2391507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727531" y="6370624"/>
            <a:ext cx="2391507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46,105</a:t>
            </a:r>
          </a:p>
        </p:txBody>
      </p:sp>
      <p:sp>
        <p:nvSpPr>
          <p:cNvPr id="38" name="rule"/>
          <p:cNvSpPr/>
          <p:nvPr/>
        </p:nvSpPr>
        <p:spPr>
          <a:xfrm>
            <a:off x="14311063" y="6132880"/>
            <a:ext cx="2989384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4311063" y="6370624"/>
            <a:ext cx="2989384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11,172</a:t>
            </a:r>
          </a:p>
        </p:txBody>
      </p:sp>
      <p:sp>
        <p:nvSpPr>
          <p:cNvPr id="40" name="rule"/>
          <p:cNvSpPr/>
          <p:nvPr/>
        </p:nvSpPr>
        <p:spPr>
          <a:xfrm>
            <a:off x="987552" y="6892747"/>
            <a:ext cx="5380892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87552" y="7130491"/>
            <a:ext cx="538089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R1 p90 (2,100 / 3,400)</a:t>
            </a:r>
          </a:p>
        </p:txBody>
      </p:sp>
      <p:sp>
        <p:nvSpPr>
          <p:cNvPr id="42" name="rule"/>
          <p:cNvSpPr/>
          <p:nvPr/>
        </p:nvSpPr>
        <p:spPr>
          <a:xfrm>
            <a:off x="6560468" y="6892747"/>
            <a:ext cx="2391507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60468" y="7130491"/>
            <a:ext cx="2391507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3,462</a:t>
            </a:r>
          </a:p>
        </p:txBody>
      </p:sp>
      <p:sp>
        <p:nvSpPr>
          <p:cNvPr id="44" name="rule"/>
          <p:cNvSpPr/>
          <p:nvPr/>
        </p:nvSpPr>
        <p:spPr>
          <a:xfrm>
            <a:off x="9144000" y="6892747"/>
            <a:ext cx="2391507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0" y="7130491"/>
            <a:ext cx="2391507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3,273</a:t>
            </a:r>
          </a:p>
        </p:txBody>
      </p:sp>
      <p:sp>
        <p:nvSpPr>
          <p:cNvPr id="46" name="rule"/>
          <p:cNvSpPr/>
          <p:nvPr/>
        </p:nvSpPr>
        <p:spPr>
          <a:xfrm>
            <a:off x="11727531" y="6892747"/>
            <a:ext cx="2391507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727531" y="7130491"/>
            <a:ext cx="2391507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16,020</a:t>
            </a:r>
          </a:p>
        </p:txBody>
      </p:sp>
      <p:sp>
        <p:nvSpPr>
          <p:cNvPr id="48" name="rule"/>
          <p:cNvSpPr/>
          <p:nvPr/>
        </p:nvSpPr>
        <p:spPr>
          <a:xfrm>
            <a:off x="14311063" y="6892747"/>
            <a:ext cx="2989384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4311063" y="7130491"/>
            <a:ext cx="2989384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10,290</a:t>
            </a:r>
          </a:p>
        </p:txBody>
      </p:sp>
      <p:sp>
        <p:nvSpPr>
          <p:cNvPr id="50" name="rule"/>
          <p:cNvSpPr/>
          <p:nvPr/>
        </p:nvSpPr>
        <p:spPr>
          <a:xfrm>
            <a:off x="987552" y="7652613"/>
            <a:ext cx="5380892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87552" y="7890357"/>
            <a:ext cx="538089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Qwen-Max p90 (2,400 / 433)</a:t>
            </a:r>
          </a:p>
        </p:txBody>
      </p:sp>
      <p:sp>
        <p:nvSpPr>
          <p:cNvPr id="52" name="rule"/>
          <p:cNvSpPr/>
          <p:nvPr/>
        </p:nvSpPr>
        <p:spPr>
          <a:xfrm>
            <a:off x="6560468" y="7652613"/>
            <a:ext cx="2391507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60468" y="7890357"/>
            <a:ext cx="2391507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668</a:t>
            </a:r>
          </a:p>
        </p:txBody>
      </p:sp>
      <p:sp>
        <p:nvSpPr>
          <p:cNvPr id="54" name="rule"/>
          <p:cNvSpPr/>
          <p:nvPr/>
        </p:nvSpPr>
        <p:spPr>
          <a:xfrm>
            <a:off x="9144000" y="7652613"/>
            <a:ext cx="2391507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44000" y="7890357"/>
            <a:ext cx="2391507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453</a:t>
            </a:r>
          </a:p>
        </p:txBody>
      </p:sp>
      <p:sp>
        <p:nvSpPr>
          <p:cNvPr id="56" name="rule"/>
          <p:cNvSpPr/>
          <p:nvPr/>
        </p:nvSpPr>
        <p:spPr>
          <a:xfrm>
            <a:off x="11727531" y="7652613"/>
            <a:ext cx="2391507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727531" y="7890357"/>
            <a:ext cx="2391507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2,078</a:t>
            </a:r>
          </a:p>
        </p:txBody>
      </p:sp>
      <p:sp>
        <p:nvSpPr>
          <p:cNvPr id="58" name="rule"/>
          <p:cNvSpPr/>
          <p:nvPr/>
        </p:nvSpPr>
        <p:spPr>
          <a:xfrm>
            <a:off x="14311063" y="7652613"/>
            <a:ext cx="2989384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4311063" y="7890357"/>
            <a:ext cx="2989384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1,472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" y="914400"/>
            <a:ext cx="1631289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u="none" i="0" spc="150">
                <a:solidFill>
                  <a:srgbClr val="A1A1AA"/>
                </a:solidFill>
                <a:latin typeface="Arial"/>
              </a:rPr>
              <a:t>SPECTRUM · SCENARIOS THAT FIT (2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1371600"/>
            <a:ext cx="16312896" cy="13487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u="none" i="0">
                <a:solidFill>
                  <a:srgbClr val="18181B"/>
                </a:solidFill>
                <a:latin typeface="Arial"/>
              </a:rPr>
              <a:t>The longer the prefix, the more the 7× prefill deficit costs CS-3 alone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" y="2884932"/>
            <a:ext cx="118872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52525B"/>
                </a:solidFill>
                <a:latin typeface="Arial"/>
              </a:rPr>
              <a:t>ms per request. Same model as the previous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3744468"/>
            <a:ext cx="5380892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 spc="150">
                <a:solidFill>
                  <a:srgbClr val="A1A1AA"/>
                </a:solidFill>
                <a:latin typeface="Arial"/>
              </a:rPr>
              <a:t>SCENARIO (PREFIX / DECODE)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60468" y="3744468"/>
            <a:ext cx="2391507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 spc="150">
                <a:solidFill>
                  <a:srgbClr val="A1A1AA"/>
                </a:solidFill>
                <a:latin typeface="Arial"/>
              </a:rPr>
              <a:t>CS-3 ALONE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3744468"/>
            <a:ext cx="2391507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 spc="150">
                <a:solidFill>
                  <a:srgbClr val="A1A1AA"/>
                </a:solidFill>
                <a:latin typeface="Arial"/>
              </a:rPr>
              <a:t>PD-SPLIT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27531" y="3744468"/>
            <a:ext cx="2391507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 spc="150">
                <a:solidFill>
                  <a:srgbClr val="A1A1AA"/>
                </a:solidFill>
                <a:latin typeface="Arial"/>
              </a:rPr>
              <a:t>H100 ALONE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311063" y="3744468"/>
            <a:ext cx="2989384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 spc="150">
                <a:solidFill>
                  <a:srgbClr val="A1A1AA"/>
                </a:solidFill>
                <a:latin typeface="Arial"/>
              </a:rPr>
              <a:t>GPU-STREAMED</a:t>
            </a:r>
          </a:p>
        </p:txBody>
      </p:sp>
      <p:sp>
        <p:nvSpPr>
          <p:cNvPr id="10" name="rule"/>
          <p:cNvSpPr/>
          <p:nvPr/>
        </p:nvSpPr>
        <p:spPr>
          <a:xfrm>
            <a:off x="987552" y="4210812"/>
            <a:ext cx="5380892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4448555"/>
            <a:ext cx="538089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Mooncake conv p50 (6,900 / 350)</a:t>
            </a:r>
          </a:p>
        </p:txBody>
      </p:sp>
      <p:sp>
        <p:nvSpPr>
          <p:cNvPr id="12" name="rule"/>
          <p:cNvSpPr/>
          <p:nvPr/>
        </p:nvSpPr>
        <p:spPr>
          <a:xfrm>
            <a:off x="6560468" y="4210812"/>
            <a:ext cx="2391507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0468" y="4448555"/>
            <a:ext cx="2391507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1,096</a:t>
            </a:r>
          </a:p>
        </p:txBody>
      </p:sp>
      <p:sp>
        <p:nvSpPr>
          <p:cNvPr id="14" name="rule"/>
          <p:cNvSpPr/>
          <p:nvPr/>
        </p:nvSpPr>
        <p:spPr>
          <a:xfrm>
            <a:off x="9144000" y="4210812"/>
            <a:ext cx="2391507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4448555"/>
            <a:ext cx="2391507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482</a:t>
            </a:r>
          </a:p>
        </p:txBody>
      </p:sp>
      <p:sp>
        <p:nvSpPr>
          <p:cNvPr id="16" name="rule"/>
          <p:cNvSpPr/>
          <p:nvPr/>
        </p:nvSpPr>
        <p:spPr>
          <a:xfrm>
            <a:off x="11727531" y="4210812"/>
            <a:ext cx="2391507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727531" y="4448555"/>
            <a:ext cx="2391507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1,834</a:t>
            </a:r>
          </a:p>
        </p:txBody>
      </p:sp>
      <p:sp>
        <p:nvSpPr>
          <p:cNvPr id="18" name="rule"/>
          <p:cNvSpPr/>
          <p:nvPr/>
        </p:nvSpPr>
        <p:spPr>
          <a:xfrm>
            <a:off x="14311063" y="4210812"/>
            <a:ext cx="2989384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311063" y="4448555"/>
            <a:ext cx="2989384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2,850</a:t>
            </a:r>
          </a:p>
        </p:txBody>
      </p:sp>
      <p:sp>
        <p:nvSpPr>
          <p:cNvPr id="20" name="rule"/>
          <p:cNvSpPr/>
          <p:nvPr/>
        </p:nvSpPr>
        <p:spPr>
          <a:xfrm>
            <a:off x="987552" y="5033772"/>
            <a:ext cx="5380892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" y="5271516"/>
            <a:ext cx="538089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Mooncake toolagent p90 (17,000 / 507)</a:t>
            </a:r>
          </a:p>
        </p:txBody>
      </p:sp>
      <p:sp>
        <p:nvSpPr>
          <p:cNvPr id="22" name="rule"/>
          <p:cNvSpPr/>
          <p:nvPr/>
        </p:nvSpPr>
        <p:spPr>
          <a:xfrm>
            <a:off x="6560468" y="5033772"/>
            <a:ext cx="2391507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60468" y="5271516"/>
            <a:ext cx="2391507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2,435</a:t>
            </a:r>
          </a:p>
        </p:txBody>
      </p:sp>
      <p:sp>
        <p:nvSpPr>
          <p:cNvPr id="24" name="rule"/>
          <p:cNvSpPr/>
          <p:nvPr/>
        </p:nvSpPr>
        <p:spPr>
          <a:xfrm>
            <a:off x="9144000" y="5033772"/>
            <a:ext cx="2391507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0" y="5271516"/>
            <a:ext cx="2391507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1,012</a:t>
            </a:r>
          </a:p>
        </p:txBody>
      </p:sp>
      <p:sp>
        <p:nvSpPr>
          <p:cNvPr id="26" name="rule"/>
          <p:cNvSpPr/>
          <p:nvPr/>
        </p:nvSpPr>
        <p:spPr>
          <a:xfrm>
            <a:off x="11727531" y="5033772"/>
            <a:ext cx="2391507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727531" y="5271516"/>
            <a:ext cx="2391507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3,103</a:t>
            </a:r>
          </a:p>
        </p:txBody>
      </p:sp>
      <p:sp>
        <p:nvSpPr>
          <p:cNvPr id="28" name="rule"/>
          <p:cNvSpPr/>
          <p:nvPr/>
        </p:nvSpPr>
        <p:spPr>
          <a:xfrm>
            <a:off x="14311063" y="5033772"/>
            <a:ext cx="2989384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311063" y="5271516"/>
            <a:ext cx="2989384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9,468</a:t>
            </a:r>
          </a:p>
        </p:txBody>
      </p:sp>
      <p:sp>
        <p:nvSpPr>
          <p:cNvPr id="30" name="rule"/>
          <p:cNvSpPr/>
          <p:nvPr/>
        </p:nvSpPr>
        <p:spPr>
          <a:xfrm>
            <a:off x="987552" y="5856732"/>
            <a:ext cx="5380892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7552" y="6094476"/>
            <a:ext cx="538089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Long-doc classification (27,000 / 20)</a:t>
            </a:r>
          </a:p>
        </p:txBody>
      </p:sp>
      <p:sp>
        <p:nvSpPr>
          <p:cNvPr id="32" name="rule"/>
          <p:cNvSpPr/>
          <p:nvPr/>
        </p:nvSpPr>
        <p:spPr>
          <a:xfrm>
            <a:off x="6560468" y="5856732"/>
            <a:ext cx="2391507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60468" y="6094476"/>
            <a:ext cx="2391507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2,872</a:t>
            </a:r>
          </a:p>
        </p:txBody>
      </p:sp>
      <p:sp>
        <p:nvSpPr>
          <p:cNvPr id="34" name="rule"/>
          <p:cNvSpPr/>
          <p:nvPr/>
        </p:nvSpPr>
        <p:spPr>
          <a:xfrm>
            <a:off x="9144000" y="5856732"/>
            <a:ext cx="2391507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0" y="6094476"/>
            <a:ext cx="2391507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734</a:t>
            </a:r>
          </a:p>
        </p:txBody>
      </p:sp>
      <p:sp>
        <p:nvSpPr>
          <p:cNvPr id="36" name="rule"/>
          <p:cNvSpPr/>
          <p:nvPr/>
        </p:nvSpPr>
        <p:spPr>
          <a:xfrm>
            <a:off x="11727531" y="5856732"/>
            <a:ext cx="2391507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727531" y="6094476"/>
            <a:ext cx="2391507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796</a:t>
            </a:r>
          </a:p>
        </p:txBody>
      </p:sp>
      <p:sp>
        <p:nvSpPr>
          <p:cNvPr id="38" name="rule"/>
          <p:cNvSpPr/>
          <p:nvPr/>
        </p:nvSpPr>
        <p:spPr>
          <a:xfrm>
            <a:off x="14311063" y="5856732"/>
            <a:ext cx="2989384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4311063" y="6094476"/>
            <a:ext cx="2989384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1,238</a:t>
            </a:r>
          </a:p>
        </p:txBody>
      </p:sp>
      <p:sp>
        <p:nvSpPr>
          <p:cNvPr id="40" name="rule"/>
          <p:cNvSpPr/>
          <p:nvPr/>
        </p:nvSpPr>
        <p:spPr>
          <a:xfrm>
            <a:off x="987552" y="6679692"/>
            <a:ext cx="5380892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87552" y="6917436"/>
            <a:ext cx="538089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Mooncake conv p90 (27,000 / 597)</a:t>
            </a:r>
          </a:p>
        </p:txBody>
      </p:sp>
      <p:sp>
        <p:nvSpPr>
          <p:cNvPr id="42" name="rule"/>
          <p:cNvSpPr/>
          <p:nvPr/>
        </p:nvSpPr>
        <p:spPr>
          <a:xfrm>
            <a:off x="6560468" y="6679692"/>
            <a:ext cx="2391507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60468" y="6917436"/>
            <a:ext cx="2391507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3,730</a:t>
            </a:r>
          </a:p>
        </p:txBody>
      </p:sp>
      <p:sp>
        <p:nvSpPr>
          <p:cNvPr id="44" name="rule"/>
          <p:cNvSpPr/>
          <p:nvPr/>
        </p:nvSpPr>
        <p:spPr>
          <a:xfrm>
            <a:off x="9144000" y="6679692"/>
            <a:ext cx="2391507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0" y="6917436"/>
            <a:ext cx="2391507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1,592</a:t>
            </a:r>
          </a:p>
        </p:txBody>
      </p:sp>
      <p:sp>
        <p:nvSpPr>
          <p:cNvPr id="46" name="rule"/>
          <p:cNvSpPr/>
          <p:nvPr/>
        </p:nvSpPr>
        <p:spPr>
          <a:xfrm>
            <a:off x="11727531" y="6679692"/>
            <a:ext cx="2391507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727531" y="6917436"/>
            <a:ext cx="2391507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4,212</a:t>
            </a:r>
          </a:p>
        </p:txBody>
      </p:sp>
      <p:sp>
        <p:nvSpPr>
          <p:cNvPr id="48" name="rule"/>
          <p:cNvSpPr/>
          <p:nvPr/>
        </p:nvSpPr>
        <p:spPr>
          <a:xfrm>
            <a:off x="14311063" y="6679692"/>
            <a:ext cx="2989384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4311063" y="6917436"/>
            <a:ext cx="2989384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17,411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" y="914400"/>
            <a:ext cx="1631289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u="none" i="0" spc="150">
                <a:solidFill>
                  <a:srgbClr val="A1A1AA"/>
                </a:solidFill>
                <a:latin typeface="Arial"/>
              </a:rPr>
              <a:t>SPECTRUM · ABOVE THE WALL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1371600"/>
            <a:ext cx="16312896" cy="13487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u="none" i="0">
                <a:solidFill>
                  <a:srgbClr val="18181B"/>
                </a:solidFill>
                <a:latin typeface="Arial"/>
              </a:rPr>
              <a:t>Above 29K only the H100 serves — PD-split does not extend the ceiling, because its decode side is the wafer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" y="2884932"/>
            <a:ext cx="1188720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52525B"/>
                </a:solidFill>
                <a:latin typeface="Arial"/>
              </a:rPr>
              <a:t>ms per request. The Claude Code row is a frontier-model workload a 4B never serves; it is here for completeness, not as a target.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4146803"/>
            <a:ext cx="5380892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 spc="150">
                <a:solidFill>
                  <a:srgbClr val="A1A1AA"/>
                </a:solidFill>
                <a:latin typeface="Arial"/>
              </a:rPr>
              <a:t>SCENARIO (PREFIX / DECODE)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60468" y="4146803"/>
            <a:ext cx="2391507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 spc="150">
                <a:solidFill>
                  <a:srgbClr val="A1A1AA"/>
                </a:solidFill>
                <a:latin typeface="Arial"/>
              </a:rPr>
              <a:t>CS-3 ALONE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4146803"/>
            <a:ext cx="2391507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 spc="150">
                <a:solidFill>
                  <a:srgbClr val="A1A1AA"/>
                </a:solidFill>
                <a:latin typeface="Arial"/>
              </a:rPr>
              <a:t>PD-SPLIT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27531" y="4146803"/>
            <a:ext cx="2391507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 spc="150">
                <a:solidFill>
                  <a:srgbClr val="A1A1AA"/>
                </a:solidFill>
                <a:latin typeface="Arial"/>
              </a:rPr>
              <a:t>H100 ALONE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311063" y="4146803"/>
            <a:ext cx="2989384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 spc="150">
                <a:solidFill>
                  <a:srgbClr val="A1A1AA"/>
                </a:solidFill>
                <a:latin typeface="Arial"/>
              </a:rPr>
              <a:t>GPU-STREAMED</a:t>
            </a:r>
          </a:p>
        </p:txBody>
      </p:sp>
      <p:sp>
        <p:nvSpPr>
          <p:cNvPr id="10" name="rule"/>
          <p:cNvSpPr/>
          <p:nvPr/>
        </p:nvSpPr>
        <p:spPr>
          <a:xfrm>
            <a:off x="987552" y="4613147"/>
            <a:ext cx="5380892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4850891"/>
            <a:ext cx="538089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Mooncake conv p99 (85,000 / 1,100)</a:t>
            </a:r>
          </a:p>
        </p:txBody>
      </p:sp>
      <p:sp>
        <p:nvSpPr>
          <p:cNvPr id="12" name="rule"/>
          <p:cNvSpPr/>
          <p:nvPr/>
        </p:nvSpPr>
        <p:spPr>
          <a:xfrm>
            <a:off x="6560468" y="4613147"/>
            <a:ext cx="2391507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0468" y="4850891"/>
            <a:ext cx="2391507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no fit</a:t>
            </a:r>
          </a:p>
        </p:txBody>
      </p:sp>
      <p:sp>
        <p:nvSpPr>
          <p:cNvPr id="14" name="rule"/>
          <p:cNvSpPr/>
          <p:nvPr/>
        </p:nvSpPr>
        <p:spPr>
          <a:xfrm>
            <a:off x="9144000" y="4613147"/>
            <a:ext cx="2391507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4850891"/>
            <a:ext cx="2391507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no fit</a:t>
            </a:r>
          </a:p>
        </p:txBody>
      </p:sp>
      <p:sp>
        <p:nvSpPr>
          <p:cNvPr id="16" name="rule"/>
          <p:cNvSpPr/>
          <p:nvPr/>
        </p:nvSpPr>
        <p:spPr>
          <a:xfrm>
            <a:off x="11727531" y="4613147"/>
            <a:ext cx="2391507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727531" y="4850891"/>
            <a:ext cx="2391507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12,075</a:t>
            </a:r>
          </a:p>
        </p:txBody>
      </p:sp>
      <p:sp>
        <p:nvSpPr>
          <p:cNvPr id="18" name="rule"/>
          <p:cNvSpPr/>
          <p:nvPr/>
        </p:nvSpPr>
        <p:spPr>
          <a:xfrm>
            <a:off x="14311063" y="4613147"/>
            <a:ext cx="2989384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311063" y="4850891"/>
            <a:ext cx="2989384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97,363</a:t>
            </a:r>
          </a:p>
        </p:txBody>
      </p:sp>
      <p:sp>
        <p:nvSpPr>
          <p:cNvPr id="20" name="rule"/>
          <p:cNvSpPr/>
          <p:nvPr/>
        </p:nvSpPr>
        <p:spPr>
          <a:xfrm>
            <a:off x="987552" y="5436107"/>
            <a:ext cx="5380892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" y="5673851"/>
            <a:ext cx="538089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Claude Code median (197,000 / 5,800)</a:t>
            </a:r>
          </a:p>
        </p:txBody>
      </p:sp>
      <p:sp>
        <p:nvSpPr>
          <p:cNvPr id="22" name="rule"/>
          <p:cNvSpPr/>
          <p:nvPr/>
        </p:nvSpPr>
        <p:spPr>
          <a:xfrm>
            <a:off x="6560468" y="5436107"/>
            <a:ext cx="2391507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60468" y="5673851"/>
            <a:ext cx="2391507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no fit</a:t>
            </a:r>
          </a:p>
        </p:txBody>
      </p:sp>
      <p:sp>
        <p:nvSpPr>
          <p:cNvPr id="24" name="rule"/>
          <p:cNvSpPr/>
          <p:nvPr/>
        </p:nvSpPr>
        <p:spPr>
          <a:xfrm>
            <a:off x="9144000" y="5436107"/>
            <a:ext cx="2391507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0" y="5673851"/>
            <a:ext cx="2391507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no fit</a:t>
            </a:r>
          </a:p>
        </p:txBody>
      </p:sp>
      <p:sp>
        <p:nvSpPr>
          <p:cNvPr id="26" name="rule"/>
          <p:cNvSpPr/>
          <p:nvPr/>
        </p:nvSpPr>
        <p:spPr>
          <a:xfrm>
            <a:off x="11727531" y="5436107"/>
            <a:ext cx="2391507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727531" y="5673851"/>
            <a:ext cx="2391507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88,215</a:t>
            </a:r>
          </a:p>
        </p:txBody>
      </p:sp>
      <p:sp>
        <p:nvSpPr>
          <p:cNvPr id="28" name="rule"/>
          <p:cNvSpPr/>
          <p:nvPr/>
        </p:nvSpPr>
        <p:spPr>
          <a:xfrm>
            <a:off x="14311063" y="5436107"/>
            <a:ext cx="2989384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311063" y="5673851"/>
            <a:ext cx="2989384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1,158,677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" y="914400"/>
            <a:ext cx="1631289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u="none" i="0" spc="150">
                <a:solidFill>
                  <a:srgbClr val="A1A1AA"/>
                </a:solidFill>
                <a:latin typeface="Arial"/>
              </a:rPr>
              <a:t>SPECTRUM · HOW TO READ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1371600"/>
            <a:ext cx="16312896" cy="13487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u="none" i="0">
                <a:solidFill>
                  <a:srgbClr val="18181B"/>
                </a:solidFill>
                <a:latin typeface="Arial"/>
              </a:rPr>
              <a:t>Prefix length sets the margin over CS-3 alone; decode share sets the margin over the H100</a:t>
            </a:r>
          </a:p>
        </p:txBody>
      </p:sp>
      <p:sp>
        <p:nvSpPr>
          <p:cNvPr id="4" name="dot"/>
          <p:cNvSpPr/>
          <p:nvPr/>
        </p:nvSpPr>
        <p:spPr>
          <a:xfrm>
            <a:off x="987552" y="3287268"/>
            <a:ext cx="109728" cy="10972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53312" y="3159251"/>
            <a:ext cx="1594713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Over CS-3 alone: 1.03× at a 208-token prefix, rising to 3.9× at 27K — PD-split is the prefill fix</a:t>
            </a:r>
          </a:p>
        </p:txBody>
      </p:sp>
      <p:sp>
        <p:nvSpPr>
          <p:cNvPr id="6" name="dot"/>
          <p:cNvSpPr/>
          <p:nvPr/>
        </p:nvSpPr>
        <p:spPr>
          <a:xfrm>
            <a:off x="987552" y="4000499"/>
            <a:ext cx="109728" cy="10972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53312" y="3872483"/>
            <a:ext cx="1594713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Over H100 alone: 5.0× where decode is ~100% of the work, down to 1.08× at 4% — the decode advantage</a:t>
            </a:r>
          </a:p>
        </p:txBody>
      </p:sp>
      <p:sp>
        <p:nvSpPr>
          <p:cNvPr id="8" name="dot"/>
          <p:cNvSpPr/>
          <p:nvPr/>
        </p:nvSpPr>
        <p:spPr>
          <a:xfrm>
            <a:off x="987552" y="4713731"/>
            <a:ext cx="109728" cy="10972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53312" y="4585716"/>
            <a:ext cx="1594713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The 29K wall decides participation; above it the GPU is alone, with or without a wafer</a:t>
            </a:r>
          </a:p>
        </p:txBody>
      </p:sp>
      <p:sp>
        <p:nvSpPr>
          <p:cNvPr id="10" name="dot"/>
          <p:cNvSpPr/>
          <p:nvPr/>
        </p:nvSpPr>
        <p:spPr>
          <a:xfrm>
            <a:off x="987552" y="5426964"/>
            <a:ext cx="109728" cy="10972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53312" y="5298948"/>
            <a:ext cx="1594713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Short-prefix / long-decode (reasoning) is the wafer's home turf: 5× over H100 alone, PD-split barely needed</a:t>
            </a:r>
          </a:p>
        </p:txBody>
      </p:sp>
      <p:sp>
        <p:nvSpPr>
          <p:cNvPr id="12" name="dot"/>
          <p:cNvSpPr/>
          <p:nvPr/>
        </p:nvSpPr>
        <p:spPr>
          <a:xfrm>
            <a:off x="987552" y="6140196"/>
            <a:ext cx="109728" cy="10972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53312" y="6012180"/>
            <a:ext cx="1594713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Long-prefix / short-decode (RAG, summarisation) needs PD-split, and the H100 is competitive</a:t>
            </a:r>
          </a:p>
        </p:txBody>
      </p:sp>
      <p:sp>
        <p:nvSpPr>
          <p:cNvPr id="14" name="dot"/>
          <p:cNvSpPr/>
          <p:nvPr/>
        </p:nvSpPr>
        <p:spPr>
          <a:xfrm>
            <a:off x="987552" y="6853428"/>
            <a:ext cx="109728" cy="10972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53312" y="6725412"/>
            <a:ext cx="1594713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PD-split was ruled out earlier on a 3.2 GB/s H2D measurement; the real link is 62–176× that requirement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" y="914400"/>
            <a:ext cx="1631289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u="none" i="0" spc="150">
                <a:solidFill>
                  <a:srgbClr val="A1A1AA"/>
                </a:solidFill>
                <a:latin typeface="Arial"/>
              </a:rPr>
              <a:t>SPECTRUM · DEPTH VS BREADTH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1371600"/>
            <a:ext cx="16312896" cy="13487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u="none" i="0">
                <a:solidFill>
                  <a:srgbClr val="18181B"/>
                </a:solidFill>
                <a:latin typeface="Arial"/>
              </a:rPr>
              <a:t>The same 167K holds zero agentic requests or 803 ServeGen requests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" y="2884932"/>
            <a:ext cx="118872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52525B"/>
                </a:solidFill>
                <a:latin typeface="Arial"/>
              </a:rPr>
              <a:t>Capacity spent on one request's depth, or on many requests' prefixes. Derived.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3744468"/>
            <a:ext cx="4017912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 spc="150">
                <a:solidFill>
                  <a:srgbClr val="A1A1AA"/>
                </a:solidFill>
                <a:latin typeface="Arial"/>
              </a:rPr>
              <a:t>CAPACITY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97488" y="3744468"/>
            <a:ext cx="4352738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 spc="150">
                <a:solidFill>
                  <a:srgbClr val="A1A1AA"/>
                </a:solidFill>
                <a:latin typeface="Arial"/>
              </a:rPr>
              <a:t>DEPTH: ONE AGENTIC REQUEST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42251" y="3744468"/>
            <a:ext cx="368308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 spc="150">
                <a:solidFill>
                  <a:srgbClr val="A1A1AA"/>
                </a:solidFill>
                <a:latin typeface="Arial"/>
              </a:rPr>
              <a:t>MOONCAKE P50 (6.9K PREFIX)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617361" y="3744468"/>
            <a:ext cx="3683086" cy="6537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 spc="150">
                <a:solidFill>
                  <a:srgbClr val="A1A1AA"/>
                </a:solidFill>
                <a:latin typeface="Arial"/>
              </a:rPr>
              <a:t>SERVEGEN R1 P50 (208 PREFIX)</a:t>
            </a:r>
          </a:p>
        </p:txBody>
      </p:sp>
      <p:sp>
        <p:nvSpPr>
          <p:cNvPr id="9" name="rule"/>
          <p:cNvSpPr/>
          <p:nvPr/>
        </p:nvSpPr>
        <p:spPr>
          <a:xfrm>
            <a:off x="987552" y="4210812"/>
            <a:ext cx="4017912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4448555"/>
            <a:ext cx="401791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Today, 29K (measured)</a:t>
            </a:r>
          </a:p>
        </p:txBody>
      </p:sp>
      <p:sp>
        <p:nvSpPr>
          <p:cNvPr id="11" name="rule"/>
          <p:cNvSpPr/>
          <p:nvPr/>
        </p:nvSpPr>
        <p:spPr>
          <a:xfrm>
            <a:off x="5197488" y="4210812"/>
            <a:ext cx="4352738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97488" y="4448555"/>
            <a:ext cx="4352738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14.7% of the 197K median</a:t>
            </a:r>
          </a:p>
        </p:txBody>
      </p:sp>
      <p:sp>
        <p:nvSpPr>
          <p:cNvPr id="13" name="rule"/>
          <p:cNvSpPr/>
          <p:nvPr/>
        </p:nvSpPr>
        <p:spPr>
          <a:xfrm>
            <a:off x="9742251" y="4210812"/>
            <a:ext cx="368308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42251" y="4448555"/>
            <a:ext cx="368308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4 prefixes</a:t>
            </a:r>
          </a:p>
        </p:txBody>
      </p:sp>
      <p:sp>
        <p:nvSpPr>
          <p:cNvPr id="15" name="rule"/>
          <p:cNvSpPr/>
          <p:nvPr/>
        </p:nvSpPr>
        <p:spPr>
          <a:xfrm>
            <a:off x="13617361" y="4210812"/>
            <a:ext cx="368308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617361" y="4448555"/>
            <a:ext cx="368308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139 prefixes</a:t>
            </a:r>
          </a:p>
        </p:txBody>
      </p:sp>
      <p:sp>
        <p:nvSpPr>
          <p:cNvPr id="17" name="rule"/>
          <p:cNvSpPr/>
          <p:nvPr/>
        </p:nvSpPr>
        <p:spPr>
          <a:xfrm>
            <a:off x="987552" y="5033772"/>
            <a:ext cx="4017912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5271516"/>
            <a:ext cx="401791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Far pool, 167K (derived)</a:t>
            </a:r>
          </a:p>
        </p:txBody>
      </p:sp>
      <p:sp>
        <p:nvSpPr>
          <p:cNvPr id="19" name="rule"/>
          <p:cNvSpPr/>
          <p:nvPr/>
        </p:nvSpPr>
        <p:spPr>
          <a:xfrm>
            <a:off x="5197488" y="5033772"/>
            <a:ext cx="4352738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97488" y="5271516"/>
            <a:ext cx="4352738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84.8% — still short</a:t>
            </a:r>
          </a:p>
        </p:txBody>
      </p:sp>
      <p:sp>
        <p:nvSpPr>
          <p:cNvPr id="21" name="rule"/>
          <p:cNvSpPr/>
          <p:nvPr/>
        </p:nvSpPr>
        <p:spPr>
          <a:xfrm>
            <a:off x="9742251" y="5033772"/>
            <a:ext cx="368308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42251" y="5271516"/>
            <a:ext cx="368308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24 prefixes</a:t>
            </a:r>
          </a:p>
        </p:txBody>
      </p:sp>
      <p:sp>
        <p:nvSpPr>
          <p:cNvPr id="23" name="rule"/>
          <p:cNvSpPr/>
          <p:nvPr/>
        </p:nvSpPr>
        <p:spPr>
          <a:xfrm>
            <a:off x="13617361" y="5033772"/>
            <a:ext cx="368308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617361" y="5271516"/>
            <a:ext cx="368308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803 prefixes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" y="914400"/>
            <a:ext cx="1631289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u="none" i="0" spc="150">
                <a:solidFill>
                  <a:srgbClr val="A1A1AA"/>
                </a:solidFill>
                <a:latin typeface="Arial"/>
              </a:rPr>
              <a:t>SPECTRUM · RECOMMENDED ORDER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1371600"/>
            <a:ext cx="16312896" cy="13487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u="none" i="0">
                <a:solidFill>
                  <a:srgbClr val="18181B"/>
                </a:solidFill>
                <a:latin typeface="Arial"/>
              </a:rPr>
              <a:t>Push breadth first: prefix reuse inside today's 29K, with harvesting as the mechanism</a:t>
            </a:r>
          </a:p>
        </p:txBody>
      </p:sp>
      <p:sp>
        <p:nvSpPr>
          <p:cNvPr id="4" name="dot"/>
          <p:cNvSpPr/>
          <p:nvPr/>
        </p:nvSpPr>
        <p:spPr>
          <a:xfrm>
            <a:off x="987552" y="3287268"/>
            <a:ext cx="109728" cy="10972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53312" y="3159251"/>
            <a:ext cx="1594713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Prefix reuse is startable inside today's 29K, with two independent justifications</a:t>
            </a:r>
          </a:p>
        </p:txBody>
      </p:sp>
      <p:sp>
        <p:nvSpPr>
          <p:cNvPr id="6" name="dot"/>
          <p:cNvSpPr/>
          <p:nvPr/>
        </p:nvSpPr>
        <p:spPr>
          <a:xfrm>
            <a:off x="987552" y="4000499"/>
            <a:ext cx="109728" cy="10972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53312" y="3872483"/>
            <a:ext cx="15947136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Our prefill is 7× slower, so avoiding a re-prefill is worth 7× more to us: 10.9K tokens cost the H100 156 ms and CS-3 1,147 ms</a:t>
            </a:r>
          </a:p>
        </p:txBody>
      </p:sp>
      <p:sp>
        <p:nvSpPr>
          <p:cNvPr id="8" name="dot"/>
          <p:cNvSpPr/>
          <p:nvPr/>
        </p:nvSpPr>
        <p:spPr>
          <a:xfrm>
            <a:off x="987552" y="5116067"/>
            <a:ext cx="109728" cy="10972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53312" y="4988051"/>
            <a:ext cx="1594713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ServeGen traffic is 3.9 : 1 prefill-to-decode by token</a:t>
            </a:r>
          </a:p>
        </p:txBody>
      </p:sp>
      <p:sp>
        <p:nvSpPr>
          <p:cNvPr id="10" name="dot"/>
          <p:cNvSpPr/>
          <p:nvPr/>
        </p:nvSpPr>
        <p:spPr>
          <a:xfrm>
            <a:off x="987552" y="5829299"/>
            <a:ext cx="109728" cy="10972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53312" y="5701283"/>
            <a:ext cx="1594713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Near-pool harvesting is the one rung already priced: 1.17 cycles per word, inside the ≤ 2 gate (simfab microbench)</a:t>
            </a:r>
          </a:p>
        </p:txBody>
      </p:sp>
      <p:sp>
        <p:nvSpPr>
          <p:cNvPr id="12" name="dot"/>
          <p:cNvSpPr/>
          <p:nvPr/>
        </p:nvSpPr>
        <p:spPr>
          <a:xfrm>
            <a:off x="987552" y="6542531"/>
            <a:ext cx="109728" cy="10972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53312" y="6414516"/>
            <a:ext cx="1594713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Then the depth-vs-breadth allocation curve</a:t>
            </a:r>
          </a:p>
        </p:txBody>
      </p:sp>
      <p:sp>
        <p:nvSpPr>
          <p:cNvPr id="14" name="dot"/>
          <p:cNvSpPr/>
          <p:nvPr/>
        </p:nvSpPr>
        <p:spPr>
          <a:xfrm>
            <a:off x="987552" y="7255764"/>
            <a:ext cx="109728" cy="10972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53312" y="7127748"/>
            <a:ext cx="1594713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Do not chase 167K or 225K as a target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" y="3877056"/>
            <a:ext cx="16312896" cy="1110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100" b="1" u="none" i="0">
                <a:solidFill>
                  <a:srgbClr val="6D28D9"/>
                </a:solidFill>
                <a:latin typeface="Arial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5239512"/>
            <a:ext cx="16312896" cy="6743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u="none" i="0">
                <a:solidFill>
                  <a:srgbClr val="18181B"/>
                </a:solidFill>
                <a:latin typeface="Arial"/>
              </a:rPr>
              <a:t>Layout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" y="6099048"/>
            <a:ext cx="1188720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52525B"/>
                </a:solidFill>
                <a:latin typeface="Arial"/>
              </a:rPr>
              <a:t>One decoder layer cut into three thin stages on a single 256×256 block. Implemented through a five-layer group, measured on CS-3, closed on 2026-09-13.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" y="914400"/>
            <a:ext cx="1631289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u="none" i="0" spc="150">
                <a:solidFill>
                  <a:srgbClr val="A1A1AA"/>
                </a:solidFill>
                <a:latin typeface="Arial"/>
              </a:rPr>
              <a:t>LAYOUT C · PLACEMENT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1371600"/>
            <a:ext cx="16312896" cy="13487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u="none" i="0">
                <a:solidFill>
                  <a:srgbClr val="18181B"/>
                </a:solidFill>
                <a:latin typeface="Arial"/>
              </a:rPr>
              <a:t>Eight groups of five layers on a 650 × 1028 footprint, with head and tail on the left</a:t>
            </a:r>
          </a:p>
        </p:txBody>
      </p:sp>
      <p:pic>
        <p:nvPicPr>
          <p:cNvPr id="4" name="figure" descr="layoutC_placement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3563" y="3159251"/>
            <a:ext cx="2960873" cy="45971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87552" y="8030717"/>
            <a:ext cx="1631289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A1A1AA"/>
                </a:solidFill>
                <a:latin typeface="Arial"/>
              </a:rPr>
              <a:t>Wafer map only; the colour ledger is in the source figure. Analytical placement from a design and source audit, not a compiled full model.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" y="914400"/>
            <a:ext cx="1631289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u="none" i="0" spc="150">
                <a:solidFill>
                  <a:srgbClr val="A1A1AA"/>
                </a:solidFill>
                <a:latin typeface="Arial"/>
              </a:rPr>
              <a:t>LAYOUT C · ONE GROUP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1371600"/>
            <a:ext cx="16312896" cy="6743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u="none" i="0">
                <a:solidFill>
                  <a:srgbClr val="18181B"/>
                </a:solidFill>
                <a:latin typeface="Arial"/>
              </a:rPr>
              <a:t>A1 and A3 share the left half; A2 takes the whole right half</a:t>
            </a:r>
          </a:p>
        </p:txBody>
      </p:sp>
      <p:pic>
        <p:nvPicPr>
          <p:cNvPr id="4" name="figure" descr="layoutC_tall_a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1272" y="2484882"/>
            <a:ext cx="7105455" cy="494461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87552" y="7703820"/>
            <a:ext cx="16312896" cy="6537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A1A1AA"/>
                </a:solidFill>
                <a:latin typeface="Arial"/>
              </a:rPr>
              <a:t>Compiled miniature (16 × 16 core, one layer, simulator validation) with the same shape as the full geometry: A1 128 × 80 (32 hidden per row), spare 128 × 16, A3 128 × 160 (16 per row), A2 128 × 256 (10 per row). 65,536 PEs reserved, 63,488 active.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" y="914400"/>
            <a:ext cx="1631289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u="none" i="0" spc="150">
                <a:solidFill>
                  <a:srgbClr val="A1A1AA"/>
                </a:solidFill>
                <a:latin typeface="Arial"/>
              </a:rPr>
              <a:t>LAYOUT C · MEASURED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1371600"/>
            <a:ext cx="16312896" cy="6743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u="none" i="0">
                <a:solidFill>
                  <a:srgbClr val="18181B"/>
                </a:solidFill>
                <a:latin typeface="Arial"/>
              </a:rPr>
              <a:t>3.7–3.9× the original's single-layer latency in half the 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" y="2210562"/>
            <a:ext cx="1188720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52525B"/>
                </a:solidFill>
                <a:latin typeface="Arial"/>
              </a:rPr>
              <a:t>Raw CS-3 device cycles, batch 1, BF16, one layer. Serialized latency, not pipelined throughput; synthetic weights.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3472434"/>
            <a:ext cx="2927781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 spc="150">
                <a:solidFill>
                  <a:srgbClr val="A1A1AA"/>
                </a:solidFill>
                <a:latin typeface="Arial"/>
              </a:rPr>
              <a:t>INITIAL KV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07357" y="3472434"/>
            <a:ext cx="5123617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 spc="150">
                <a:solidFill>
                  <a:srgbClr val="A1A1AA"/>
                </a:solidFill>
                <a:latin typeface="Arial"/>
              </a:rPr>
              <a:t>ORIGINAL ATTN + FFN (131,072 PE)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22998" y="3472434"/>
            <a:ext cx="5123617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 spc="150">
                <a:solidFill>
                  <a:srgbClr val="A1A1AA"/>
                </a:solidFill>
                <a:latin typeface="Arial"/>
              </a:rPr>
              <a:t>LAYOUT C A1 + A2 + A3 (65,536 PE)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738639" y="3472434"/>
            <a:ext cx="2561808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 spc="150">
                <a:solidFill>
                  <a:srgbClr val="A1A1AA"/>
                </a:solidFill>
                <a:latin typeface="Arial"/>
              </a:rPr>
              <a:t>RATIO</a:t>
            </a:r>
          </a:p>
        </p:txBody>
      </p:sp>
      <p:sp>
        <p:nvSpPr>
          <p:cNvPr id="9" name="rule"/>
          <p:cNvSpPr/>
          <p:nvPr/>
        </p:nvSpPr>
        <p:spPr>
          <a:xfrm>
            <a:off x="987552" y="3938778"/>
            <a:ext cx="2927781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4176522"/>
            <a:ext cx="292778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1,280</a:t>
            </a:r>
          </a:p>
        </p:txBody>
      </p:sp>
      <p:sp>
        <p:nvSpPr>
          <p:cNvPr id="11" name="rule"/>
          <p:cNvSpPr/>
          <p:nvPr/>
        </p:nvSpPr>
        <p:spPr>
          <a:xfrm>
            <a:off x="4107357" y="3938778"/>
            <a:ext cx="5123617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7357" y="4176522"/>
            <a:ext cx="5123617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26,377 cycles</a:t>
            </a:r>
          </a:p>
        </p:txBody>
      </p:sp>
      <p:sp>
        <p:nvSpPr>
          <p:cNvPr id="13" name="rule"/>
          <p:cNvSpPr/>
          <p:nvPr/>
        </p:nvSpPr>
        <p:spPr>
          <a:xfrm>
            <a:off x="9422998" y="3938778"/>
            <a:ext cx="5123617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22998" y="4176522"/>
            <a:ext cx="5123617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102,511 cycles</a:t>
            </a:r>
          </a:p>
        </p:txBody>
      </p:sp>
      <p:sp>
        <p:nvSpPr>
          <p:cNvPr id="15" name="rule"/>
          <p:cNvSpPr/>
          <p:nvPr/>
        </p:nvSpPr>
        <p:spPr>
          <a:xfrm>
            <a:off x="14738639" y="3938778"/>
            <a:ext cx="2561808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738639" y="4176522"/>
            <a:ext cx="2561808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3.886×</a:t>
            </a:r>
          </a:p>
        </p:txBody>
      </p:sp>
      <p:sp>
        <p:nvSpPr>
          <p:cNvPr id="17" name="rule"/>
          <p:cNvSpPr/>
          <p:nvPr/>
        </p:nvSpPr>
        <p:spPr>
          <a:xfrm>
            <a:off x="987552" y="4761738"/>
            <a:ext cx="2927781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4999482"/>
            <a:ext cx="292778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5,120</a:t>
            </a:r>
          </a:p>
        </p:txBody>
      </p:sp>
      <p:sp>
        <p:nvSpPr>
          <p:cNvPr id="19" name="rule"/>
          <p:cNvSpPr/>
          <p:nvPr/>
        </p:nvSpPr>
        <p:spPr>
          <a:xfrm>
            <a:off x="4107357" y="4761738"/>
            <a:ext cx="5123617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07357" y="4999482"/>
            <a:ext cx="5123617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28,000 cycles</a:t>
            </a:r>
          </a:p>
        </p:txBody>
      </p:sp>
      <p:sp>
        <p:nvSpPr>
          <p:cNvPr id="21" name="rule"/>
          <p:cNvSpPr/>
          <p:nvPr/>
        </p:nvSpPr>
        <p:spPr>
          <a:xfrm>
            <a:off x="9422998" y="4761738"/>
            <a:ext cx="5123617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22998" y="4999482"/>
            <a:ext cx="5123617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104,330 cycles</a:t>
            </a:r>
          </a:p>
        </p:txBody>
      </p:sp>
      <p:sp>
        <p:nvSpPr>
          <p:cNvPr id="23" name="rule"/>
          <p:cNvSpPr/>
          <p:nvPr/>
        </p:nvSpPr>
        <p:spPr>
          <a:xfrm>
            <a:off x="14738639" y="4761738"/>
            <a:ext cx="2561808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738639" y="4999482"/>
            <a:ext cx="2561808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3.726×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" y="914400"/>
            <a:ext cx="1631289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u="none" i="0" spc="150">
                <a:solidFill>
                  <a:srgbClr val="A1A1AA"/>
                </a:solidFill>
                <a:latin typeface="Arial"/>
              </a:rPr>
              <a:t>LAYOUT C · WHY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1371600"/>
            <a:ext cx="16312896" cy="13487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u="none" i="0">
                <a:solidFill>
                  <a:srgbClr val="18181B"/>
                </a:solidFill>
                <a:latin typeface="Arial"/>
              </a:rPr>
              <a:t>FLOP does not predict time here: FFN has 2× the MACs, ATTN takes 2× the time</a:t>
            </a:r>
          </a:p>
        </p:txBody>
      </p:sp>
      <p:pic>
        <p:nvPicPr>
          <p:cNvPr id="4" name="figure" descr="attn_vs_ffn_three_ax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4635" y="3159251"/>
            <a:ext cx="11318729" cy="427024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87552" y="7703819"/>
            <a:ext cx="16312896" cy="6537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A1A1AA"/>
                </a:solidFill>
                <a:latin typeface="Arial"/>
              </a:rPr>
              <a:t>The original ATTN and FFN blocks on three axes. TIME is 4b-wide-layer's phase-TSC profile (per layer per token, 2K, full 256 × 256 square); FLOP is derived MACs per PE; SRAM is the compiled per-PE total. ATTN also grows with context (T_attn / T_ffn → ~2.7 at 8K); FFN is flat.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" y="914400"/>
            <a:ext cx="1631289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u="none" i="0" spc="150">
                <a:solidFill>
                  <a:srgbClr val="A1A1AA"/>
                </a:solidFill>
                <a:latin typeface="Arial"/>
              </a:rPr>
              <a:t>LAYOUT C · THE EXPLANATION THAT SURVIVED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1371600"/>
            <a:ext cx="16312896" cy="13487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u="none" i="0">
                <a:solidFill>
                  <a:srgbClr val="18181B"/>
                </a:solidFill>
                <a:latin typeface="Arial"/>
              </a:rPr>
              <a:t>The kernel is comm- and latency-bound, so a three-way cut pays three coordination costs</a:t>
            </a:r>
          </a:p>
        </p:txBody>
      </p:sp>
      <p:sp>
        <p:nvSpPr>
          <p:cNvPr id="4" name="dot"/>
          <p:cNvSpPr/>
          <p:nvPr/>
        </p:nvSpPr>
        <p:spPr>
          <a:xfrm>
            <a:off x="987552" y="3287268"/>
            <a:ext cx="109728" cy="10972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53312" y="3159251"/>
            <a:ext cx="15947136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The MAC model that named A3 (FFN) as the pacing stage predicted the ratio and got the mechanism backwards — withdrawn</a:t>
            </a:r>
          </a:p>
        </p:txBody>
      </p:sp>
      <p:sp>
        <p:nvSpPr>
          <p:cNvPr id="6" name="dot"/>
          <p:cNvSpPr/>
          <p:nvPr/>
        </p:nvSpPr>
        <p:spPr>
          <a:xfrm>
            <a:off x="987552" y="4402836"/>
            <a:ext cx="109728" cy="10972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53312" y="4274820"/>
            <a:ext cx="1594713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Measured: ATTN paces the original at 2.05× FFN's time, and FFN idles</a:t>
            </a:r>
          </a:p>
        </p:txBody>
      </p:sp>
      <p:sp>
        <p:nvSpPr>
          <p:cNvPr id="8" name="dot"/>
          <p:cNvSpPr/>
          <p:nvPr/>
        </p:nvSpPr>
        <p:spPr>
          <a:xfrm>
            <a:off x="987552" y="5116068"/>
            <a:ext cx="109728" cy="10972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53312" y="4988052"/>
            <a:ext cx="1594713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Per-stage time for A1 / A2 / A3 was never measured; only the combined single-layer numbers exist</a:t>
            </a:r>
          </a:p>
        </p:txBody>
      </p:sp>
      <p:sp>
        <p:nvSpPr>
          <p:cNvPr id="10" name="dot"/>
          <p:cNvSpPr/>
          <p:nvPr/>
        </p:nvSpPr>
        <p:spPr>
          <a:xfrm>
            <a:off x="987552" y="5829300"/>
            <a:ext cx="109728" cy="10972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53312" y="5701284"/>
            <a:ext cx="1594713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Separately measured: ATTN and FFN as independent pipelined stages give 1.47× at 2K and 1.40× at 8K</a:t>
            </a:r>
          </a:p>
        </p:txBody>
      </p:sp>
      <p:sp>
        <p:nvSpPr>
          <p:cNvPr id="12" name="dot"/>
          <p:cNvSpPr/>
          <p:nvPr/>
        </p:nvSpPr>
        <p:spPr>
          <a:xfrm>
            <a:off x="987552" y="6542532"/>
            <a:ext cx="109728" cy="10972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53312" y="6414516"/>
            <a:ext cx="1594713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That result keeps two blocks and overlaps them — the lever layout C gave up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" y="914400"/>
            <a:ext cx="1631289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u="none" i="0" spc="150">
                <a:solidFill>
                  <a:srgbClr val="A1A1AA"/>
                </a:solidFill>
                <a:latin typeface="Arial"/>
              </a:rPr>
              <a:t>LAYOUT C · WHAT STANDS REGARDLESS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1371600"/>
            <a:ext cx="16312896" cy="13487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u="none" i="0">
                <a:solidFill>
                  <a:srgbClr val="18181B"/>
                </a:solidFill>
                <a:latin typeface="Arial"/>
              </a:rPr>
              <a:t>The first five-layer group with on-wafer feedback runs on CS-3, exact</a:t>
            </a:r>
          </a:p>
        </p:txBody>
      </p:sp>
      <p:sp>
        <p:nvSpPr>
          <p:cNvPr id="4" name="dot"/>
          <p:cNvSpPr/>
          <p:nvPr/>
        </p:nvSpPr>
        <p:spPr>
          <a:xfrm>
            <a:off x="987552" y="3287268"/>
            <a:ext cx="109728" cy="10972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53312" y="3159251"/>
            <a:ext cx="1594713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Mini geometry: 5 layers × 33 tokens, 10,560 output elements exact</a:t>
            </a:r>
          </a:p>
        </p:txBody>
      </p:sp>
      <p:sp>
        <p:nvSpPr>
          <p:cNvPr id="6" name="dot"/>
          <p:cNvSpPr/>
          <p:nvPr/>
        </p:nvSpPr>
        <p:spPr>
          <a:xfrm>
            <a:off x="987552" y="4000499"/>
            <a:ext cx="109728" cy="10972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53312" y="3872483"/>
            <a:ext cx="1594713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Full geometry: 5 layers × 2 tokens, 5,120 exact</a:t>
            </a:r>
          </a:p>
        </p:txBody>
      </p:sp>
      <p:sp>
        <p:nvSpPr>
          <p:cNvPr id="8" name="dot"/>
          <p:cNvSpPr/>
          <p:nvPr/>
        </p:nvSpPr>
        <p:spPr>
          <a:xfrm>
            <a:off x="987552" y="4713731"/>
            <a:ext cx="109728" cy="10972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53312" y="4585716"/>
            <a:ext cx="1594713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Full cache probe: 83,886,080 K/V values and every cursor pass; a one-bit-flip negative control fails as it should</a:t>
            </a:r>
          </a:p>
        </p:txBody>
      </p:sp>
      <p:sp>
        <p:nvSpPr>
          <p:cNvPr id="10" name="dot"/>
          <p:cNvSpPr/>
          <p:nvPr/>
        </p:nvSpPr>
        <p:spPr>
          <a:xfrm>
            <a:off x="987552" y="5426964"/>
            <a:ext cx="109728" cy="10972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53312" y="5298948"/>
            <a:ext cx="15947136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Router-only strip transport with the marker / ACK / reset / START protocol validated both directions, with dropped- and duplicated-fragment controls</a:t>
            </a:r>
          </a:p>
        </p:txBody>
      </p:sp>
      <p:sp>
        <p:nvSpPr>
          <p:cNvPr id="12" name="dot"/>
          <p:cNvSpPr/>
          <p:nvPr/>
        </p:nvSpPr>
        <p:spPr>
          <a:xfrm>
            <a:off x="987552" y="6542531"/>
            <a:ext cx="109728" cy="10972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53312" y="6414516"/>
            <a:ext cx="1594713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Two device defects found and fixed on 09-10: A2 RoPE reset overwriting XKCache; cut-chain zero local-layer count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" y="914400"/>
            <a:ext cx="1631289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u="none" i="0" spc="150">
                <a:solidFill>
                  <a:srgbClr val="A1A1AA"/>
                </a:solidFill>
                <a:latin typeface="Arial"/>
              </a:rPr>
              <a:t>LAYOUT C ·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1371600"/>
            <a:ext cx="16312896" cy="13487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u="none" i="0">
                <a:solidFill>
                  <a:srgbClr val="18181B"/>
                </a:solidFill>
                <a:latin typeface="Arial"/>
              </a:rPr>
              <a:t>Closed. Next: one fused 256 × 256 block with attention state on one PE in N</a:t>
            </a:r>
          </a:p>
        </p:txBody>
      </p:sp>
      <p:sp>
        <p:nvSpPr>
          <p:cNvPr id="4" name="dot"/>
          <p:cNvSpPr/>
          <p:nvPr/>
        </p:nvSpPr>
        <p:spPr>
          <a:xfrm>
            <a:off x="987552" y="3287268"/>
            <a:ext cx="109728" cy="10972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53312" y="3159251"/>
            <a:ext cx="1594713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The two-group D17 link is paused (Le, 09-13)</a:t>
            </a:r>
          </a:p>
        </p:txBody>
      </p:sp>
      <p:sp>
        <p:nvSpPr>
          <p:cNvPr id="6" name="dot"/>
          <p:cNvSpPr/>
          <p:nvPr/>
        </p:nvSpPr>
        <p:spPr>
          <a:xfrm>
            <a:off x="987552" y="4000499"/>
            <a:ext cx="109728" cy="10972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53312" y="3872483"/>
            <a:ext cx="1594713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Fused block: FFN + QKV on every PE; attention heavy state on 1-in-N PEs; the rest hold KV and a minimal scan</a:t>
            </a:r>
          </a:p>
        </p:txBody>
      </p:sp>
      <p:sp>
        <p:nvSpPr>
          <p:cNvPr id="8" name="dot"/>
          <p:cNvSpPr/>
          <p:nvPr/>
        </p:nvSpPr>
        <p:spPr>
          <a:xfrm>
            <a:off x="987552" y="4713731"/>
            <a:ext cx="109728" cy="10972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53312" y="4585716"/>
            <a:ext cx="1594713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Gate: compile-only SRAM of the three PE images</a:t>
            </a:r>
          </a:p>
        </p:txBody>
      </p:sp>
      <p:sp>
        <p:nvSpPr>
          <p:cNvPr id="10" name="dot"/>
          <p:cNvSpPr/>
          <p:nvPr/>
        </p:nvSpPr>
        <p:spPr>
          <a:xfrm>
            <a:off x="987552" y="5426964"/>
            <a:ext cx="109728" cy="10972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53312" y="5298948"/>
            <a:ext cx="1594713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First-order expectation: ~1.0× the original's latency in half the area — derived, not measured</a:t>
            </a:r>
          </a:p>
        </p:txBody>
      </p:sp>
      <p:sp>
        <p:nvSpPr>
          <p:cNvPr id="12" name="dot"/>
          <p:cNvSpPr/>
          <p:nvPr/>
        </p:nvSpPr>
        <p:spPr>
          <a:xfrm>
            <a:off x="987552" y="6140196"/>
            <a:ext cx="109728" cy="10972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53312" y="6012180"/>
            <a:ext cx="1594713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Layout C's structural cause — three serial stages sharing one block's area — does not apply to a fused block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" y="3877056"/>
            <a:ext cx="16312896" cy="1110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100" b="1" u="none" i="0">
                <a:solidFill>
                  <a:srgbClr val="6D28D9"/>
                </a:solidFill>
                <a:latin typeface="Arial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5239512"/>
            <a:ext cx="16312896" cy="6743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u="none" i="0">
                <a:solidFill>
                  <a:srgbClr val="18181B"/>
                </a:solidFill>
                <a:latin typeface="Arial"/>
              </a:rPr>
              <a:t>Why the hardware advantage does not come 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" y="6099048"/>
            <a:ext cx="118872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52525B"/>
                </a:solidFill>
                <a:latin typeface="Arial"/>
              </a:rPr>
              <a:t>A property of this kernel, not of the architecture — the scoping caveat is on the slide.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" y="914400"/>
            <a:ext cx="1631289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u="none" i="0" spc="150">
                <a:solidFill>
                  <a:srgbClr val="A1A1AA"/>
                </a:solidFill>
                <a:latin typeface="Arial"/>
              </a:rPr>
              <a:t>KERNEL · THE FIXED TERM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1371600"/>
            <a:ext cx="16312896" cy="13487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u="none" i="0">
                <a:solidFill>
                  <a:srgbClr val="18181B"/>
                </a:solidFill>
                <a:latin typeface="Arial"/>
              </a:rPr>
              <a:t>87% of per-layer time is independent of how much work each PE does</a:t>
            </a:r>
          </a:p>
        </p:txBody>
      </p:sp>
      <p:sp>
        <p:nvSpPr>
          <p:cNvPr id="4" name="dot"/>
          <p:cNvSpPr/>
          <p:nvPr/>
        </p:nvSpPr>
        <p:spPr>
          <a:xfrm>
            <a:off x="987552" y="3279587"/>
            <a:ext cx="109728" cy="10972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53312" y="3159251"/>
            <a:ext cx="15947136" cy="756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256" b="0" u="none" i="0">
                <a:solidFill>
                  <a:srgbClr val="18181B"/>
                </a:solidFill>
                <a:latin typeface="Arial"/>
              </a:rPr>
              <a:t>Least-squares on the measured height ladder: T = 10,398 + 855 × W (W = per-PE work) — halving the area moved time by 1.4%</a:t>
            </a:r>
          </a:p>
        </p:txBody>
      </p:sp>
      <p:sp>
        <p:nvSpPr>
          <p:cNvPr id="6" name="dot"/>
          <p:cNvSpPr/>
          <p:nvPr/>
        </p:nvSpPr>
        <p:spPr>
          <a:xfrm>
            <a:off x="987552" y="4328220"/>
            <a:ext cx="109728" cy="10972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53312" y="4207885"/>
            <a:ext cx="15947136" cy="378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256" b="0" u="none" i="0">
                <a:solidFill>
                  <a:srgbClr val="18181B"/>
                </a:solidFill>
                <a:latin typeface="Arial"/>
              </a:rPr>
              <a:t>Per PE per layer: 3,080 bytes in ~17,688 cycles = 0.174 B/cycle against ~27 available, 0.63% utilisation</a:t>
            </a:r>
          </a:p>
        </p:txBody>
      </p:sp>
      <p:sp>
        <p:nvSpPr>
          <p:cNvPr id="8" name="dot"/>
          <p:cNvSpPr/>
          <p:nvPr/>
        </p:nvSpPr>
        <p:spPr>
          <a:xfrm>
            <a:off x="987552" y="4998659"/>
            <a:ext cx="109728" cy="10972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53312" y="4878323"/>
            <a:ext cx="15947136" cy="756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256" b="0" u="none" i="0">
                <a:solidFill>
                  <a:srgbClr val="18181B"/>
                </a:solidFill>
                <a:latin typeface="Arial"/>
              </a:rPr>
              <a:t>Mechanism: 10 hidden + 16 attention values per PE, so a QKV matvec is 160 MACs against ~100 cycles of DSD setup; 8–9.6K of the fixed term is collectives</a:t>
            </a:r>
          </a:p>
        </p:txBody>
      </p:sp>
      <p:sp>
        <p:nvSpPr>
          <p:cNvPr id="10" name="dot"/>
          <p:cNvSpPr/>
          <p:nvPr/>
        </p:nvSpPr>
        <p:spPr>
          <a:xfrm>
            <a:off x="987552" y="6047292"/>
            <a:ext cx="109728" cy="10972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53312" y="5926957"/>
            <a:ext cx="15947136" cy="378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256" b="0" u="none" i="0">
                <a:solidFill>
                  <a:srgbClr val="18181B"/>
                </a:solidFill>
                <a:latin typeface="Arial"/>
              </a:rPr>
              <a:t>Aggregate: 6,269× the bandwidth converted into 4.7×; 0.045% utilisation against the H100's 59.7%</a:t>
            </a:r>
          </a:p>
        </p:txBody>
      </p:sp>
      <p:sp>
        <p:nvSpPr>
          <p:cNvPr id="12" name="dot"/>
          <p:cNvSpPr/>
          <p:nvPr/>
        </p:nvSpPr>
        <p:spPr>
          <a:xfrm>
            <a:off x="987552" y="6717731"/>
            <a:ext cx="109728" cy="10972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53312" y="6597395"/>
            <a:ext cx="15947136" cy="756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256" b="0" u="none" i="0">
                <a:solidFill>
                  <a:srgbClr val="18181B"/>
                </a:solidFill>
                <a:latin typeface="Arial"/>
              </a:rPr>
              <a:t>Scope: Cerebras quotes CS-5 at 10,000 tok/s per user on 31B–120B models — a model 8–30× larger running 10× faster. These are this kernel's numbers, not the architecture's</a:t>
            </a:r>
          </a:p>
        </p:txBody>
      </p:sp>
      <p:sp>
        <p:nvSpPr>
          <p:cNvPr id="14" name="dot"/>
          <p:cNvSpPr/>
          <p:nvPr/>
        </p:nvSpPr>
        <p:spPr>
          <a:xfrm>
            <a:off x="987552" y="7766364"/>
            <a:ext cx="109728" cy="10972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53312" y="7646029"/>
            <a:ext cx="15947136" cy="756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256" b="0" u="none" i="0">
                <a:solidFill>
                  <a:srgbClr val="18181B"/>
                </a:solidFill>
                <a:latin typeface="Arial"/>
              </a:rPr>
              <a:t>Their own rates back-solve to 0.24–1.52% of aggregate bandwidth, so the diagnosis (latency-bound) is corroborated; the lever it implies is speculative decoding, not yet pulled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" y="3877056"/>
            <a:ext cx="16312896" cy="1110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100" b="1" u="none" i="0">
                <a:solidFill>
                  <a:srgbClr val="6D28D9"/>
                </a:solidFill>
                <a:latin typeface="Arial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5239512"/>
            <a:ext cx="16312896" cy="6743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u="none" i="0">
                <a:solidFill>
                  <a:srgbClr val="18181B"/>
                </a:solidFill>
                <a:latin typeface="Arial"/>
              </a:rPr>
              <a:t>Industry context and 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" y="6099048"/>
            <a:ext cx="1188720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52525B"/>
                </a:solidFill>
                <a:latin typeface="Arial"/>
              </a:rPr>
              <a:t>What NVIDIA's LPX and Cerebras's CS-6 say about the boundary, and how to frame the argument.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" y="914400"/>
            <a:ext cx="1631289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u="none" i="0" spc="150">
                <a:solidFill>
                  <a:srgbClr val="A1A1AA"/>
                </a:solidFill>
                <a:latin typeface="Arial"/>
              </a:rPr>
              <a:t>CONTEXT · TWO PUBLIC DATA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1371600"/>
            <a:ext cx="16312896" cy="13487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u="none" i="0">
                <a:solidFill>
                  <a:srgbClr val="18181B"/>
                </a:solidFill>
                <a:latin typeface="Arial"/>
              </a:rPr>
              <a:t>Both LPX and CS-6 add a DRAM tier; the field is moving from total residency to tiering</a:t>
            </a:r>
          </a:p>
        </p:txBody>
      </p:sp>
      <p:sp>
        <p:nvSpPr>
          <p:cNvPr id="4" name="dot"/>
          <p:cNvSpPr/>
          <p:nvPr/>
        </p:nvSpPr>
        <p:spPr>
          <a:xfrm>
            <a:off x="987552" y="3279587"/>
            <a:ext cx="109728" cy="10972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53312" y="3159251"/>
            <a:ext cx="15947136" cy="756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256" b="0" u="none" i="0">
                <a:solidFill>
                  <a:srgbClr val="18181B"/>
                </a:solidFill>
                <a:latin typeface="Arial"/>
              </a:rPr>
              <a:t>NVIDIA Groq 3 LPX: 500 MB compiler-managed SRAM per chip, 128 GB rack-wide, 96 C2C links = 2.5 TB/s per chip, plus 256 GB + 128 GB DRAM</a:t>
            </a:r>
          </a:p>
        </p:txBody>
      </p:sp>
      <p:sp>
        <p:nvSpPr>
          <p:cNvPr id="6" name="dot"/>
          <p:cNvSpPr/>
          <p:nvPr/>
        </p:nvSpPr>
        <p:spPr>
          <a:xfrm>
            <a:off x="987552" y="4328220"/>
            <a:ext cx="109728" cy="10972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53312" y="4207885"/>
            <a:ext cx="15947136" cy="756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256" b="0" u="none" i="0">
                <a:solidFill>
                  <a:srgbClr val="18181B"/>
                </a:solidFill>
                <a:latin typeface="Arial"/>
              </a:rPr>
              <a:t>LPX does FFN / MoE; the GPUs hold prefill and decode attention and the whole KV — attention–FFN disaggregation with compile-time static allocation</a:t>
            </a:r>
          </a:p>
        </p:txBody>
      </p:sp>
      <p:sp>
        <p:nvSpPr>
          <p:cNvPr id="8" name="dot"/>
          <p:cNvSpPr/>
          <p:nvPr/>
        </p:nvSpPr>
        <p:spPr>
          <a:xfrm>
            <a:off x="987552" y="5376854"/>
            <a:ext cx="109728" cy="10972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53312" y="5256519"/>
            <a:ext cx="15947136" cy="378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256" b="0" u="none" i="0">
                <a:solidFill>
                  <a:srgbClr val="18181B"/>
                </a:solidFill>
                <a:latin typeface="Arial"/>
              </a:rPr>
              <a:t>Shared design constant: a full SRAM sweep is ~3.3 µs on LPX and ~2.1 µs on WSE-3</a:t>
            </a:r>
          </a:p>
        </p:txBody>
      </p:sp>
      <p:sp>
        <p:nvSpPr>
          <p:cNvPr id="10" name="dot"/>
          <p:cNvSpPr/>
          <p:nvPr/>
        </p:nvSpPr>
        <p:spPr>
          <a:xfrm>
            <a:off x="987552" y="6047292"/>
            <a:ext cx="109728" cy="10972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53312" y="5926957"/>
            <a:ext cx="15947136" cy="378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256" b="0" u="none" i="0">
                <a:solidFill>
                  <a:srgbClr val="18181B"/>
                </a:solidFill>
                <a:latin typeface="Arial"/>
              </a:rPr>
              <a:t>The difference is the boundary: LPX made the chip edge part of the compiler's schedule; Cerebras has no edge inside a wafer</a:t>
            </a:r>
          </a:p>
        </p:txBody>
      </p:sp>
      <p:sp>
        <p:nvSpPr>
          <p:cNvPr id="12" name="dot"/>
          <p:cNvSpPr/>
          <p:nvPr/>
        </p:nvSpPr>
        <p:spPr>
          <a:xfrm>
            <a:off x="987552" y="6717731"/>
            <a:ext cx="109728" cy="10972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53312" y="6597395"/>
            <a:ext cx="15947136" cy="756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256" b="0" u="none" i="0">
                <a:solidFill>
                  <a:srgbClr val="18181B"/>
                </a:solidFill>
                <a:latin typeface="Arial"/>
              </a:rPr>
              <a:t>Cerebras CS-6 (Hot Chips 2026) adds 3D-stacked DRAM — the tier CS-3 lacks. Roadmap, no capacity or bandwidth numbers published</a:t>
            </a:r>
          </a:p>
        </p:txBody>
      </p:sp>
      <p:sp>
        <p:nvSpPr>
          <p:cNvPr id="14" name="dot"/>
          <p:cNvSpPr/>
          <p:nvPr/>
        </p:nvSpPr>
        <p:spPr>
          <a:xfrm>
            <a:off x="987552" y="7766364"/>
            <a:ext cx="109728" cy="10972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53312" y="7646029"/>
            <a:ext cx="15947136" cy="378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256" b="0" u="none" i="0">
                <a:solidFill>
                  <a:srgbClr val="18181B"/>
                </a:solidFill>
                <a:latin typeface="Arial"/>
              </a:rPr>
              <a:t>If KV moved there the thresholds are 4.0 TB/s at 29K, 27.1 TB/s at 197K (8.1× HBM), 84.6 TB/s at p90 — derived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" y="914400"/>
            <a:ext cx="1631289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u="none" i="0" spc="150">
                <a:solidFill>
                  <a:srgbClr val="A1A1AA"/>
                </a:solidFill>
                <a:latin typeface="Arial"/>
              </a:rPr>
              <a:t>POSITIONING · A PROPOSAL, NOT A DECISION — NEITHER OPTION IS MARKED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1371600"/>
            <a:ext cx="16312896" cy="6743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u="none" i="0">
                <a:solidFill>
                  <a:srgbClr val="18181B"/>
                </a:solidFill>
                <a:latin typeface="Arial"/>
              </a:rPr>
              <a:t>From capacity to residency</a:t>
            </a:r>
          </a:p>
        </p:txBody>
      </p:sp>
      <p:sp>
        <p:nvSpPr>
          <p:cNvPr id="4" name="card"/>
          <p:cNvSpPr/>
          <p:nvPr/>
        </p:nvSpPr>
        <p:spPr>
          <a:xfrm>
            <a:off x="987552" y="2484882"/>
            <a:ext cx="7424927" cy="3831336"/>
          </a:xfrm>
          <a:prstGeom prst="roundRect">
            <a:avLst>
              <a:gd name="adj" fmla="val 6195"/>
            </a:avLst>
          </a:prstGeom>
          <a:solidFill>
            <a:srgbClr val="FFFFFF"/>
          </a:solidFill>
          <a:ln w="1270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rd"/>
          <p:cNvSpPr/>
          <p:nvPr/>
        </p:nvSpPr>
        <p:spPr>
          <a:xfrm>
            <a:off x="987552" y="2484882"/>
            <a:ext cx="7424927" cy="1069848"/>
          </a:xfrm>
          <a:prstGeom prst="roundRect">
            <a:avLst>
              <a:gd name="adj" fmla="val 6195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80744" y="2768346"/>
            <a:ext cx="663854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3000" b="1" u="none" i="0">
                <a:solidFill>
                  <a:srgbClr val="18181B"/>
                </a:solidFill>
                <a:latin typeface="Arial"/>
              </a:rPr>
              <a:t>On-chip capacity → 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0744" y="3911346"/>
            <a:ext cx="4572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A1A1AA"/>
                </a:solidFill>
                <a:latin typeface="Arial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3664" y="3911346"/>
            <a:ext cx="6099047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167K far pool &lt; 197K median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0744" y="4533138"/>
            <a:ext cx="4572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A1A1AA"/>
                </a:solidFill>
                <a:latin typeface="Arial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83664" y="4533138"/>
            <a:ext cx="6099047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Numbers are this kernel's, not the architecture's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0744" y="5557266"/>
            <a:ext cx="4572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A1A1AA"/>
                </a:solidFill>
                <a:latin typeface="Arial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83664" y="5557266"/>
            <a:ext cx="6099047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CS-6 and LPX both add DRAM</a:t>
            </a:r>
          </a:p>
        </p:txBody>
      </p:sp>
      <p:sp>
        <p:nvSpPr>
          <p:cNvPr id="13" name="card"/>
          <p:cNvSpPr/>
          <p:nvPr/>
        </p:nvSpPr>
        <p:spPr>
          <a:xfrm>
            <a:off x="8796528" y="2484882"/>
            <a:ext cx="7424927" cy="3831336"/>
          </a:xfrm>
          <a:prstGeom prst="roundRect">
            <a:avLst>
              <a:gd name="adj" fmla="val 6195"/>
            </a:avLst>
          </a:prstGeom>
          <a:solidFill>
            <a:srgbClr val="FFFFFF"/>
          </a:solidFill>
          <a:ln w="1270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ard"/>
          <p:cNvSpPr/>
          <p:nvPr/>
        </p:nvSpPr>
        <p:spPr>
          <a:xfrm>
            <a:off x="8796528" y="2484882"/>
            <a:ext cx="7424927" cy="1069848"/>
          </a:xfrm>
          <a:prstGeom prst="roundRect">
            <a:avLst>
              <a:gd name="adj" fmla="val 6195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9719" y="2768346"/>
            <a:ext cx="663854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3000" b="1" u="none" i="0">
                <a:solidFill>
                  <a:srgbClr val="18181B"/>
                </a:solidFill>
                <a:latin typeface="Arial"/>
              </a:rPr>
              <a:t>The residency frontier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19" y="3911346"/>
            <a:ext cx="4572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A1A1AA"/>
                </a:solidFill>
                <a:latin typeface="Arial"/>
              </a:rPr>
              <a:t>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3911346"/>
            <a:ext cx="6099047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Which state must be resident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19" y="4533138"/>
            <a:ext cx="4572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A1A1AA"/>
                </a:solidFill>
                <a:latin typeface="Arial"/>
              </a:rPr>
              <a:t>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4533138"/>
            <a:ext cx="6099047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Weights tierable; KV not (53×)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19" y="5154929"/>
            <a:ext cx="4572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A1A1AA"/>
                </a:solidFill>
                <a:latin typeface="Arial"/>
              </a:rPr>
              <a:t>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0" y="5154929"/>
            <a:ext cx="6099047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Per-PE distribution binds, not totals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" y="914400"/>
            <a:ext cx="1631289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u="none" i="0" spc="150">
                <a:solidFill>
                  <a:srgbClr val="A1A1AA"/>
                </a:solidFill>
                <a:latin typeface="Arial"/>
              </a:rPr>
              <a:t>POSITIONING · THE RESIDENCY FRONTIER IN THREE LAYERS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1371600"/>
            <a:ext cx="16312896" cy="13487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u="none" i="0">
                <a:solidFill>
                  <a:srgbClr val="18181B"/>
                </a:solidFill>
                <a:latin typeface="Arial"/>
              </a:rPr>
              <a:t>Taxonomy is AFD's table; placement is the measured, novel part; method is what survived this week</a:t>
            </a:r>
          </a:p>
        </p:txBody>
      </p:sp>
      <p:sp>
        <p:nvSpPr>
          <p:cNvPr id="4" name="dot"/>
          <p:cNvSpPr/>
          <p:nvPr/>
        </p:nvSpPr>
        <p:spPr>
          <a:xfrm>
            <a:off x="987552" y="3287268"/>
            <a:ext cx="109728" cy="10972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53312" y="3159251"/>
            <a:ext cx="1594713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Taxonomy: dense weights tierable; MoE experts must be tiered; KV not tierable (53× short); activations trivially tierable</a:t>
            </a:r>
          </a:p>
        </p:txBody>
      </p:sp>
      <p:sp>
        <p:nvSpPr>
          <p:cNvPr id="6" name="dot"/>
          <p:cNvSpPr/>
          <p:nvPr/>
        </p:nvSpPr>
        <p:spPr>
          <a:xfrm>
            <a:off x="987552" y="4000499"/>
            <a:ext cx="109728" cy="10972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53312" y="3872483"/>
            <a:ext cx="15947136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Placement: inside the resident tier, per-PE distribution binds, not aggregate capacity — halving width halves the ceiling, fusion doubles it, at identical totals</a:t>
            </a:r>
          </a:p>
        </p:txBody>
      </p:sp>
      <p:sp>
        <p:nvSpPr>
          <p:cNvPr id="8" name="dot"/>
          <p:cNvSpPr/>
          <p:nvPr/>
        </p:nvSpPr>
        <p:spPr>
          <a:xfrm>
            <a:off x="987552" y="5116067"/>
            <a:ext cx="109728" cy="10972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53312" y="4988051"/>
            <a:ext cx="1594713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Per-PE footprint is not weight-dominated: 24.8 of the ATTN block's 31.8 KB is code, buffers and KV machinery</a:t>
            </a:r>
          </a:p>
        </p:txBody>
      </p:sp>
      <p:sp>
        <p:nvSpPr>
          <p:cNvPr id="10" name="dot"/>
          <p:cNvSpPr/>
          <p:nvPr/>
        </p:nvSpPr>
        <p:spPr>
          <a:xfrm>
            <a:off x="987552" y="5829299"/>
            <a:ext cx="109728" cy="10972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53312" y="5701283"/>
            <a:ext cx="15947136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Method: across ~12 contested claims this week, the single predictor of survival was whether the measurement carried a control; the failure mode recurred twelve times</a:t>
            </a:r>
          </a:p>
        </p:txBody>
      </p:sp>
      <p:sp>
        <p:nvSpPr>
          <p:cNvPr id="12" name="dot"/>
          <p:cNvSpPr/>
          <p:nvPr/>
        </p:nvSpPr>
        <p:spPr>
          <a:xfrm>
            <a:off x="987552" y="6944867"/>
            <a:ext cx="109728" cy="10972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53312" y="6816851"/>
            <a:ext cx="1594713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CS-3 is the extremal no-tier point, so every residency decision is forced into the open and measurable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" y="914400"/>
            <a:ext cx="1631289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u="none" i="0" spc="150">
                <a:solidFill>
                  <a:srgbClr val="A1A1AA"/>
                </a:solidFill>
                <a:latin typeface="Arial"/>
              </a:rPr>
              <a:t>DECIDE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1371600"/>
            <a:ext cx="16312896" cy="6743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u="none" i="0">
                <a:solidFill>
                  <a:srgbClr val="18181B"/>
                </a:solidFill>
                <a:latin typeface="Arial"/>
              </a:rPr>
              <a:t>What the room needs to settle</a:t>
            </a:r>
          </a:p>
        </p:txBody>
      </p:sp>
      <p:sp>
        <p:nvSpPr>
          <p:cNvPr id="4" name="rule"/>
          <p:cNvSpPr/>
          <p:nvPr/>
        </p:nvSpPr>
        <p:spPr>
          <a:xfrm>
            <a:off x="987552" y="2484882"/>
            <a:ext cx="14282928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2740913"/>
            <a:ext cx="209397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A1A1AA"/>
                </a:solidFill>
                <a:latin typeface="Arial"/>
              </a:rPr>
              <a:t>Convention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2704337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Clock for every tok/s: 750 MHz as reported, or 0.85 GHz per the 09-07 rule</a:t>
            </a:r>
          </a:p>
        </p:txBody>
      </p:sp>
      <p:sp>
        <p:nvSpPr>
          <p:cNvPr id="7" name="rule"/>
          <p:cNvSpPr/>
          <p:nvPr/>
        </p:nvSpPr>
        <p:spPr>
          <a:xfrm>
            <a:off x="987552" y="3316986"/>
            <a:ext cx="14282928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3573018"/>
            <a:ext cx="209397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A1A1AA"/>
                </a:solidFill>
                <a:latin typeface="Arial"/>
              </a:rPr>
              <a:t>Fused block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3536441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Go / no-go criteria for the compile-only SRAM gate</a:t>
            </a:r>
          </a:p>
        </p:txBody>
      </p:sp>
      <p:sp>
        <p:nvSpPr>
          <p:cNvPr id="10" name="rule"/>
          <p:cNvSpPr/>
          <p:nvPr/>
        </p:nvSpPr>
        <p:spPr>
          <a:xfrm>
            <a:off x="987552" y="4149089"/>
            <a:ext cx="14282928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4405122"/>
            <a:ext cx="209397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A1A1AA"/>
                </a:solidFill>
                <a:latin typeface="Arial"/>
              </a:rPr>
              <a:t>Workstream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4368546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Prefix reuse inside today's 29K, with near-pool harvesting as the mechanism</a:t>
            </a:r>
          </a:p>
        </p:txBody>
      </p:sp>
      <p:sp>
        <p:nvSpPr>
          <p:cNvPr id="13" name="rule"/>
          <p:cNvSpPr/>
          <p:nvPr/>
        </p:nvSpPr>
        <p:spPr>
          <a:xfrm>
            <a:off x="987552" y="4981194"/>
            <a:ext cx="14282928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5237226"/>
            <a:ext cx="209397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A1A1AA"/>
                </a:solidFill>
                <a:latin typeface="Arial"/>
              </a:rPr>
              <a:t>Measure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5200650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The width axis — four points on height, none on width</a:t>
            </a:r>
          </a:p>
        </p:txBody>
      </p:sp>
      <p:sp>
        <p:nvSpPr>
          <p:cNvPr id="16" name="rule"/>
          <p:cNvSpPr/>
          <p:nvPr/>
        </p:nvSpPr>
        <p:spPr>
          <a:xfrm>
            <a:off x="987552" y="5813298"/>
            <a:ext cx="14282928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6069330"/>
            <a:ext cx="209397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A1A1AA"/>
                </a:solidFill>
                <a:latin typeface="Arial"/>
              </a:rPr>
              <a:t>Measure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6032754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Wafer-edge round trip to a GPU — waits on Cerebras opening the API</a:t>
            </a:r>
          </a:p>
        </p:txBody>
      </p:sp>
      <p:sp>
        <p:nvSpPr>
          <p:cNvPr id="19" name="rule"/>
          <p:cNvSpPr/>
          <p:nvPr/>
        </p:nvSpPr>
        <p:spPr>
          <a:xfrm>
            <a:off x="987552" y="6645402"/>
            <a:ext cx="14282928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6901434"/>
            <a:ext cx="209397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A1A1AA"/>
                </a:solidFill>
                <a:latin typeface="Arial"/>
              </a:rPr>
              <a:t>Framing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6864858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Adopt the residency frontier, or keep capacity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" y="3877056"/>
            <a:ext cx="16312896" cy="1110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100" b="1" u="none" i="0">
                <a:solidFill>
                  <a:srgbClr val="6D28D9"/>
                </a:solidFill>
                <a:latin typeface="Arial"/>
              </a:rPr>
              <a:t>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5239512"/>
            <a:ext cx="16312896" cy="6743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u="none" i="0">
                <a:solidFill>
                  <a:srgbClr val="18181B"/>
                </a:solidFill>
                <a:latin typeface="Arial"/>
              </a:rPr>
              <a:t>Corrections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" y="6099048"/>
            <a:ext cx="1188720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52525B"/>
                </a:solidFill>
                <a:latin typeface="Arial"/>
              </a:rPr>
              <a:t>Three things said earlier — one last week, two this week — that the measurements overturned.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" y="914400"/>
            <a:ext cx="1631289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u="none" i="0" spc="150">
                <a:solidFill>
                  <a:srgbClr val="A1A1AA"/>
                </a:solidFill>
                <a:latin typeface="Arial"/>
              </a:rPr>
              <a:t>CORRECTION · LAYOUT C EXPLANATION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1371600"/>
            <a:ext cx="16312896" cy="13487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u="none" i="0">
                <a:solidFill>
                  <a:srgbClr val="18181B"/>
                </a:solidFill>
                <a:latin typeface="Arial"/>
              </a:rPr>
              <a:t>The per-PE MAC breakdown is withdrawn: it predicted the 3.7× and named the pacing stage backwards</a:t>
            </a:r>
          </a:p>
        </p:txBody>
      </p:sp>
      <p:sp>
        <p:nvSpPr>
          <p:cNvPr id="4" name="dot"/>
          <p:cNvSpPr/>
          <p:nvPr/>
        </p:nvSpPr>
        <p:spPr>
          <a:xfrm>
            <a:off x="987552" y="3287268"/>
            <a:ext cx="109728" cy="10972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53312" y="3159251"/>
            <a:ext cx="15947136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As sent: original ATTN 560 / FFN 1,140 MACs per PE; layout C A1 / A2 / A3 = 1,536 / 640 / 3,648, 'explaining 88–92% of the ratio'</a:t>
            </a:r>
          </a:p>
        </p:txBody>
      </p:sp>
      <p:sp>
        <p:nvSpPr>
          <p:cNvPr id="6" name="dot"/>
          <p:cNvSpPr/>
          <p:nvPr/>
        </p:nvSpPr>
        <p:spPr>
          <a:xfrm>
            <a:off x="987552" y="4402836"/>
            <a:ext cx="109728" cy="10972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53312" y="4274820"/>
            <a:ext cx="15947136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Measured (4b-wide-layer phase-TSC): ATTN takes 2.05× FFN's time — the kernel is comm- and latency-bound, not FLOP-bound</a:t>
            </a:r>
          </a:p>
        </p:txBody>
      </p:sp>
      <p:sp>
        <p:nvSpPr>
          <p:cNvPr id="8" name="dot"/>
          <p:cNvSpPr/>
          <p:nvPr/>
        </p:nvSpPr>
        <p:spPr>
          <a:xfrm>
            <a:off x="987552" y="5518403"/>
            <a:ext cx="109728" cy="10972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53312" y="5390388"/>
            <a:ext cx="15947136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Withdrawn with it: the per-PE-work bar chart, the 2.65× three-way floor, the 0.31× / 0.62× throughput figures, and 'enlarge FFN to 512 × 256'</a:t>
            </a:r>
          </a:p>
        </p:txBody>
      </p:sp>
      <p:sp>
        <p:nvSpPr>
          <p:cNvPr id="10" name="dot"/>
          <p:cNvSpPr/>
          <p:nvPr/>
        </p:nvSpPr>
        <p:spPr>
          <a:xfrm>
            <a:off x="987552" y="6633971"/>
            <a:ext cx="109728" cy="10972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53312" y="6505955"/>
            <a:ext cx="15947136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The 3.7–3.9× measurement itself stands; struck sections are kept struck in the conclusion doc so they are not re-derived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" y="914400"/>
            <a:ext cx="1631289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u="none" i="0" spc="150">
                <a:solidFill>
                  <a:srgbClr val="A1A1AA"/>
                </a:solidFill>
                <a:latin typeface="Arial"/>
              </a:rPr>
              <a:t>CORRECTION · THE INTERCONNECT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1371600"/>
            <a:ext cx="16312896" cy="6743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u="none" i="0">
                <a:solidFill>
                  <a:srgbClr val="18181B"/>
                </a:solidFill>
                <a:latin typeface="Arial"/>
              </a:rPr>
              <a:t>The 171 µs crossing was the public API, not the fabric</a:t>
            </a:r>
          </a:p>
        </p:txBody>
      </p:sp>
      <p:sp>
        <p:nvSpPr>
          <p:cNvPr id="4" name="dot"/>
          <p:cNvSpPr/>
          <p:nvPr/>
        </p:nvSpPr>
        <p:spPr>
          <a:xfrm>
            <a:off x="987552" y="2612898"/>
            <a:ext cx="109728" cy="10972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53312" y="2484882"/>
            <a:ext cx="1594713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Le: the card-to-card interconnect is 3–5 µs at 1.2 Tbit/s (150 GB/s); the public Cerebras API does not expose it</a:t>
            </a:r>
          </a:p>
        </p:txBody>
      </p:sp>
      <p:sp>
        <p:nvSpPr>
          <p:cNvPr id="6" name="dot"/>
          <p:cNvSpPr/>
          <p:nvPr/>
        </p:nvSpPr>
        <p:spPr>
          <a:xfrm>
            <a:off x="987552" y="3326129"/>
            <a:ext cx="109728" cy="10972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53312" y="3198113"/>
            <a:ext cx="1594713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The 171 µs was measured through that API — 43× worse than the silicon</a:t>
            </a:r>
          </a:p>
        </p:txBody>
      </p:sp>
      <p:sp>
        <p:nvSpPr>
          <p:cNvPr id="8" name="dot"/>
          <p:cNvSpPr/>
          <p:nvPr/>
        </p:nvSpPr>
        <p:spPr>
          <a:xfrm>
            <a:off x="987552" y="4039361"/>
            <a:ext cx="109728" cy="10972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53312" y="3911346"/>
            <a:ext cx="1594713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Withdrawn: Rounds 157–158's 'the boundary is a wall, AFD is dead at bs = 1'</a:t>
            </a:r>
          </a:p>
        </p:txBody>
      </p:sp>
      <p:sp>
        <p:nvSpPr>
          <p:cNvPr id="10" name="dot"/>
          <p:cNvSpPr/>
          <p:nvPr/>
        </p:nvSpPr>
        <p:spPr>
          <a:xfrm>
            <a:off x="987552" y="4752594"/>
            <a:ext cx="109728" cy="10972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53312" y="4624578"/>
            <a:ext cx="1594713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Survives: KV cannot cross a link (53× short); the link carries activations, so AFD is viable — on the weights side</a:t>
            </a:r>
          </a:p>
        </p:txBody>
      </p:sp>
      <p:sp>
        <p:nvSpPr>
          <p:cNvPr id="12" name="dot"/>
          <p:cNvSpPr/>
          <p:nvPr/>
        </p:nvSpPr>
        <p:spPr>
          <a:xfrm>
            <a:off x="987552" y="5465826"/>
            <a:ext cx="109728" cy="10972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53312" y="5337810"/>
            <a:ext cx="1594713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Revived: PD-split, which had been ruled out on a 3.2 GB/s host-to-wafer measurement of a different leg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" y="914400"/>
            <a:ext cx="1631289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u="none" i="0" spc="150">
                <a:solidFill>
                  <a:srgbClr val="A1A1AA"/>
                </a:solidFill>
                <a:latin typeface="Arial"/>
              </a:rPr>
              <a:t>CORRECTION · LAST WEEK'S MEDIAN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1371600"/>
            <a:ext cx="16312896" cy="13487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u="none" i="0">
                <a:solidFill>
                  <a:srgbClr val="18181B"/>
                </a:solidFill>
                <a:latin typeface="Arial"/>
              </a:rPr>
              <a:t>The 'median context 309K' was the main-thread number; over all calls it is 197K</a:t>
            </a:r>
          </a:p>
        </p:txBody>
      </p:sp>
      <p:sp>
        <p:nvSpPr>
          <p:cNvPr id="4" name="dot"/>
          <p:cNvSpPr/>
          <p:nvPr/>
        </p:nvSpPr>
        <p:spPr>
          <a:xfrm>
            <a:off x="987552" y="3287268"/>
            <a:ext cx="109728" cy="10972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53312" y="3159251"/>
            <a:ext cx="1594713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Subagent calls are 44% of the Claude Code trace and were not in the 09-04 / 09-05 cut</a:t>
            </a:r>
          </a:p>
        </p:txBody>
      </p:sp>
      <p:sp>
        <p:nvSpPr>
          <p:cNvPr id="6" name="dot"/>
          <p:cNvSpPr/>
          <p:nvPr/>
        </p:nvSpPr>
        <p:spPr>
          <a:xfrm>
            <a:off x="987552" y="4000499"/>
            <a:ext cx="109728" cy="10972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53312" y="3872483"/>
            <a:ext cx="1594713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Main thread p50 302K; subagents p50 100K; all calls p50 197K</a:t>
            </a:r>
          </a:p>
        </p:txBody>
      </p:sp>
      <p:sp>
        <p:nvSpPr>
          <p:cNvPr id="8" name="dot"/>
          <p:cNvSpPr/>
          <p:nvPr/>
        </p:nvSpPr>
        <p:spPr>
          <a:xfrm>
            <a:off x="987552" y="4713731"/>
            <a:ext cx="109728" cy="10972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53312" y="4585716"/>
            <a:ext cx="1594713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Every capacity and spectrum figure this week uses 197K</a:t>
            </a:r>
          </a:p>
        </p:txBody>
      </p:sp>
      <p:sp>
        <p:nvSpPr>
          <p:cNvPr id="10" name="dot"/>
          <p:cNvSpPr/>
          <p:nvPr/>
        </p:nvSpPr>
        <p:spPr>
          <a:xfrm>
            <a:off x="987552" y="5426964"/>
            <a:ext cx="109728" cy="10972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53312" y="5298948"/>
            <a:ext cx="1594713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The verdict does not change: 197K is still 6.8× the measured ceiling and above the far pool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" y="3877056"/>
            <a:ext cx="16312896" cy="1110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100" b="1" u="none" i="0">
                <a:solidFill>
                  <a:srgbClr val="6D28D9"/>
                </a:solidFill>
                <a:latin typeface="Arial"/>
              </a:rPr>
              <a:t>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5239512"/>
            <a:ext cx="16312896" cy="6743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u="none" i="0">
                <a:solidFill>
                  <a:srgbClr val="18181B"/>
                </a:solidFill>
                <a:latin typeface="Arial"/>
              </a:rP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" y="6099048"/>
            <a:ext cx="118872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52525B"/>
                </a:solidFill>
                <a:latin typeface="Arial"/>
              </a:rPr>
              <a:t>The full tables behind the talk, one per slide.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" y="914400"/>
            <a:ext cx="1631289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u="none" i="0" spc="150">
                <a:solidFill>
                  <a:srgbClr val="A1A1AA"/>
                </a:solidFill>
                <a:latin typeface="Arial"/>
              </a:rPr>
              <a:t>APPENDIX · REQUEST LENGTHS (1 OF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1371600"/>
            <a:ext cx="16312896" cy="6743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u="none" i="0">
                <a:solidFill>
                  <a:srgbClr val="18181B"/>
                </a:solidFill>
                <a:latin typeface="Arial"/>
              </a:rPr>
              <a:t>Claude Code per call: p10 / p50 / p90 / p99 / max, tokens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" y="2484882"/>
            <a:ext cx="4091574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 spc="150">
                <a:solidFill>
                  <a:srgbClr val="A1A1AA"/>
                </a:solidFill>
                <a:latin typeface="Arial"/>
              </a:rPr>
              <a:t>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71150" y="2484882"/>
            <a:ext cx="1888418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 spc="150">
                <a:solidFill>
                  <a:srgbClr val="A1A1AA"/>
                </a:solidFill>
                <a:latin typeface="Arial"/>
              </a:rPr>
              <a:t>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51593" y="2484882"/>
            <a:ext cx="5035783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 spc="150">
                <a:solidFill>
                  <a:srgbClr val="A1A1AA"/>
                </a:solidFill>
                <a:latin typeface="Arial"/>
              </a:rPr>
              <a:t>INPUT 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579400" y="2484882"/>
            <a:ext cx="4721047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 spc="150">
                <a:solidFill>
                  <a:srgbClr val="A1A1AA"/>
                </a:solidFill>
                <a:latin typeface="Arial"/>
              </a:rPr>
              <a:t>OUTPUT</a:t>
            </a:r>
          </a:p>
        </p:txBody>
      </p:sp>
      <p:sp>
        <p:nvSpPr>
          <p:cNvPr id="8" name="rule"/>
          <p:cNvSpPr/>
          <p:nvPr/>
        </p:nvSpPr>
        <p:spPr>
          <a:xfrm>
            <a:off x="987552" y="2951226"/>
            <a:ext cx="4091574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3188970"/>
            <a:ext cx="409157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Claude Code · main thread</a:t>
            </a:r>
          </a:p>
        </p:txBody>
      </p:sp>
      <p:sp>
        <p:nvSpPr>
          <p:cNvPr id="10" name="rule"/>
          <p:cNvSpPr/>
          <p:nvPr/>
        </p:nvSpPr>
        <p:spPr>
          <a:xfrm>
            <a:off x="5271150" y="2951226"/>
            <a:ext cx="1888418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71150" y="3188970"/>
            <a:ext cx="1888418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26,144</a:t>
            </a:r>
          </a:p>
        </p:txBody>
      </p:sp>
      <p:sp>
        <p:nvSpPr>
          <p:cNvPr id="12" name="rule"/>
          <p:cNvSpPr/>
          <p:nvPr/>
        </p:nvSpPr>
        <p:spPr>
          <a:xfrm>
            <a:off x="7351593" y="2951226"/>
            <a:ext cx="5035783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51593" y="3188970"/>
            <a:ext cx="5035783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95K / 302K / 719K / 955K / 1.0M</a:t>
            </a:r>
          </a:p>
        </p:txBody>
      </p:sp>
      <p:sp>
        <p:nvSpPr>
          <p:cNvPr id="14" name="rule"/>
          <p:cNvSpPr/>
          <p:nvPr/>
        </p:nvSpPr>
        <p:spPr>
          <a:xfrm>
            <a:off x="12579400" y="2951226"/>
            <a:ext cx="4721047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579400" y="3188970"/>
            <a:ext cx="4721047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166 / 763 / 3.8K / 10.6K / 64K</a:t>
            </a:r>
          </a:p>
        </p:txBody>
      </p:sp>
      <p:sp>
        <p:nvSpPr>
          <p:cNvPr id="16" name="rule"/>
          <p:cNvSpPr/>
          <p:nvPr/>
        </p:nvSpPr>
        <p:spPr>
          <a:xfrm>
            <a:off x="987552" y="3774186"/>
            <a:ext cx="4091574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4011930"/>
            <a:ext cx="409157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Claude Code · subagents</a:t>
            </a:r>
          </a:p>
        </p:txBody>
      </p:sp>
      <p:sp>
        <p:nvSpPr>
          <p:cNvPr id="18" name="rule"/>
          <p:cNvSpPr/>
          <p:nvPr/>
        </p:nvSpPr>
        <p:spPr>
          <a:xfrm>
            <a:off x="5271150" y="3774186"/>
            <a:ext cx="1888418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71150" y="4011930"/>
            <a:ext cx="1888418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20,506</a:t>
            </a:r>
          </a:p>
        </p:txBody>
      </p:sp>
      <p:sp>
        <p:nvSpPr>
          <p:cNvPr id="20" name="rule"/>
          <p:cNvSpPr/>
          <p:nvPr/>
        </p:nvSpPr>
        <p:spPr>
          <a:xfrm>
            <a:off x="7351593" y="3774186"/>
            <a:ext cx="5035783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51593" y="4011930"/>
            <a:ext cx="5035783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29K / 100K / 326K / 726K / 991K</a:t>
            </a:r>
          </a:p>
        </p:txBody>
      </p:sp>
      <p:sp>
        <p:nvSpPr>
          <p:cNvPr id="22" name="rule"/>
          <p:cNvSpPr/>
          <p:nvPr/>
        </p:nvSpPr>
        <p:spPr>
          <a:xfrm>
            <a:off x="12579400" y="3774186"/>
            <a:ext cx="4721047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579400" y="4011930"/>
            <a:ext cx="4721047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2 / 4 / 170 / 1.5K / 22.8K</a:t>
            </a:r>
          </a:p>
        </p:txBody>
      </p:sp>
      <p:sp>
        <p:nvSpPr>
          <p:cNvPr id="24" name="rule"/>
          <p:cNvSpPr/>
          <p:nvPr/>
        </p:nvSpPr>
        <p:spPr>
          <a:xfrm>
            <a:off x="987552" y="4597146"/>
            <a:ext cx="4091574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552" y="4834890"/>
            <a:ext cx="409157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Claude Code · all calls</a:t>
            </a:r>
          </a:p>
        </p:txBody>
      </p:sp>
      <p:sp>
        <p:nvSpPr>
          <p:cNvPr id="26" name="rule"/>
          <p:cNvSpPr/>
          <p:nvPr/>
        </p:nvSpPr>
        <p:spPr>
          <a:xfrm>
            <a:off x="5271150" y="4597146"/>
            <a:ext cx="1888418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71150" y="4834890"/>
            <a:ext cx="1888418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46,650</a:t>
            </a:r>
          </a:p>
        </p:txBody>
      </p:sp>
      <p:sp>
        <p:nvSpPr>
          <p:cNvPr id="28" name="rule"/>
          <p:cNvSpPr/>
          <p:nvPr/>
        </p:nvSpPr>
        <p:spPr>
          <a:xfrm>
            <a:off x="7351593" y="4597146"/>
            <a:ext cx="5035783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51593" y="4834890"/>
            <a:ext cx="5035783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47K / 197K / 616K / 930K / 1.0M</a:t>
            </a:r>
          </a:p>
        </p:txBody>
      </p:sp>
      <p:sp>
        <p:nvSpPr>
          <p:cNvPr id="30" name="rule"/>
          <p:cNvSpPr/>
          <p:nvPr/>
        </p:nvSpPr>
        <p:spPr>
          <a:xfrm>
            <a:off x="12579400" y="4597146"/>
            <a:ext cx="4721047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579400" y="4834890"/>
            <a:ext cx="4721047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2 / 243 / 2.5K / 8.7K / 64K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" y="914400"/>
            <a:ext cx="1631289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u="none" i="0" spc="150">
                <a:solidFill>
                  <a:srgbClr val="A1A1AA"/>
                </a:solidFill>
                <a:latin typeface="Arial"/>
              </a:rPr>
              <a:t>APPENDIX · REQUEST LENGTHS (2 OF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1371600"/>
            <a:ext cx="16312896" cy="6743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u="none" i="0">
                <a:solidFill>
                  <a:srgbClr val="18181B"/>
                </a:solidFill>
                <a:latin typeface="Arial"/>
              </a:rPr>
              <a:t>Mooncake per request: p10 / p50 / p90 / p99 / max, tokens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" y="2210562"/>
            <a:ext cx="118872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52525B"/>
                </a:solidFill>
                <a:latin typeface="Arial"/>
              </a:rPr>
              <a:t>Output is hard-capped at 2,000.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3070098"/>
            <a:ext cx="4091574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 spc="150">
                <a:solidFill>
                  <a:srgbClr val="A1A1AA"/>
                </a:solidFill>
                <a:latin typeface="Arial"/>
              </a:rPr>
              <a:t>TRACE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71150" y="3070098"/>
            <a:ext cx="1888418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 spc="150">
                <a:solidFill>
                  <a:srgbClr val="A1A1AA"/>
                </a:solidFill>
                <a:latin typeface="Arial"/>
              </a:rPr>
              <a:t>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51593" y="3070098"/>
            <a:ext cx="5035783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 spc="150">
                <a:solidFill>
                  <a:srgbClr val="A1A1AA"/>
                </a:solidFill>
                <a:latin typeface="Arial"/>
              </a:rPr>
              <a:t>INPUT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579400" y="3070098"/>
            <a:ext cx="4721047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 spc="150">
                <a:solidFill>
                  <a:srgbClr val="A1A1AA"/>
                </a:solidFill>
                <a:latin typeface="Arial"/>
              </a:rPr>
              <a:t>OUTPUT</a:t>
            </a:r>
          </a:p>
        </p:txBody>
      </p:sp>
      <p:sp>
        <p:nvSpPr>
          <p:cNvPr id="9" name="rule"/>
          <p:cNvSpPr/>
          <p:nvPr/>
        </p:nvSpPr>
        <p:spPr>
          <a:xfrm>
            <a:off x="987552" y="3536441"/>
            <a:ext cx="4091574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3774185"/>
            <a:ext cx="409157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Mooncake · conversation</a:t>
            </a:r>
          </a:p>
        </p:txBody>
      </p:sp>
      <p:sp>
        <p:nvSpPr>
          <p:cNvPr id="11" name="rule"/>
          <p:cNvSpPr/>
          <p:nvPr/>
        </p:nvSpPr>
        <p:spPr>
          <a:xfrm>
            <a:off x="5271150" y="3536441"/>
            <a:ext cx="1888418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71150" y="3774185"/>
            <a:ext cx="1888418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12,031</a:t>
            </a:r>
          </a:p>
        </p:txBody>
      </p:sp>
      <p:sp>
        <p:nvSpPr>
          <p:cNvPr id="13" name="rule"/>
          <p:cNvSpPr/>
          <p:nvPr/>
        </p:nvSpPr>
        <p:spPr>
          <a:xfrm>
            <a:off x="7351593" y="3536441"/>
            <a:ext cx="5035783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51593" y="3774185"/>
            <a:ext cx="5035783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964 / 6.9K / 27K / 85K / 126K</a:t>
            </a:r>
          </a:p>
        </p:txBody>
      </p:sp>
      <p:sp>
        <p:nvSpPr>
          <p:cNvPr id="15" name="rule"/>
          <p:cNvSpPr/>
          <p:nvPr/>
        </p:nvSpPr>
        <p:spPr>
          <a:xfrm>
            <a:off x="12579400" y="3536441"/>
            <a:ext cx="4721047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579400" y="3774185"/>
            <a:ext cx="4721047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24 / 350 / 597 / 1.1K / 2,000 (cap)</a:t>
            </a:r>
          </a:p>
        </p:txBody>
      </p:sp>
      <p:sp>
        <p:nvSpPr>
          <p:cNvPr id="17" name="rule"/>
          <p:cNvSpPr/>
          <p:nvPr/>
        </p:nvSpPr>
        <p:spPr>
          <a:xfrm>
            <a:off x="987552" y="4359402"/>
            <a:ext cx="4091574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4597146"/>
            <a:ext cx="409157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Mooncake · toolagent</a:t>
            </a:r>
          </a:p>
        </p:txBody>
      </p:sp>
      <p:sp>
        <p:nvSpPr>
          <p:cNvPr id="19" name="rule"/>
          <p:cNvSpPr/>
          <p:nvPr/>
        </p:nvSpPr>
        <p:spPr>
          <a:xfrm>
            <a:off x="5271150" y="4359402"/>
            <a:ext cx="1888418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71150" y="4597146"/>
            <a:ext cx="1888418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23,608</a:t>
            </a:r>
          </a:p>
        </p:txBody>
      </p:sp>
      <p:sp>
        <p:nvSpPr>
          <p:cNvPr id="21" name="rule"/>
          <p:cNvSpPr/>
          <p:nvPr/>
        </p:nvSpPr>
        <p:spPr>
          <a:xfrm>
            <a:off x="7351593" y="4359402"/>
            <a:ext cx="5035783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51593" y="4597146"/>
            <a:ext cx="5035783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1.8K / 6.3K / 17K / 62K / 126K</a:t>
            </a:r>
          </a:p>
        </p:txBody>
      </p:sp>
      <p:sp>
        <p:nvSpPr>
          <p:cNvPr id="23" name="rule"/>
          <p:cNvSpPr/>
          <p:nvPr/>
        </p:nvSpPr>
        <p:spPr>
          <a:xfrm>
            <a:off x="12579400" y="4359402"/>
            <a:ext cx="4721047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579400" y="4597146"/>
            <a:ext cx="4721047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3 / 30 / 507 / 897 / 2,000 (cap)</a:t>
            </a:r>
          </a:p>
        </p:txBody>
      </p:sp>
      <p:sp>
        <p:nvSpPr>
          <p:cNvPr id="25" name="rule"/>
          <p:cNvSpPr/>
          <p:nvPr/>
        </p:nvSpPr>
        <p:spPr>
          <a:xfrm>
            <a:off x="987552" y="5182362"/>
            <a:ext cx="4091574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7552" y="5420106"/>
            <a:ext cx="409157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Mooncake · synthetic</a:t>
            </a:r>
          </a:p>
        </p:txBody>
      </p:sp>
      <p:sp>
        <p:nvSpPr>
          <p:cNvPr id="27" name="rule"/>
          <p:cNvSpPr/>
          <p:nvPr/>
        </p:nvSpPr>
        <p:spPr>
          <a:xfrm>
            <a:off x="5271150" y="5182362"/>
            <a:ext cx="1888418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71150" y="5420106"/>
            <a:ext cx="1888418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3,993</a:t>
            </a:r>
          </a:p>
        </p:txBody>
      </p:sp>
      <p:sp>
        <p:nvSpPr>
          <p:cNvPr id="29" name="rule"/>
          <p:cNvSpPr/>
          <p:nvPr/>
        </p:nvSpPr>
        <p:spPr>
          <a:xfrm>
            <a:off x="7351593" y="5182362"/>
            <a:ext cx="5035783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51593" y="5420106"/>
            <a:ext cx="5035783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30 / 11.6K / 39K / 66K / 191K</a:t>
            </a:r>
          </a:p>
        </p:txBody>
      </p:sp>
      <p:sp>
        <p:nvSpPr>
          <p:cNvPr id="31" name="rule"/>
          <p:cNvSpPr/>
          <p:nvPr/>
        </p:nvSpPr>
        <p:spPr>
          <a:xfrm>
            <a:off x="12579400" y="5182362"/>
            <a:ext cx="4721047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579400" y="5420106"/>
            <a:ext cx="4721047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4 / 69 / 389 / 768 / 893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" y="914400"/>
            <a:ext cx="1631289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u="none" i="0" spc="150">
                <a:solidFill>
                  <a:srgbClr val="A1A1AA"/>
                </a:solidFill>
                <a:latin typeface="Arial"/>
              </a:rPr>
              <a:t>APPENDIX · REQUEST LENGTHS (3 OF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1371600"/>
            <a:ext cx="16312896" cy="6743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u="none" i="0">
                <a:solidFill>
                  <a:srgbClr val="18181B"/>
                </a:solidFill>
                <a:latin typeface="Arial"/>
              </a:rPr>
              <a:t>ServeGen per request: p50 / p90 / p99 / max, tokens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" y="2210562"/>
            <a:ext cx="118872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52525B"/>
                </a:solidFill>
                <a:latin typeface="Arial"/>
              </a:rPr>
              <a:t>ServeGen publishes mean / p50 / p90 / p99 / max only — no p10, no raw rows.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3070098"/>
            <a:ext cx="4778654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 spc="150">
                <a:solidFill>
                  <a:srgbClr val="A1A1AA"/>
                </a:solidFill>
                <a:latin typeface="Arial"/>
              </a:rPr>
              <a:t>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58230" y="3070098"/>
            <a:ext cx="557509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 spc="150">
                <a:solidFill>
                  <a:srgbClr val="A1A1AA"/>
                </a:solidFill>
                <a:latin typeface="Arial"/>
              </a:rPr>
              <a:t>INPUT 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25351" y="3070098"/>
            <a:ext cx="557509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 spc="150">
                <a:solidFill>
                  <a:srgbClr val="A1A1AA"/>
                </a:solidFill>
                <a:latin typeface="Arial"/>
              </a:rPr>
              <a:t>OUTPUT</a:t>
            </a:r>
          </a:p>
        </p:txBody>
      </p:sp>
      <p:sp>
        <p:nvSpPr>
          <p:cNvPr id="8" name="rule"/>
          <p:cNvSpPr/>
          <p:nvPr/>
        </p:nvSpPr>
        <p:spPr>
          <a:xfrm>
            <a:off x="987552" y="3536441"/>
            <a:ext cx="4778654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3774185"/>
            <a:ext cx="477865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ServeGen · DeepSeek-R1</a:t>
            </a:r>
          </a:p>
        </p:txBody>
      </p:sp>
      <p:sp>
        <p:nvSpPr>
          <p:cNvPr id="10" name="rule"/>
          <p:cNvSpPr/>
          <p:nvPr/>
        </p:nvSpPr>
        <p:spPr>
          <a:xfrm>
            <a:off x="5958230" y="3536441"/>
            <a:ext cx="557509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58230" y="3774185"/>
            <a:ext cx="557509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208 / 2.1K / 23K / 57K</a:t>
            </a:r>
          </a:p>
        </p:txBody>
      </p:sp>
      <p:sp>
        <p:nvSpPr>
          <p:cNvPr id="12" name="rule"/>
          <p:cNvSpPr/>
          <p:nvPr/>
        </p:nvSpPr>
        <p:spPr>
          <a:xfrm>
            <a:off x="11725351" y="3536441"/>
            <a:ext cx="557509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25351" y="3774185"/>
            <a:ext cx="557509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792 / 3.4K / 12.6K / 32.8K</a:t>
            </a:r>
          </a:p>
        </p:txBody>
      </p:sp>
      <p:sp>
        <p:nvSpPr>
          <p:cNvPr id="14" name="rule"/>
          <p:cNvSpPr/>
          <p:nvPr/>
        </p:nvSpPr>
        <p:spPr>
          <a:xfrm>
            <a:off x="987552" y="4359402"/>
            <a:ext cx="4778654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4597146"/>
            <a:ext cx="477865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ServeGen · Qwen-Max</a:t>
            </a:r>
          </a:p>
        </p:txBody>
      </p:sp>
      <p:sp>
        <p:nvSpPr>
          <p:cNvPr id="16" name="rule"/>
          <p:cNvSpPr/>
          <p:nvPr/>
        </p:nvSpPr>
        <p:spPr>
          <a:xfrm>
            <a:off x="5958230" y="4359402"/>
            <a:ext cx="557509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58230" y="4597146"/>
            <a:ext cx="557509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812 / 2.4K / 6.2K / 31K</a:t>
            </a:r>
          </a:p>
        </p:txBody>
      </p:sp>
      <p:sp>
        <p:nvSpPr>
          <p:cNvPr id="18" name="rule"/>
          <p:cNvSpPr/>
          <p:nvPr/>
        </p:nvSpPr>
        <p:spPr>
          <a:xfrm>
            <a:off x="11725351" y="4359402"/>
            <a:ext cx="557509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725351" y="4597146"/>
            <a:ext cx="557509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56 / 433 / 840 / 9.3K</a:t>
            </a:r>
          </a:p>
        </p:txBody>
      </p:sp>
      <p:sp>
        <p:nvSpPr>
          <p:cNvPr id="20" name="rule"/>
          <p:cNvSpPr/>
          <p:nvPr/>
        </p:nvSpPr>
        <p:spPr>
          <a:xfrm>
            <a:off x="987552" y="5182362"/>
            <a:ext cx="4778654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" y="5420106"/>
            <a:ext cx="477865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ServeGen · Qwen-Plus</a:t>
            </a:r>
          </a:p>
        </p:txBody>
      </p:sp>
      <p:sp>
        <p:nvSpPr>
          <p:cNvPr id="22" name="rule"/>
          <p:cNvSpPr/>
          <p:nvPr/>
        </p:nvSpPr>
        <p:spPr>
          <a:xfrm>
            <a:off x="5958230" y="5182362"/>
            <a:ext cx="557509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58230" y="5420106"/>
            <a:ext cx="557509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216 / 1.7K / 4.7K / 372K</a:t>
            </a:r>
          </a:p>
        </p:txBody>
      </p:sp>
      <p:sp>
        <p:nvSpPr>
          <p:cNvPr id="24" name="rule"/>
          <p:cNvSpPr/>
          <p:nvPr/>
        </p:nvSpPr>
        <p:spPr>
          <a:xfrm>
            <a:off x="11725351" y="5182362"/>
            <a:ext cx="557509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725351" y="5420106"/>
            <a:ext cx="557509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39 / 213 / 1.1K / 16K</a:t>
            </a:r>
          </a:p>
        </p:txBody>
      </p:sp>
      <p:sp>
        <p:nvSpPr>
          <p:cNvPr id="26" name="rule"/>
          <p:cNvSpPr/>
          <p:nvPr/>
        </p:nvSpPr>
        <p:spPr>
          <a:xfrm>
            <a:off x="987552" y="6005322"/>
            <a:ext cx="4778654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6243066"/>
            <a:ext cx="477865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ServeGen · Qwen-Turbo</a:t>
            </a:r>
          </a:p>
        </p:txBody>
      </p:sp>
      <p:sp>
        <p:nvSpPr>
          <p:cNvPr id="28" name="rule"/>
          <p:cNvSpPr/>
          <p:nvPr/>
        </p:nvSpPr>
        <p:spPr>
          <a:xfrm>
            <a:off x="5958230" y="6005322"/>
            <a:ext cx="557509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58230" y="6243066"/>
            <a:ext cx="557509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680 / 813 / 2.3K / 229K</a:t>
            </a:r>
          </a:p>
        </p:txBody>
      </p:sp>
      <p:sp>
        <p:nvSpPr>
          <p:cNvPr id="30" name="rule"/>
          <p:cNvSpPr/>
          <p:nvPr/>
        </p:nvSpPr>
        <p:spPr>
          <a:xfrm>
            <a:off x="11725351" y="6005322"/>
            <a:ext cx="557509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725351" y="6243066"/>
            <a:ext cx="557509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11 / 73 / 467 / 10.9K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" y="914400"/>
            <a:ext cx="1631289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u="none" i="0" spc="150">
                <a:solidFill>
                  <a:srgbClr val="A1A1AA"/>
                </a:solidFill>
                <a:latin typeface="Arial"/>
              </a:rPr>
              <a:t>APPENDIX · CLAUDE CODE BY CALLER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1371600"/>
            <a:ext cx="16312896" cy="6743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u="none" i="0">
                <a:solidFill>
                  <a:srgbClr val="18181B"/>
                </a:solidFill>
                <a:latin typeface="Arial"/>
              </a:rPr>
              <a:t>Main thread vs subagents: behaviour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" y="2484882"/>
            <a:ext cx="4551099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 spc="150">
                <a:solidFill>
                  <a:srgbClr val="A1A1AA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30675" y="2484882"/>
            <a:ext cx="5688874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 spc="150">
                <a:solidFill>
                  <a:srgbClr val="A1A1AA"/>
                </a:solidFill>
                <a:latin typeface="Arial"/>
              </a:rPr>
              <a:t>MAIN THREAD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1573" y="2484882"/>
            <a:ext cx="5688874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 spc="150">
                <a:solidFill>
                  <a:srgbClr val="A1A1AA"/>
                </a:solidFill>
                <a:latin typeface="Arial"/>
              </a:rPr>
              <a:t>SUBAGENTS</a:t>
            </a:r>
          </a:p>
        </p:txBody>
      </p:sp>
      <p:sp>
        <p:nvSpPr>
          <p:cNvPr id="7" name="rule"/>
          <p:cNvSpPr/>
          <p:nvPr/>
        </p:nvSpPr>
        <p:spPr>
          <a:xfrm>
            <a:off x="987552" y="2951226"/>
            <a:ext cx="4551099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3188970"/>
            <a:ext cx="4551099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18181B"/>
                </a:solidFill>
                <a:latin typeface="Arial"/>
              </a:rPr>
              <a:t>Output share of the class's token traffic</a:t>
            </a:r>
          </a:p>
        </p:txBody>
      </p:sp>
      <p:sp>
        <p:nvSpPr>
          <p:cNvPr id="9" name="rule"/>
          <p:cNvSpPr/>
          <p:nvPr/>
        </p:nvSpPr>
        <p:spPr>
          <a:xfrm>
            <a:off x="5730675" y="2951226"/>
            <a:ext cx="5688874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30675" y="3188970"/>
            <a:ext cx="5688874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11.6%</a:t>
            </a:r>
          </a:p>
        </p:txBody>
      </p:sp>
      <p:sp>
        <p:nvSpPr>
          <p:cNvPr id="11" name="rule"/>
          <p:cNvSpPr/>
          <p:nvPr/>
        </p:nvSpPr>
        <p:spPr>
          <a:xfrm>
            <a:off x="11611573" y="2951226"/>
            <a:ext cx="5688874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611573" y="3188970"/>
            <a:ext cx="5688874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1.5%</a:t>
            </a:r>
          </a:p>
        </p:txBody>
      </p:sp>
      <p:sp>
        <p:nvSpPr>
          <p:cNvPr id="13" name="rule"/>
          <p:cNvSpPr/>
          <p:nvPr/>
        </p:nvSpPr>
        <p:spPr>
          <a:xfrm>
            <a:off x="987552" y="3774186"/>
            <a:ext cx="4551099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4011930"/>
            <a:ext cx="455109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Intra-turn gap p50</a:t>
            </a:r>
          </a:p>
        </p:txBody>
      </p:sp>
      <p:sp>
        <p:nvSpPr>
          <p:cNvPr id="15" name="rule"/>
          <p:cNvSpPr/>
          <p:nvPr/>
        </p:nvSpPr>
        <p:spPr>
          <a:xfrm>
            <a:off x="5730675" y="3774186"/>
            <a:ext cx="5688874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30675" y="4011930"/>
            <a:ext cx="5688874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14.9 s</a:t>
            </a:r>
          </a:p>
        </p:txBody>
      </p:sp>
      <p:sp>
        <p:nvSpPr>
          <p:cNvPr id="17" name="rule"/>
          <p:cNvSpPr/>
          <p:nvPr/>
        </p:nvSpPr>
        <p:spPr>
          <a:xfrm>
            <a:off x="11611573" y="3774186"/>
            <a:ext cx="5688874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611573" y="4011930"/>
            <a:ext cx="5688874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8.3 s</a:t>
            </a:r>
          </a:p>
        </p:txBody>
      </p:sp>
      <p:sp>
        <p:nvSpPr>
          <p:cNvPr id="19" name="rule"/>
          <p:cNvSpPr/>
          <p:nvPr/>
        </p:nvSpPr>
        <p:spPr>
          <a:xfrm>
            <a:off x="987552" y="4597146"/>
            <a:ext cx="4551099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4834890"/>
            <a:ext cx="455109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Calls per session p50 / p90</a:t>
            </a:r>
          </a:p>
        </p:txBody>
      </p:sp>
      <p:sp>
        <p:nvSpPr>
          <p:cNvPr id="21" name="rule"/>
          <p:cNvSpPr/>
          <p:nvPr/>
        </p:nvSpPr>
        <p:spPr>
          <a:xfrm>
            <a:off x="5730675" y="4597146"/>
            <a:ext cx="5688874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30675" y="4834890"/>
            <a:ext cx="5688874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21 / 267</a:t>
            </a:r>
          </a:p>
        </p:txBody>
      </p:sp>
      <p:sp>
        <p:nvSpPr>
          <p:cNvPr id="23" name="rule"/>
          <p:cNvSpPr/>
          <p:nvPr/>
        </p:nvSpPr>
        <p:spPr>
          <a:xfrm>
            <a:off x="11611573" y="4597146"/>
            <a:ext cx="5688874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611573" y="4834890"/>
            <a:ext cx="5688874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15 / 46</a:t>
            </a:r>
          </a:p>
        </p:txBody>
      </p:sp>
      <p:sp>
        <p:nvSpPr>
          <p:cNvPr id="25" name="rule"/>
          <p:cNvSpPr/>
          <p:nvPr/>
        </p:nvSpPr>
        <p:spPr>
          <a:xfrm>
            <a:off x="987552" y="5420106"/>
            <a:ext cx="4551099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7552" y="5657850"/>
            <a:ext cx="455109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Output p50 by model</a:t>
            </a:r>
          </a:p>
        </p:txBody>
      </p:sp>
      <p:sp>
        <p:nvSpPr>
          <p:cNvPr id="27" name="rule"/>
          <p:cNvSpPr/>
          <p:nvPr/>
        </p:nvSpPr>
        <p:spPr>
          <a:xfrm>
            <a:off x="5730675" y="5420106"/>
            <a:ext cx="5688874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30675" y="5657850"/>
            <a:ext cx="5688874" cy="6537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Opus 4.8 837 · Opus 5 673 · Fable 5 501 · Fable 5.1 1,145</a:t>
            </a:r>
          </a:p>
        </p:txBody>
      </p:sp>
      <p:sp>
        <p:nvSpPr>
          <p:cNvPr id="29" name="rule"/>
          <p:cNvSpPr/>
          <p:nvPr/>
        </p:nvSpPr>
        <p:spPr>
          <a:xfrm>
            <a:off x="11611573" y="5420106"/>
            <a:ext cx="5688874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611573" y="5657850"/>
            <a:ext cx="5688874" cy="6537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Opus 4.8 3 · Opus 5 3 · Sonnet 5 3 · Haiku 4.5 1 (p90 4) · Fable 5 74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" y="914400"/>
            <a:ext cx="1631289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u="none" i="0" spc="150">
                <a:solidFill>
                  <a:srgbClr val="A1A1AA"/>
                </a:solidFill>
                <a:latin typeface="Arial"/>
              </a:rPr>
              <a:t>APPENDIX · ATTN VS FFN, THE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1371600"/>
            <a:ext cx="16312896" cy="6743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u="none" i="0">
                <a:solidFill>
                  <a:srgbClr val="18181B"/>
                </a:solidFill>
                <a:latin typeface="Arial"/>
              </a:rPr>
              <a:t>Three axes for the original blocks at 2K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" y="2484882"/>
            <a:ext cx="4546193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 spc="150">
                <a:solidFill>
                  <a:srgbClr val="A1A1AA"/>
                </a:solidFill>
                <a:latin typeface="Arial"/>
              </a:rPr>
              <a:t>BLOCK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25769" y="2484882"/>
            <a:ext cx="3497072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 spc="150">
                <a:solidFill>
                  <a:srgbClr val="A1A1AA"/>
                </a:solidFill>
                <a:latin typeface="Arial"/>
              </a:rPr>
              <a:t>PER-PE MACS (DERIVED)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4865" y="2484882"/>
            <a:ext cx="4196486" cy="6537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 spc="150">
                <a:solidFill>
                  <a:srgbClr val="A1A1AA"/>
                </a:solidFill>
                <a:latin typeface="Arial"/>
              </a:rPr>
              <a:t>PER-LAYER TIME (MEASURED CS-3)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03376" y="2484882"/>
            <a:ext cx="3497072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 spc="150">
                <a:solidFill>
                  <a:srgbClr val="A1A1AA"/>
                </a:solidFill>
                <a:latin typeface="Arial"/>
              </a:rPr>
              <a:t>PER-PE SRAM (COMPILED)</a:t>
            </a:r>
          </a:p>
        </p:txBody>
      </p:sp>
      <p:sp>
        <p:nvSpPr>
          <p:cNvPr id="8" name="rule"/>
          <p:cNvSpPr/>
          <p:nvPr/>
        </p:nvSpPr>
        <p:spPr>
          <a:xfrm>
            <a:off x="987552" y="2951226"/>
            <a:ext cx="4546193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3188970"/>
            <a:ext cx="4546193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Original ATTN (QKV + attn + O)</a:t>
            </a:r>
          </a:p>
        </p:txBody>
      </p:sp>
      <p:sp>
        <p:nvSpPr>
          <p:cNvPr id="10" name="rule"/>
          <p:cNvSpPr/>
          <p:nvPr/>
        </p:nvSpPr>
        <p:spPr>
          <a:xfrm>
            <a:off x="5725769" y="2951226"/>
            <a:ext cx="3497072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25769" y="3188970"/>
            <a:ext cx="3497072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560</a:t>
            </a:r>
          </a:p>
        </p:txBody>
      </p:sp>
      <p:sp>
        <p:nvSpPr>
          <p:cNvPr id="12" name="rule"/>
          <p:cNvSpPr/>
          <p:nvPr/>
        </p:nvSpPr>
        <p:spPr>
          <a:xfrm>
            <a:off x="9414865" y="2951226"/>
            <a:ext cx="419648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4865" y="3188970"/>
            <a:ext cx="419648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11,886 cycles</a:t>
            </a:r>
          </a:p>
        </p:txBody>
      </p:sp>
      <p:sp>
        <p:nvSpPr>
          <p:cNvPr id="14" name="rule"/>
          <p:cNvSpPr/>
          <p:nvPr/>
        </p:nvSpPr>
        <p:spPr>
          <a:xfrm>
            <a:off x="13803376" y="2951226"/>
            <a:ext cx="3497072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03376" y="3188970"/>
            <a:ext cx="3497072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31.75 KB</a:t>
            </a:r>
          </a:p>
        </p:txBody>
      </p:sp>
      <p:sp>
        <p:nvSpPr>
          <p:cNvPr id="16" name="rule"/>
          <p:cNvSpPr/>
          <p:nvPr/>
        </p:nvSpPr>
        <p:spPr>
          <a:xfrm>
            <a:off x="987552" y="3774186"/>
            <a:ext cx="4546193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4011930"/>
            <a:ext cx="4546193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Original FFN</a:t>
            </a:r>
          </a:p>
        </p:txBody>
      </p:sp>
      <p:sp>
        <p:nvSpPr>
          <p:cNvPr id="18" name="rule"/>
          <p:cNvSpPr/>
          <p:nvPr/>
        </p:nvSpPr>
        <p:spPr>
          <a:xfrm>
            <a:off x="5725769" y="3774186"/>
            <a:ext cx="3497072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25769" y="4011930"/>
            <a:ext cx="3497072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1,140</a:t>
            </a:r>
          </a:p>
        </p:txBody>
      </p:sp>
      <p:sp>
        <p:nvSpPr>
          <p:cNvPr id="20" name="rule"/>
          <p:cNvSpPr/>
          <p:nvPr/>
        </p:nvSpPr>
        <p:spPr>
          <a:xfrm>
            <a:off x="9414865" y="3774186"/>
            <a:ext cx="419648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4865" y="4011930"/>
            <a:ext cx="419648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5,802 cycles</a:t>
            </a:r>
          </a:p>
        </p:txBody>
      </p:sp>
      <p:sp>
        <p:nvSpPr>
          <p:cNvPr id="22" name="rule"/>
          <p:cNvSpPr/>
          <p:nvPr/>
        </p:nvSpPr>
        <p:spPr>
          <a:xfrm>
            <a:off x="13803376" y="3774186"/>
            <a:ext cx="3497072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803376" y="4011930"/>
            <a:ext cx="3497072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29.77 KB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" y="914400"/>
            <a:ext cx="1631289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u="none" i="0" spc="150">
                <a:solidFill>
                  <a:srgbClr val="A1A1AA"/>
                </a:solidFill>
                <a:latin typeface="Arial"/>
              </a:rPr>
              <a:t>APPENDIX · LAYOUT C MEASUREMENT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1371600"/>
            <a:ext cx="16312896" cy="6743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u="none" i="0">
                <a:solidFill>
                  <a:srgbClr val="18181B"/>
                </a:solidFill>
                <a:latin typeface="Arial"/>
              </a:rPr>
              <a:t>Single-layer completion latency, original vs layout C</a:t>
            </a:r>
          </a:p>
        </p:txBody>
      </p:sp>
      <p:pic>
        <p:nvPicPr>
          <p:cNvPr id="4" name="figure" descr="layoutC_single_layer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9931" y="2484882"/>
            <a:ext cx="8308136" cy="494461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87552" y="7703820"/>
            <a:ext cx="16312896" cy="6537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A1A1AA"/>
                </a:solidFill>
                <a:latin typeface="Arial"/>
              </a:rPr>
              <a:t>Cycles per serialized layer at two initial KV lengths. Three independent runs × 29 measured tokens; error bars are the run-median range. The dashed line is the empty-boundary cost (≈8.23K), shown but not subtracted.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" y="914400"/>
            <a:ext cx="1631289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u="none" i="0" spc="150">
                <a:solidFill>
                  <a:srgbClr val="A1A1AA"/>
                </a:solidFill>
                <a:latin typeface="Arial"/>
              </a:rPr>
              <a:t>APPENDIX · LAYOUT C GEOMETRY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1371600"/>
            <a:ext cx="16312896" cy="6743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u="none" i="0">
                <a:solidFill>
                  <a:srgbClr val="18181B"/>
                </a:solidFill>
                <a:latin typeface="Arial"/>
              </a:rPr>
              <a:t>One group on a 256 × 256 block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" y="2210562"/>
            <a:ext cx="118872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52525B"/>
                </a:solidFill>
                <a:latin typeface="Arial"/>
              </a:rPr>
              <a:t>Columns × rows; source of truth is the implementation handoff §3.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3070098"/>
            <a:ext cx="4721047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 spc="150">
                <a:solidFill>
                  <a:srgbClr val="A1A1AA"/>
                </a:solidFill>
                <a:latin typeface="Arial"/>
              </a:rPr>
              <a:t>STAGE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00623" y="3070098"/>
            <a:ext cx="393420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 spc="150">
                <a:solidFill>
                  <a:srgbClr val="A1A1AA"/>
                </a:solidFill>
                <a:latin typeface="Arial"/>
              </a:rPr>
              <a:t>COLUMNS × ROWS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26853" y="3070098"/>
            <a:ext cx="393420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 spc="150">
                <a:solidFill>
                  <a:srgbClr val="A1A1AA"/>
                </a:solidFill>
                <a:latin typeface="Arial"/>
              </a:rPr>
              <a:t>VALUES PER ROW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53083" y="3070098"/>
            <a:ext cx="3147364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 spc="150">
                <a:solidFill>
                  <a:srgbClr val="A1A1AA"/>
                </a:solidFill>
                <a:latin typeface="Arial"/>
              </a:rPr>
              <a:t>PES</a:t>
            </a:r>
          </a:p>
        </p:txBody>
      </p:sp>
      <p:sp>
        <p:nvSpPr>
          <p:cNvPr id="9" name="rule"/>
          <p:cNvSpPr/>
          <p:nvPr/>
        </p:nvSpPr>
        <p:spPr>
          <a:xfrm>
            <a:off x="987552" y="3536441"/>
            <a:ext cx="4721047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3774185"/>
            <a:ext cx="4721047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A1 (QKV)</a:t>
            </a:r>
          </a:p>
        </p:txBody>
      </p:sp>
      <p:sp>
        <p:nvSpPr>
          <p:cNvPr id="11" name="rule"/>
          <p:cNvSpPr/>
          <p:nvPr/>
        </p:nvSpPr>
        <p:spPr>
          <a:xfrm>
            <a:off x="5900623" y="3536441"/>
            <a:ext cx="393420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00623" y="3774185"/>
            <a:ext cx="393420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128 × 80</a:t>
            </a:r>
          </a:p>
        </p:txBody>
      </p:sp>
      <p:sp>
        <p:nvSpPr>
          <p:cNvPr id="13" name="rule"/>
          <p:cNvSpPr/>
          <p:nvPr/>
        </p:nvSpPr>
        <p:spPr>
          <a:xfrm>
            <a:off x="10026853" y="3536441"/>
            <a:ext cx="393420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26853" y="3774185"/>
            <a:ext cx="393420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hidden 32</a:t>
            </a:r>
          </a:p>
        </p:txBody>
      </p:sp>
      <p:sp>
        <p:nvSpPr>
          <p:cNvPr id="15" name="rule"/>
          <p:cNvSpPr/>
          <p:nvPr/>
        </p:nvSpPr>
        <p:spPr>
          <a:xfrm>
            <a:off x="14153083" y="3536441"/>
            <a:ext cx="3147364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53083" y="3774185"/>
            <a:ext cx="3147364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10,240</a:t>
            </a:r>
          </a:p>
        </p:txBody>
      </p:sp>
      <p:sp>
        <p:nvSpPr>
          <p:cNvPr id="17" name="rule"/>
          <p:cNvSpPr/>
          <p:nvPr/>
        </p:nvSpPr>
        <p:spPr>
          <a:xfrm>
            <a:off x="987552" y="4359402"/>
            <a:ext cx="4721047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4597146"/>
            <a:ext cx="4721047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Spare</a:t>
            </a:r>
          </a:p>
        </p:txBody>
      </p:sp>
      <p:sp>
        <p:nvSpPr>
          <p:cNvPr id="19" name="rule"/>
          <p:cNvSpPr/>
          <p:nvPr/>
        </p:nvSpPr>
        <p:spPr>
          <a:xfrm>
            <a:off x="5900623" y="4359402"/>
            <a:ext cx="393420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00623" y="4597146"/>
            <a:ext cx="393420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128 × 16</a:t>
            </a:r>
          </a:p>
        </p:txBody>
      </p:sp>
      <p:sp>
        <p:nvSpPr>
          <p:cNvPr id="21" name="rule"/>
          <p:cNvSpPr/>
          <p:nvPr/>
        </p:nvSpPr>
        <p:spPr>
          <a:xfrm>
            <a:off x="10026853" y="4359402"/>
            <a:ext cx="393420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26853" y="4597146"/>
            <a:ext cx="393420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—</a:t>
            </a:r>
          </a:p>
        </p:txBody>
      </p:sp>
      <p:sp>
        <p:nvSpPr>
          <p:cNvPr id="23" name="rule"/>
          <p:cNvSpPr/>
          <p:nvPr/>
        </p:nvSpPr>
        <p:spPr>
          <a:xfrm>
            <a:off x="14153083" y="4359402"/>
            <a:ext cx="3147364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153083" y="4597146"/>
            <a:ext cx="3147364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2,048</a:t>
            </a:r>
          </a:p>
        </p:txBody>
      </p:sp>
      <p:sp>
        <p:nvSpPr>
          <p:cNvPr id="25" name="rule"/>
          <p:cNvSpPr/>
          <p:nvPr/>
        </p:nvSpPr>
        <p:spPr>
          <a:xfrm>
            <a:off x="987552" y="5182362"/>
            <a:ext cx="4721047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7552" y="5420106"/>
            <a:ext cx="4721047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A3 (FFN)</a:t>
            </a:r>
          </a:p>
        </p:txBody>
      </p:sp>
      <p:sp>
        <p:nvSpPr>
          <p:cNvPr id="27" name="rule"/>
          <p:cNvSpPr/>
          <p:nvPr/>
        </p:nvSpPr>
        <p:spPr>
          <a:xfrm>
            <a:off x="5900623" y="5182362"/>
            <a:ext cx="393420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00623" y="5420106"/>
            <a:ext cx="393420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128 × 160</a:t>
            </a:r>
          </a:p>
        </p:txBody>
      </p:sp>
      <p:sp>
        <p:nvSpPr>
          <p:cNvPr id="29" name="rule"/>
          <p:cNvSpPr/>
          <p:nvPr/>
        </p:nvSpPr>
        <p:spPr>
          <a:xfrm>
            <a:off x="10026853" y="5182362"/>
            <a:ext cx="393420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26853" y="5420106"/>
            <a:ext cx="393420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16</a:t>
            </a:r>
          </a:p>
        </p:txBody>
      </p:sp>
      <p:sp>
        <p:nvSpPr>
          <p:cNvPr id="31" name="rule"/>
          <p:cNvSpPr/>
          <p:nvPr/>
        </p:nvSpPr>
        <p:spPr>
          <a:xfrm>
            <a:off x="14153083" y="5182362"/>
            <a:ext cx="3147364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4153083" y="5420106"/>
            <a:ext cx="3147364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20,480</a:t>
            </a:r>
          </a:p>
        </p:txBody>
      </p:sp>
      <p:sp>
        <p:nvSpPr>
          <p:cNvPr id="33" name="rule"/>
          <p:cNvSpPr/>
          <p:nvPr/>
        </p:nvSpPr>
        <p:spPr>
          <a:xfrm>
            <a:off x="987552" y="6005322"/>
            <a:ext cx="4721047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7552" y="6243066"/>
            <a:ext cx="4721047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A2 (attention + O)</a:t>
            </a:r>
          </a:p>
        </p:txBody>
      </p:sp>
      <p:sp>
        <p:nvSpPr>
          <p:cNvPr id="35" name="rule"/>
          <p:cNvSpPr/>
          <p:nvPr/>
        </p:nvSpPr>
        <p:spPr>
          <a:xfrm>
            <a:off x="5900623" y="6005322"/>
            <a:ext cx="393420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00623" y="6243066"/>
            <a:ext cx="393420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128 × 256</a:t>
            </a:r>
          </a:p>
        </p:txBody>
      </p:sp>
      <p:sp>
        <p:nvSpPr>
          <p:cNvPr id="37" name="rule"/>
          <p:cNvSpPr/>
          <p:nvPr/>
        </p:nvSpPr>
        <p:spPr>
          <a:xfrm>
            <a:off x="10026853" y="6005322"/>
            <a:ext cx="393420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26853" y="6243066"/>
            <a:ext cx="393420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10</a:t>
            </a:r>
          </a:p>
        </p:txBody>
      </p:sp>
      <p:sp>
        <p:nvSpPr>
          <p:cNvPr id="39" name="rule"/>
          <p:cNvSpPr/>
          <p:nvPr/>
        </p:nvSpPr>
        <p:spPr>
          <a:xfrm>
            <a:off x="14153083" y="6005322"/>
            <a:ext cx="3147364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4153083" y="6243066"/>
            <a:ext cx="3147364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32,768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" y="914400"/>
            <a:ext cx="1631289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u="none" i="0" spc="150">
                <a:solidFill>
                  <a:srgbClr val="A1A1AA"/>
                </a:solidFill>
                <a:latin typeface="Arial"/>
              </a:rPr>
              <a:t>APPENDIX · LAYOUT C SHARDING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1371600"/>
            <a:ext cx="16312896" cy="6743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u="none" i="0">
                <a:solidFill>
                  <a:srgbClr val="18181B"/>
                </a:solidFill>
                <a:latin typeface="Arial"/>
              </a:rPr>
              <a:t>Why the row shards are 32 / 10 / 16</a:t>
            </a:r>
          </a:p>
        </p:txBody>
      </p:sp>
      <p:pic>
        <p:nvPicPr>
          <p:cNvPr id="4" name="figure" descr="layoutC_hidden_resh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1201" y="2484881"/>
            <a:ext cx="5065597" cy="52715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87552" y="8030718"/>
            <a:ext cx="1631289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A1A1AA"/>
                </a:solidFill>
                <a:latin typeface="Arial"/>
              </a:rPr>
              <a:t>How the hidden dimension is re-sharded between stages.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" y="914400"/>
            <a:ext cx="1631289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u="none" i="0" spc="150">
                <a:solidFill>
                  <a:srgbClr val="A1A1AA"/>
                </a:solidFill>
                <a:latin typeface="Arial"/>
              </a:rPr>
              <a:t>APPENDIX · LAYOUT C SHARDING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1371600"/>
            <a:ext cx="16312896" cy="6743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u="none" i="0">
                <a:solidFill>
                  <a:srgbClr val="18181B"/>
                </a:solidFill>
                <a:latin typeface="Arial"/>
              </a:rPr>
              <a:t>Which tensor axis each stage shards</a:t>
            </a:r>
          </a:p>
        </p:txBody>
      </p:sp>
      <p:pic>
        <p:nvPicPr>
          <p:cNvPr id="4" name="figure" descr="layoutC_weight_ax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3790" y="2484882"/>
            <a:ext cx="6360419" cy="52715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87552" y="8030718"/>
            <a:ext cx="1631289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A1A1AA"/>
                </a:solidFill>
                <a:latin typeface="Arial"/>
              </a:rPr>
              <a:t>Weight axes per stage.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" y="914400"/>
            <a:ext cx="1631289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u="none" i="0" spc="150">
                <a:solidFill>
                  <a:srgbClr val="A1A1AA"/>
                </a:solidFill>
                <a:latin typeface="Arial"/>
              </a:rPr>
              <a:t>APPENDIX · IF KV MOVED TO A DRAM TIER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1371600"/>
            <a:ext cx="16312896" cy="13487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u="none" i="0">
                <a:solidFill>
                  <a:srgbClr val="18181B"/>
                </a:solidFill>
                <a:latin typeface="Arial"/>
              </a:rPr>
              <a:t>Bandwidth a DRAM tier would need to hold the KV scan at today's step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" y="2884932"/>
            <a:ext cx="118872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52525B"/>
                </a:solidFill>
                <a:latin typeface="Arial"/>
              </a:rPr>
              <a:t>Derived from the whole-KV-per-token read; CS-6 has published no numbers.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3744468"/>
            <a:ext cx="6275000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 spc="150">
                <a:solidFill>
                  <a:srgbClr val="A1A1AA"/>
                </a:solidFill>
                <a:latin typeface="Arial"/>
              </a:rPr>
              <a:t>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4576" y="3744468"/>
            <a:ext cx="4826923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 spc="150">
                <a:solidFill>
                  <a:srgbClr val="A1A1AA"/>
                </a:solidFill>
                <a:latin typeface="Arial"/>
              </a:rPr>
              <a:t>THRESHOLD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473524" y="3744468"/>
            <a:ext cx="4826923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 spc="150">
                <a:solidFill>
                  <a:srgbClr val="A1A1AA"/>
                </a:solidFill>
                <a:latin typeface="Arial"/>
              </a:rPr>
              <a:t>VS H100 HBM</a:t>
            </a:r>
          </a:p>
        </p:txBody>
      </p:sp>
      <p:sp>
        <p:nvSpPr>
          <p:cNvPr id="8" name="rule"/>
          <p:cNvSpPr/>
          <p:nvPr/>
        </p:nvSpPr>
        <p:spPr>
          <a:xfrm>
            <a:off x="987552" y="4210812"/>
            <a:ext cx="6275000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4448555"/>
            <a:ext cx="62750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29K</a:t>
            </a:r>
          </a:p>
        </p:txBody>
      </p:sp>
      <p:sp>
        <p:nvSpPr>
          <p:cNvPr id="10" name="rule"/>
          <p:cNvSpPr/>
          <p:nvPr/>
        </p:nvSpPr>
        <p:spPr>
          <a:xfrm>
            <a:off x="7454576" y="4210812"/>
            <a:ext cx="4826923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54576" y="4448555"/>
            <a:ext cx="4826923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4.0 TB/s</a:t>
            </a:r>
          </a:p>
        </p:txBody>
      </p:sp>
      <p:sp>
        <p:nvSpPr>
          <p:cNvPr id="12" name="rule"/>
          <p:cNvSpPr/>
          <p:nvPr/>
        </p:nvSpPr>
        <p:spPr>
          <a:xfrm>
            <a:off x="12473524" y="4210812"/>
            <a:ext cx="4826923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473524" y="4448555"/>
            <a:ext cx="4826923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1.2×</a:t>
            </a:r>
          </a:p>
        </p:txBody>
      </p:sp>
      <p:sp>
        <p:nvSpPr>
          <p:cNvPr id="14" name="rule"/>
          <p:cNvSpPr/>
          <p:nvPr/>
        </p:nvSpPr>
        <p:spPr>
          <a:xfrm>
            <a:off x="987552" y="5033772"/>
            <a:ext cx="6275000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5271516"/>
            <a:ext cx="62750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197K (Claude Code median)</a:t>
            </a:r>
          </a:p>
        </p:txBody>
      </p:sp>
      <p:sp>
        <p:nvSpPr>
          <p:cNvPr id="16" name="rule"/>
          <p:cNvSpPr/>
          <p:nvPr/>
        </p:nvSpPr>
        <p:spPr>
          <a:xfrm>
            <a:off x="7454576" y="5033772"/>
            <a:ext cx="4826923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4576" y="5271516"/>
            <a:ext cx="4826923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27.1 TB/s</a:t>
            </a:r>
          </a:p>
        </p:txBody>
      </p:sp>
      <p:sp>
        <p:nvSpPr>
          <p:cNvPr id="18" name="rule"/>
          <p:cNvSpPr/>
          <p:nvPr/>
        </p:nvSpPr>
        <p:spPr>
          <a:xfrm>
            <a:off x="12473524" y="5033772"/>
            <a:ext cx="4826923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73524" y="5271516"/>
            <a:ext cx="4826923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8.1×</a:t>
            </a:r>
          </a:p>
        </p:txBody>
      </p:sp>
      <p:sp>
        <p:nvSpPr>
          <p:cNvPr id="20" name="rule"/>
          <p:cNvSpPr/>
          <p:nvPr/>
        </p:nvSpPr>
        <p:spPr>
          <a:xfrm>
            <a:off x="987552" y="5856732"/>
            <a:ext cx="6275000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" y="6094476"/>
            <a:ext cx="62750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616K (Claude Code p90)</a:t>
            </a:r>
          </a:p>
        </p:txBody>
      </p:sp>
      <p:sp>
        <p:nvSpPr>
          <p:cNvPr id="22" name="rule"/>
          <p:cNvSpPr/>
          <p:nvPr/>
        </p:nvSpPr>
        <p:spPr>
          <a:xfrm>
            <a:off x="7454576" y="5856732"/>
            <a:ext cx="4826923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54576" y="6094476"/>
            <a:ext cx="4826923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84.6 TB/s</a:t>
            </a:r>
          </a:p>
        </p:txBody>
      </p:sp>
      <p:sp>
        <p:nvSpPr>
          <p:cNvPr id="24" name="rule"/>
          <p:cNvSpPr/>
          <p:nvPr/>
        </p:nvSpPr>
        <p:spPr>
          <a:xfrm>
            <a:off x="12473524" y="5856732"/>
            <a:ext cx="4826923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473524" y="6094476"/>
            <a:ext cx="4826923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25×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" y="914400"/>
            <a:ext cx="1631289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u="none" i="0" spc="150">
                <a:solidFill>
                  <a:srgbClr val="A1A1AA"/>
                </a:solidFill>
                <a:latin typeface="Arial"/>
              </a:rPr>
              <a:t>APPENDIX · NVIDIA GROQ 3 LPX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1371600"/>
            <a:ext cx="16312896" cy="6743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u="none" i="0">
                <a:solidFill>
                  <a:srgbClr val="18181B"/>
                </a:solidFill>
                <a:latin typeface="Arial"/>
              </a:rPr>
              <a:t>LPX as published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" y="2210562"/>
            <a:ext cx="118872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52525B"/>
                </a:solidFill>
                <a:latin typeface="Arial"/>
              </a:rPr>
              <a:t>From the NVIDIA blog, as fetched by 4b-wide-layer.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3070098"/>
            <a:ext cx="6448348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 spc="150">
                <a:solidFill>
                  <a:srgbClr val="A1A1AA"/>
                </a:solidFill>
                <a:latin typeface="Arial"/>
              </a:rPr>
              <a:t>QUANTITY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7924" y="3070098"/>
            <a:ext cx="9672523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 spc="150">
                <a:solidFill>
                  <a:srgbClr val="A1A1AA"/>
                </a:solidFill>
                <a:latin typeface="Arial"/>
              </a:rPr>
              <a:t>VALUE</a:t>
            </a:r>
          </a:p>
        </p:txBody>
      </p:sp>
      <p:sp>
        <p:nvSpPr>
          <p:cNvPr id="7" name="rule"/>
          <p:cNvSpPr/>
          <p:nvPr/>
        </p:nvSpPr>
        <p:spPr>
          <a:xfrm>
            <a:off x="987552" y="3536441"/>
            <a:ext cx="6448348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3774185"/>
            <a:ext cx="64483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SRAM per chip (compiler-managed)</a:t>
            </a:r>
          </a:p>
        </p:txBody>
      </p:sp>
      <p:sp>
        <p:nvSpPr>
          <p:cNvPr id="9" name="rule"/>
          <p:cNvSpPr/>
          <p:nvPr/>
        </p:nvSpPr>
        <p:spPr>
          <a:xfrm>
            <a:off x="7627924" y="3536441"/>
            <a:ext cx="9672523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7924" y="3774185"/>
            <a:ext cx="9672523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500 MB; 128 GB rack-wide</a:t>
            </a:r>
          </a:p>
        </p:txBody>
      </p:sp>
      <p:sp>
        <p:nvSpPr>
          <p:cNvPr id="11" name="rule"/>
          <p:cNvSpPr/>
          <p:nvPr/>
        </p:nvSpPr>
        <p:spPr>
          <a:xfrm>
            <a:off x="987552" y="4359402"/>
            <a:ext cx="6448348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597146"/>
            <a:ext cx="64483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On-chip bandwidth</a:t>
            </a:r>
          </a:p>
        </p:txBody>
      </p:sp>
      <p:sp>
        <p:nvSpPr>
          <p:cNvPr id="13" name="rule"/>
          <p:cNvSpPr/>
          <p:nvPr/>
        </p:nvSpPr>
        <p:spPr>
          <a:xfrm>
            <a:off x="7627924" y="4359402"/>
            <a:ext cx="9672523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7924" y="4597146"/>
            <a:ext cx="9672523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150 TB/s</a:t>
            </a:r>
          </a:p>
        </p:txBody>
      </p:sp>
      <p:sp>
        <p:nvSpPr>
          <p:cNvPr id="15" name="rule"/>
          <p:cNvSpPr/>
          <p:nvPr/>
        </p:nvSpPr>
        <p:spPr>
          <a:xfrm>
            <a:off x="987552" y="5182362"/>
            <a:ext cx="6448348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5420106"/>
            <a:ext cx="64483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Chip-to-chip</a:t>
            </a:r>
          </a:p>
        </p:txBody>
      </p:sp>
      <p:sp>
        <p:nvSpPr>
          <p:cNvPr id="17" name="rule"/>
          <p:cNvSpPr/>
          <p:nvPr/>
        </p:nvSpPr>
        <p:spPr>
          <a:xfrm>
            <a:off x="7627924" y="5182362"/>
            <a:ext cx="9672523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27924" y="5420106"/>
            <a:ext cx="9672523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96 C2C links = 2.5 TB/s per chip; plesiosynchronous</a:t>
            </a:r>
          </a:p>
        </p:txBody>
      </p:sp>
      <p:sp>
        <p:nvSpPr>
          <p:cNvPr id="19" name="rule"/>
          <p:cNvSpPr/>
          <p:nvPr/>
        </p:nvSpPr>
        <p:spPr>
          <a:xfrm>
            <a:off x="987552" y="6005322"/>
            <a:ext cx="6448348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6243066"/>
            <a:ext cx="64483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Role in the system</a:t>
            </a:r>
          </a:p>
        </p:txBody>
      </p:sp>
      <p:sp>
        <p:nvSpPr>
          <p:cNvPr id="21" name="rule"/>
          <p:cNvSpPr/>
          <p:nvPr/>
        </p:nvSpPr>
        <p:spPr>
          <a:xfrm>
            <a:off x="7627924" y="6005322"/>
            <a:ext cx="9672523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27924" y="6243066"/>
            <a:ext cx="9672523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FFN / MoE; GPUs hold attention and the whole KV (AFD)</a:t>
            </a:r>
          </a:p>
        </p:txBody>
      </p:sp>
      <p:sp>
        <p:nvSpPr>
          <p:cNvPr id="23" name="rule"/>
          <p:cNvSpPr/>
          <p:nvPr/>
        </p:nvSpPr>
        <p:spPr>
          <a:xfrm>
            <a:off x="987552" y="6828282"/>
            <a:ext cx="6448348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7552" y="7066026"/>
            <a:ext cx="64483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DRAM</a:t>
            </a:r>
          </a:p>
        </p:txBody>
      </p:sp>
      <p:sp>
        <p:nvSpPr>
          <p:cNvPr id="25" name="rule"/>
          <p:cNvSpPr/>
          <p:nvPr/>
        </p:nvSpPr>
        <p:spPr>
          <a:xfrm>
            <a:off x="7627924" y="6828282"/>
            <a:ext cx="9672523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27924" y="7066026"/>
            <a:ext cx="9672523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52525B"/>
                </a:solidFill>
                <a:latin typeface="Arial"/>
              </a:rPr>
              <a:t>256 GB + 128 GB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798</Words>
  <Application>Microsoft Macintosh PowerPoint</Application>
  <PresentationFormat>Custom</PresentationFormat>
  <Paragraphs>166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Le Xu</cp:lastModifiedBy>
  <cp:revision>2</cp:revision>
  <dcterms:created xsi:type="dcterms:W3CDTF">2026-07-20T11:59:30Z</dcterms:created>
  <dcterms:modified xsi:type="dcterms:W3CDTF">2026-07-20T11:59:59Z</dcterms:modified>
</cp:coreProperties>
</file>