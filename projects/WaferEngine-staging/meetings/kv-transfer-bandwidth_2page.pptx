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5"/>
    <p:sldId id="275" r:id="rId26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3.png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KV cache crosses from prefill to decode</a:t>
            </a:r>
          </a:p>
        </p:txBody>
      </p:sp>
      <p:sp>
        <p:nvSpPr>
          <p:cNvPr id="4" name="Text 1"/>
          <p:cNvSpPr/>
          <p:nvPr/>
        </p:nvSpPr>
        <p:spPr>
          <a:xfrm>
            <a:off x="1371600" y="9674352"/>
            <a:ext cx="10972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742"/>
              </a:lnSpc>
              <a:buNone/>
            </a:pPr>
            <a:r>
              <a:rPr lang="en-US" sz="1100" dirty="0" b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cache: prefill → decode transfer  ·  WaferEngine on WSE-3  ·  July 2026</a:t>
            </a:r>
          </a:p>
        </p:txBody>
      </p:sp>
      <p:sp>
        <p:nvSpPr>
          <p:cNvPr id="4" name="Text 1"/>
          <p:cNvSpPr/>
          <p:nvPr/>
        </p:nvSpPr>
        <p:spPr>
          <a:xfrm>
            <a:off x="2639444" y="2249424"/>
            <a:ext cx="5794895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742"/>
              </a:lnSpc>
              <a:buNone/>
            </a:pPr>
            <a:r>
              <a:rPr lang="en-US" sz="1500" dirty="0" b="1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inside one prefill block:  funnel → diagonal → transpose        stage A ≈ 7%</a:t>
            </a:r>
          </a:p>
        </p:txBody>
      </p:sp>
      <p:sp>
        <p:nvSpPr>
          <p:cNvPr id="4" name="Text 1"/>
          <p:cNvSpPr/>
          <p:nvPr/>
        </p:nvSpPr>
        <p:spPr>
          <a:xfrm>
            <a:off x="9211580" y="2249424"/>
            <a:ext cx="643697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742"/>
              </a:lnSpc>
              <a:buNone/>
            </a:pPr>
            <a:r>
              <a:rPr lang="en-US" sz="1500" dirty="0" b="1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across regions:  store-and-forward north into decode        stage B ≈ 93%</a:t>
            </a:r>
          </a:p>
        </p:txBody>
      </p:sp>
      <p:pic>
        <p:nvPicPr>
          <p:cNvPr id="5" name="Picture 4" descr="fig_topo_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444" y="2761488"/>
            <a:ext cx="5794896" cy="5532120"/>
          </a:xfrm>
          <a:prstGeom prst="rect">
            <a:avLst/>
          </a:prstGeom>
        </p:spPr>
      </p:pic>
      <p:pic>
        <p:nvPicPr>
          <p:cNvPr id="6" name="Picture 5" descr="fig_topo_reg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1580" y="2761488"/>
            <a:ext cx="6436975" cy="5532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8430768"/>
            <a:ext cx="15453359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742"/>
              </a:lnSpc>
              <a:buNone/>
            </a:pPr>
            <a:r>
              <a:rPr lang="en-US" sz="1300" dirty="0" b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and decode hold KV on transposed coordinates — a tile on PE (lx, ly) is expected at (ly, lx). Each row funnels sideways to its diagonal PE, which then emits down its column; the turn at the diagonal is the transpose. A second, in-tile relayout puts the bytes in decode's order, so decode only receives and unpacks.</a:t>
            </a:r>
          </a:p>
          <a:p>
            <a:pPr algn="l" indent="0" marL="0">
              <a:lnSpc>
                <a:spcPct val="167742"/>
              </a:lnSpc>
              <a:buNone/>
            </a:pPr>
            <a:r>
              <a:rPr lang="en-US" sz="1300" dirty="0" b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all of stage A — about 7%. The other 93% is stage B: each tile is handed north PE by PE across the full prefill height and the relay seam, once per layer per K/V plane, with no overlap between planes.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real silicon — it scales with geometry, but runs far below the wire</a:t>
            </a:r>
          </a:p>
        </p:txBody>
      </p:sp>
      <p:sp>
        <p:nvSpPr>
          <p:cNvPr id="4" name="Text 1"/>
          <p:cNvSpPr/>
          <p:nvPr/>
        </p:nvSpPr>
        <p:spPr>
          <a:xfrm>
            <a:off x="1371600" y="9674352"/>
            <a:ext cx="10972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742"/>
              </a:lnSpc>
              <a:buNone/>
            </a:pPr>
            <a:r>
              <a:rPr lang="en-US" sz="1100" dirty="0" b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cache: prefill → decode transfer  ·  WaferEngine on WSE-3  ·  July 2026</a:t>
            </a:r>
          </a:p>
        </p:txBody>
      </p:sp>
      <p:pic>
        <p:nvPicPr>
          <p:cNvPr id="5" name="Picture 4" descr="fig_bw_lad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395728"/>
            <a:ext cx="14081760" cy="59576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8430768"/>
            <a:ext cx="15453359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742"/>
              </a:lnSpc>
              <a:buNone/>
            </a:pPr>
            <a:r>
              <a:rPr lang="en-US" sz="1300" dirty="0" b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configurations end to end on the EPCC CS-3, from a 16×16 toy up to the full 512×512 production geometry — no simulator. Effective bandwidth = KV bytes moved ÷ (A+B), timed by on-device counters; it grows almost linearly with geometry, reaching 1.803 GB/s.</a:t>
            </a:r>
          </a:p>
          <a:p>
            <a:pPr algn="l" indent="0" marL="0">
              <a:lnSpc>
                <a:spcPct val="167742"/>
              </a:lnSpc>
              <a:buNone/>
            </a:pPr>
            <a:r>
              <a:rPr lang="en-US" sz="1300" dirty="0" b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ceiling lines are the point: one fabric link carrying a single clean stream measured 3.91 GB/s on the same machine (0.89× spec). The whole parallel transfer is therefore slower than one clean link and uses ~0.1% of the seam — bound by per-hop latency and by running the planes serially, not by the fabric. Fixes: coalesce the planes into one shift, enlarge the per-hop payload, cut through, route directly.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2026-07-20T06:59:57Z</dcterms:created>
  <dcterms:modified xsi:type="dcterms:W3CDTF">2026-07-20T06:59:57Z</dcterms:modified>
</cp:coreProperties>
</file>