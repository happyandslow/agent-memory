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the project name, one-line description, and the meta row (owner / period / status). Reuse this exact layout for every deck's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/ contents. Numbered list of the sections in this update. Keep to 4-6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 only dark slide type. Use between major parts of the deck. Change the number and the section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 / metric slide. Lead with one hero figure, support with three secondary metrics. Include a direction/delta under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bulleted content. Each bullet is a short status line. Keep to 4-5 bullets; move detail into a two-column or table slide if it overflows.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layout. Narrative or summary on the left, supporting list / highlights on the right panel. Good for 'what happened + what it means'.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table. Use for workstream / owner / status / notes. Keep the status column to a small set of words (On track / At risk / Blocked / Done).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/ roadmap. Four phases left to right with a connecting line. Mark the current phase with the filled dot. Change phase names, dates, and one-line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/ people. Initials avatars as placeholders (no photos needed, works everywhere). Replace names and roles; add or remove cards to match your team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/ callout. Use for a stakeholder quote, a guiding principle, or a single big statement. Keep the quote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Comparison. Two options / before-and-after side by side. The right panel is the recommended / after state (darker header). Use for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Bulleted next-steps variant. Owner + action pairs. Reuse the bulleted layout but frame each line as an action with an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/ thank you. Ends the deck. Keep contact / follow-up details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14400"/>
            <a:ext cx="381000" cy="381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6D28D9">
                  <a:alpha val="100000"/>
                </a:srgbClr>
              </a:gs>
              <a:gs pos="55000">
                <a:srgbClr val="1D4ED8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24000" y="959644"/>
            <a:ext cx="23440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Workspace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3356818"/>
            <a:ext cx="14668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UPDATE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04518"/>
            <a:ext cx="14668500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82"/>
              </a:lnSpc>
              <a:buNone/>
            </a:pPr>
            <a:r>
              <a:rPr lang="en-US" sz="8100" b="1" kern="0" spc="-162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990600" y="5434757"/>
            <a:ext cx="1079182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3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description of what this project is and the update this deck covers.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90600" y="8486775"/>
            <a:ext cx="163068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0600" y="8801100"/>
            <a:ext cx="16165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0600" y="9124950"/>
            <a:ext cx="16165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93603" y="8801100"/>
            <a:ext cx="135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93603" y="9124950"/>
            <a:ext cx="13520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6175" y="8801100"/>
            <a:ext cx="12213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6175" y="9124950"/>
            <a:ext cx="12213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2424113"/>
            <a:ext cx="668655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2643188"/>
            <a:ext cx="647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2714625"/>
            <a:ext cx="388363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since last update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91550" y="2424113"/>
            <a:ext cx="668655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1550" y="2643188"/>
            <a:ext cx="647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429750" y="2714625"/>
            <a:ext cx="1727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0600" y="3338513"/>
            <a:ext cx="668655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3557588"/>
            <a:ext cx="647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28800" y="3629025"/>
            <a:ext cx="29672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timeline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91550" y="3338513"/>
            <a:ext cx="668655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1550" y="3557588"/>
            <a:ext cx="647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29750" y="3629025"/>
            <a:ext cx="376502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decisions needed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4252913"/>
            <a:ext cx="668655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4471988"/>
            <a:ext cx="647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4543425"/>
            <a:ext cx="272063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ownership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591550" y="4252913"/>
            <a:ext cx="668655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1550" y="4471988"/>
            <a:ext cx="647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29750" y="4543425"/>
            <a:ext cx="158259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1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872880"/>
            <a:ext cx="17937480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100" b="1" kern="0" spc="-162" dirty="0">
                <a:solidFill>
                  <a:srgbClr val="8B7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100" dirty="0"/>
          </a:p>
        </p:txBody>
      </p:sp>
      <p:sp>
        <p:nvSpPr>
          <p:cNvPr id="3" name="Text 1"/>
          <p:cNvSpPr/>
          <p:nvPr/>
        </p:nvSpPr>
        <p:spPr>
          <a:xfrm>
            <a:off x="990600" y="5239717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Since Last Update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90600" y="6101730"/>
            <a:ext cx="115252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framing sentence for what this section is about.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90600" y="2500313"/>
            <a:ext cx="3812173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13500" b="1" kern="0" spc="-40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4684812" y="3490913"/>
            <a:ext cx="35010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milestones on schedule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90600" y="4576763"/>
            <a:ext cx="4559275" cy="2152650"/>
          </a:xfrm>
          <a:prstGeom prst="roundRect">
            <a:avLst>
              <a:gd name="adj" fmla="val 6195"/>
            </a:avLst>
          </a:prstGeom>
          <a:solidFill>
            <a:srgbClr val="F2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4919663"/>
            <a:ext cx="4177003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71600" y="5734050"/>
            <a:ext cx="4177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completed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71600" y="6119813"/>
            <a:ext cx="41770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this week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4675" y="4576763"/>
            <a:ext cx="4559275" cy="2152650"/>
          </a:xfrm>
          <a:prstGeom prst="roundRect">
            <a:avLst>
              <a:gd name="adj" fmla="val 6195"/>
            </a:avLst>
          </a:prstGeom>
          <a:solidFill>
            <a:srgbClr val="E9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35675" y="4919663"/>
            <a:ext cx="4177003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35675" y="5734050"/>
            <a:ext cx="4177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blockers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235675" y="6119813"/>
            <a:ext cx="41770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 review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18750" y="4576763"/>
            <a:ext cx="4559275" cy="2152650"/>
          </a:xfrm>
          <a:prstGeom prst="roundRect">
            <a:avLst>
              <a:gd name="adj" fmla="val 6195"/>
            </a:avLst>
          </a:prstGeom>
          <a:solidFill>
            <a:srgbClr val="E5F4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99750" y="4919663"/>
            <a:ext cx="4177003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12d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1099750" y="5734050"/>
            <a:ext cx="4177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next milestone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099750" y="6119813"/>
            <a:ext cx="41770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this cycle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2557463"/>
            <a:ext cx="114300" cy="1143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33500" y="2424113"/>
            <a:ext cx="1000257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deliverable completed and handed to stakeholders for review.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90600" y="3216548"/>
            <a:ext cx="114300" cy="1143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33500" y="3083198"/>
            <a:ext cx="9046666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workstream moved from design into build; on schedule.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3875633"/>
            <a:ext cx="114300" cy="1143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33500" y="3742283"/>
            <a:ext cx="9034224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the integration issue that was blocking the API rollout.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0600" y="4534719"/>
            <a:ext cx="114300" cy="1143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33500" y="4401369"/>
            <a:ext cx="849250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Kicked off user testing with the first cohort of internal users.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446190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093890"/>
            <a:ext cx="800557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304"/>
              </a:lnSpc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heading for the point on the left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90600" y="5675040"/>
            <a:ext cx="8005572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column for the narrative: a short paragraph explaining the situation, the change, or the recommendation you're making.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0" y="3495675"/>
            <a:ext cx="7772400" cy="3409950"/>
          </a:xfrm>
          <a:prstGeom prst="roundRect">
            <a:avLst>
              <a:gd name="adj" fmla="val 4469"/>
            </a:avLst>
          </a:prstGeom>
          <a:solidFill>
            <a:srgbClr val="F4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0" y="3990975"/>
            <a:ext cx="7376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0" y="4467225"/>
            <a:ext cx="4286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82275" y="4467225"/>
            <a:ext cx="306761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058400" y="5038725"/>
            <a:ext cx="67056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0" y="5257800"/>
            <a:ext cx="46613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19780" y="5257800"/>
            <a:ext cx="35443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058400" y="5829300"/>
            <a:ext cx="67056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0" y="6048375"/>
            <a:ext cx="47580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629454" y="6048375"/>
            <a:ext cx="318663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BY WORKSTREAM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status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90600" y="2462213"/>
            <a:ext cx="487307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7191" y="2462213"/>
            <a:ext cx="26571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046890" y="2462213"/>
            <a:ext cx="21532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504935" y="2462213"/>
            <a:ext cx="4873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2924175"/>
            <a:ext cx="4916091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3162300"/>
            <a:ext cx="4873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06691" y="2924175"/>
            <a:ext cx="2949699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7191" y="3162300"/>
            <a:ext cx="26571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Rivera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856390" y="2924175"/>
            <a:ext cx="245804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46890" y="3162300"/>
            <a:ext cx="950714" cy="404813"/>
          </a:xfrm>
          <a:prstGeom prst="roundRect">
            <a:avLst>
              <a:gd name="adj" fmla="val 50000"/>
            </a:avLst>
          </a:prstGeom>
          <a:solidFill>
            <a:srgbClr val="E5F4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18340" y="3219450"/>
            <a:ext cx="6840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314435" y="2924175"/>
            <a:ext cx="491616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04935" y="3162300"/>
            <a:ext cx="4873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 last week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3752850"/>
            <a:ext cx="4916091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0600" y="3990975"/>
            <a:ext cx="4873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06691" y="3752850"/>
            <a:ext cx="2949699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7191" y="3990975"/>
            <a:ext cx="26571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856390" y="3752850"/>
            <a:ext cx="245804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46890" y="3990975"/>
            <a:ext cx="1325240" cy="404813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18340" y="4048125"/>
            <a:ext cx="10585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314435" y="3752850"/>
            <a:ext cx="491616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504935" y="3990975"/>
            <a:ext cx="4873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Mid-sprint, no blockers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90600" y="4581525"/>
            <a:ext cx="4916091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0600" y="4819650"/>
            <a:ext cx="4873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906691" y="4581525"/>
            <a:ext cx="2949699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97191" y="4819650"/>
            <a:ext cx="26571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Osei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856390" y="4581525"/>
            <a:ext cx="245804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046890" y="4819650"/>
            <a:ext cx="1076474" cy="404813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18340" y="4876800"/>
            <a:ext cx="80977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314435" y="4581525"/>
            <a:ext cx="491616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504935" y="4819650"/>
            <a:ext cx="4873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on vendor API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90600" y="5410200"/>
            <a:ext cx="4916091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0600" y="5648325"/>
            <a:ext cx="4873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5906691" y="5410200"/>
            <a:ext cx="2949699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97191" y="5648325"/>
            <a:ext cx="26571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Kaur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8856390" y="5410200"/>
            <a:ext cx="245804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046890" y="5648325"/>
            <a:ext cx="1259012" cy="404813"/>
          </a:xfrm>
          <a:prstGeom prst="roundRect">
            <a:avLst>
              <a:gd name="adj" fmla="val 50000"/>
            </a:avLst>
          </a:prstGeom>
          <a:solidFill>
            <a:srgbClr val="EC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18340" y="5705475"/>
            <a:ext cx="99231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1314435" y="5410200"/>
            <a:ext cx="4916165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504935" y="5648325"/>
            <a:ext cx="4873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after integration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milestones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2295079" y="2909888"/>
            <a:ext cx="13697843" cy="19050"/>
          </a:xfrm>
          <a:prstGeom prst="rect">
            <a:avLst/>
          </a:prstGeom>
          <a:gradFill rotWithShape="1">
            <a:gsLst>
              <a:gs pos="0">
                <a:srgbClr val="6D28D9">
                  <a:alpha val="100000"/>
                </a:srgbClr>
              </a:gs>
              <a:gs pos="55000">
                <a:srgbClr val="1D4ED8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805113"/>
            <a:ext cx="228600" cy="2286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3262313"/>
            <a:ext cx="4170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757613"/>
            <a:ext cx="417004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90600" y="4433888"/>
            <a:ext cx="39046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gathered and scope agreed.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162550" y="2805113"/>
            <a:ext cx="228600" cy="2286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2550" y="3262313"/>
            <a:ext cx="4170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2550" y="3757613"/>
            <a:ext cx="417004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62550" y="4433888"/>
            <a:ext cx="39046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in active development.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334500" y="2805113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34500" y="3262313"/>
            <a:ext cx="4170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34500" y="3757613"/>
            <a:ext cx="417004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34500" y="4433888"/>
            <a:ext cx="417004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testing and fixes.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506450" y="2805113"/>
            <a:ext cx="228600" cy="228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506450" y="3262313"/>
            <a:ext cx="4170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06450" y="3757613"/>
            <a:ext cx="417004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506450" y="4433888"/>
            <a:ext cx="417004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to all users.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OWNERSHIP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driving this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2576513"/>
            <a:ext cx="1143000" cy="1143000"/>
          </a:xfrm>
          <a:prstGeom prst="ellipse">
            <a:avLst/>
          </a:prstGeom>
          <a:solidFill>
            <a:srgbClr val="F2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2576513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90600" y="3910013"/>
            <a:ext cx="145989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Rivera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600" y="4329113"/>
            <a:ext cx="14598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886325" y="2576513"/>
            <a:ext cx="1143000" cy="1143000"/>
          </a:xfrm>
          <a:prstGeom prst="ellipse">
            <a:avLst/>
          </a:prstGeom>
          <a:solidFill>
            <a:srgbClr val="E9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8225" y="2576513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886325" y="3910013"/>
            <a:ext cx="139547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86325" y="4329113"/>
            <a:ext cx="139547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782050" y="2576513"/>
            <a:ext cx="1143000" cy="1143000"/>
          </a:xfrm>
          <a:prstGeom prst="ellipse">
            <a:avLst/>
          </a:prstGeom>
          <a:solidFill>
            <a:srgbClr val="E5F4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43950" y="2576513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8782050" y="3910013"/>
            <a:ext cx="10902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Osei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82050" y="4329113"/>
            <a:ext cx="10902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677775" y="2576513"/>
            <a:ext cx="1143000" cy="1143000"/>
          </a:xfrm>
          <a:prstGeom prst="ellipse">
            <a:avLst/>
          </a:prstGeom>
          <a:solidFill>
            <a:srgbClr val="F2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639675" y="2576513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677775" y="3910013"/>
            <a:ext cx="12546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Kaur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677775" y="4329113"/>
            <a:ext cx="12546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3590479"/>
            <a:ext cx="159258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2174"/>
              </a:lnSpc>
              <a:buNone/>
            </a:pPr>
            <a:r>
              <a:rPr lang="en-US" sz="12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905000" y="4040089"/>
            <a:ext cx="1373505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868"/>
              </a:lnSpc>
              <a:buNone/>
            </a:pPr>
            <a:r>
              <a:rPr lang="en-US" sz="4200" b="1" kern="0" spc="-42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quotable statement that captures the takeaway or a key piece of feedback from a stakeholder.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05000" y="6539359"/>
            <a:ext cx="15925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speaker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905000" y="7178426"/>
            <a:ext cx="159258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Team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vs. Option B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2500313"/>
            <a:ext cx="7429500" cy="3209925"/>
          </a:xfrm>
          <a:prstGeom prst="roundRect">
            <a:avLst>
              <a:gd name="adj" fmla="val 4748"/>
            </a:avLst>
          </a:prstGeom>
          <a:ln w="9525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2509838"/>
            <a:ext cx="7410450" cy="981075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1125" y="2776537"/>
            <a:ext cx="687076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81125" y="3833812"/>
            <a:ext cx="3333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90700" y="3833812"/>
            <a:ext cx="45914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characteristic of this option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81125" y="4405313"/>
            <a:ext cx="3333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90700" y="4405313"/>
            <a:ext cx="312458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characteristic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81125" y="4976813"/>
            <a:ext cx="3333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90700" y="4976813"/>
            <a:ext cx="34366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to be aware of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801100" y="2500313"/>
            <a:ext cx="7429500" cy="3209925"/>
          </a:xfrm>
          <a:prstGeom prst="roundRect">
            <a:avLst>
              <a:gd name="adj" fmla="val 4748"/>
            </a:avLst>
          </a:prstGeom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20150" y="2519363"/>
            <a:ext cx="7391400" cy="98107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01150" y="2786063"/>
            <a:ext cx="167746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3819361" y="2807494"/>
            <a:ext cx="2011189" cy="404813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971761" y="2864644"/>
            <a:ext cx="17825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201150" y="3843338"/>
            <a:ext cx="357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35133" y="3843338"/>
            <a:ext cx="45914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characteristic of this option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01150" y="4414838"/>
            <a:ext cx="357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35133" y="4414838"/>
            <a:ext cx="312458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characteristic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01150" y="4986338"/>
            <a:ext cx="357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35133" y="4986338"/>
            <a:ext cx="339487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better fit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1600"/>
            <a:ext cx="1793748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2424113"/>
            <a:ext cx="142875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2678906"/>
            <a:ext cx="20955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Rivera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200400" y="2643188"/>
            <a:ext cx="611722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scope for the next phase by Friday.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0600" y="3252788"/>
            <a:ext cx="142875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0600" y="3507581"/>
            <a:ext cx="20955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200400" y="3471863"/>
            <a:ext cx="80264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Unblock the integration and confirm the vendor timeline.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0600" y="4081463"/>
            <a:ext cx="14287500" cy="9525"/>
          </a:xfrm>
          <a:prstGeom prst="rect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4336256"/>
            <a:ext cx="20955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team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200400" y="4300538"/>
            <a:ext cx="643400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testing feedback in next week's sync.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1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14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24000" y="959644"/>
            <a:ext cx="225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Workspace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4131469"/>
            <a:ext cx="17937480" cy="1119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90600" y="5479256"/>
            <a:ext cx="11525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3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or feedback? Reach out any time.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90600" y="8810625"/>
            <a:ext cx="16306800" cy="9525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0600" y="9124950"/>
            <a:ext cx="384368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yourname@company.com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18261" y="9124950"/>
            <a:ext cx="24916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#project-channel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