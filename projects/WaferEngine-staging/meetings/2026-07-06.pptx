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8F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July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>
                <a:solidFill>
                  <a:srgbClr val="C8D6E6"/>
                </a:solidFill>
                <a:latin typeface="Aptos"/>
              </a:rPr>
              <a:t>KV-Cache Sharing on the WSE Prefill / Decode Kernels</a:t>
            </a:r>
          </a:p>
          <a:p>
            <a:pPr algn="l"/>
            <a:r>
              <a:rPr sz="1400">
                <a:solidFill>
                  <a:srgbClr val="9DB0C4"/>
                </a:solidFill>
                <a:latin typeface="Aptos"/>
              </a:rPr>
              <a:t>current design · sharing options · where to reuse ·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Today's kernels — and why they can't share 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80644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42E3A"/>
                </a:solidFill>
                <a:latin typeface="Aptos"/>
              </a:rPr>
              <a:t>•  Two kernels, in sequence: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E3A"/>
                </a:solidFill>
                <a:latin typeface="Aptos"/>
              </a:rPr>
              <a:t>    –  PREFILL ingests the whole prompt at once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E3A"/>
                </a:solidFill>
                <a:latin typeface="Aptos"/>
              </a:rPr>
              <a:t>    –  DECODE then generates tokens one at a time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2E3A"/>
                </a:solidFill>
                <a:latin typeface="Aptos"/>
              </a:rPr>
              <a:t>•  The KV cache lives in the DECODE kernel's on-PE memory.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2E3A"/>
                </a:solidFill>
                <a:latin typeface="Aptos"/>
              </a:rPr>
              <a:t>•  Every request first RESETS that memory (round_reset) —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0432B"/>
                </a:solidFill>
                <a:latin typeface="Aptos"/>
              </a:rPr>
              <a:t>    –  the previous request's KV is wiped.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2E3A"/>
                </a:solidFill>
                <a:latin typeface="Aptos"/>
              </a:rPr>
              <a:t>•  Requests are kept fully independent — we even verify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B"/>
                </a:solidFill>
                <a:latin typeface="Aptos"/>
              </a:rPr>
              <a:t>    –  back-to-back runs are bit-identical (no carry-over).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42E3A"/>
                </a:solidFill>
                <a:latin typeface="Aptos"/>
              </a:rPr>
              <a:t>•  So there is NO KV reuse today: a new request recomputes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0432B"/>
                </a:solidFill>
                <a:latin typeface="Aptos"/>
              </a:rPr>
              <a:t>    –  everything, even a shared prefix.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143000"/>
            <a:ext cx="5166360" cy="48920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252728"/>
            <a:ext cx="4892040" cy="411480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Inside one DECODE PE  —  KV cache 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56232"/>
            <a:ext cx="1234440" cy="5029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200" b="1">
                <a:solidFill>
                  <a:srgbClr val="242E3A"/>
                </a:solidFill>
                <a:latin typeface="Aptos"/>
              </a:rPr>
              <a:t>Request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9" name="Rectangle 8"/>
          <p:cNvSpPr/>
          <p:nvPr/>
        </p:nvSpPr>
        <p:spPr>
          <a:xfrm>
            <a:off x="8586216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9992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73767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67544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61320" y="1874519"/>
            <a:ext cx="475488" cy="47548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86800" y="2560320"/>
            <a:ext cx="822960" cy="777240"/>
          </a:xfrm>
          <a:prstGeom prst="downArrow">
            <a:avLst/>
          </a:prstGeom>
          <a:solidFill>
            <a:srgbClr val="C0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624328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60604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C0432B"/>
                </a:solidFill>
                <a:latin typeface="Aptos"/>
              </a:rPr>
              <a:t>round_reset()</a:t>
            </a:r>
          </a:p>
          <a:p>
            <a:r>
              <a:rPr sz="1200" b="0">
                <a:solidFill>
                  <a:srgbClr val="C0432B"/>
                </a:solidFill>
                <a:latin typeface="Aptos"/>
              </a:rPr>
              <a:t>rewind → discard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474720"/>
            <a:ext cx="1234440" cy="5029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200" b="1">
                <a:solidFill>
                  <a:srgbClr val="242E3A"/>
                </a:solidFill>
                <a:latin typeface="Aptos"/>
              </a:rPr>
              <a:t>Request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86216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9992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73767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67544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3493008"/>
            <a:ext cx="475488" cy="475488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389120"/>
            <a:ext cx="4709160" cy="1417320"/>
          </a:xfrm>
          <a:prstGeom prst="roundRect">
            <a:avLst/>
          </a:prstGeom>
          <a:solidFill>
            <a:srgbClr val="F7E7E3"/>
          </a:solidFill>
          <a:ln w="12700">
            <a:solidFill>
              <a:srgbClr val="E3B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C0432B"/>
                </a:solidFill>
                <a:latin typeface="Aptos"/>
              </a:rPr>
              <a:t>Each request's KV OVERWRITES the last.</a:t>
            </a:r>
          </a:p>
          <a:p>
            <a:pPr algn="ctr"/>
            <a:r>
              <a:rPr sz="1400" b="1">
                <a:solidFill>
                  <a:srgbClr val="C0432B"/>
                </a:solidFill>
                <a:latin typeface="Aptos"/>
              </a:rPr>
              <a:t>Nothing is kept → no cross-request reuse.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If we enable KV sharing: where do we keep the warm KV?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611880" cy="502920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 · Within the 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09928"/>
            <a:ext cx="3611880" cy="27889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26060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240280"/>
            <a:ext cx="233172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2E6DB4"/>
                </a:solidFill>
                <a:latin typeface="Aptos"/>
              </a:rPr>
              <a:t>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43200"/>
            <a:ext cx="566928" cy="50292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3936" y="2743200"/>
            <a:ext cx="566928" cy="50292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39" y="2743200"/>
            <a:ext cx="566928" cy="502920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2743200"/>
            <a:ext cx="566928" cy="502920"/>
          </a:xfrm>
          <a:prstGeom prst="rect">
            <a:avLst/>
          </a:prstGeom>
          <a:solidFill>
            <a:srgbClr val="2E6DB4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29000"/>
            <a:ext cx="233172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5B6B7B"/>
                </a:solidFill>
                <a:latin typeface="Aptos"/>
              </a:rPr>
              <a:t>shared bank: A |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72000"/>
            <a:ext cx="361188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>Keep &gt;1 request's KV in the same bank; reuse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57800"/>
            <a:ext cx="36118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2E6DB4"/>
                </a:solidFill>
                <a:latin typeface="Aptos"/>
              </a:rPr>
              <a:t>~0 move  ·  tiny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143000"/>
            <a:ext cx="3611880" cy="5029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 · On-chip, spare 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709928"/>
            <a:ext cx="3611880" cy="27889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103120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2103120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03120"/>
            <a:ext cx="566928" cy="566928"/>
          </a:xfrm>
          <a:prstGeom prst="rect">
            <a:avLst/>
          </a:prstGeom>
          <a:solidFill>
            <a:srgbClr val="E7F1EA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2E8B57"/>
                </a:solidFill>
                <a:latin typeface="Aptos"/>
              </a:rPr>
              <a:t>idle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743200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2743200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743200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3383279"/>
            <a:ext cx="566928" cy="566928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383279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383279"/>
            <a:ext cx="566928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303520" y="4434840"/>
            <a:ext cx="1828800" cy="32004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move on fabric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572000"/>
            <a:ext cx="361188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>Park warm KV in idle PEs; move it over the fabric.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257800"/>
            <a:ext cx="36118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2E8B57"/>
                </a:solidFill>
                <a:latin typeface="Aptos"/>
              </a:rPr>
              <a:t>cheap move  ·  medium capacity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1143000"/>
            <a:ext cx="3611880" cy="502920"/>
          </a:xfrm>
          <a:prstGeom prst="roundRect">
            <a:avLst/>
          </a:prstGeom>
          <a:solidFill>
            <a:srgbClr val="C7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 · Off-chip, host DRAM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709928"/>
            <a:ext cx="3611880" cy="27889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23960" y="2194560"/>
            <a:ext cx="12344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C77A1E"/>
                </a:solidFill>
                <a:latin typeface="Aptos"/>
              </a:rPr>
              <a:t>PE</a:t>
            </a:r>
          </a:p>
          <a:p>
            <a:pPr algn="ctr"/>
            <a:r>
              <a:rPr sz="1000" b="1">
                <a:solidFill>
                  <a:srgbClr val="C77A1E"/>
                </a:solidFill>
                <a:latin typeface="Aptos"/>
              </a:rPr>
              <a:t>KV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149840" y="2468880"/>
            <a:ext cx="777240" cy="32004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0" y="2103120"/>
            <a:ext cx="822960" cy="1097280"/>
          </a:xfrm>
          <a:prstGeom prst="roundRect">
            <a:avLst/>
          </a:prstGeom>
          <a:solidFill>
            <a:srgbClr val="C7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host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DRAM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291840"/>
            <a:ext cx="2697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5B6B7B"/>
                </a:solidFill>
                <a:latin typeface="Aptos"/>
              </a:rPr>
              <a:t>off the chip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4572000"/>
            <a:ext cx="361188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>Stream KV out to host memory; reload on a hit.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5257800"/>
            <a:ext cx="36118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C77A1E"/>
                </a:solidFill>
                <a:latin typeface="Aptos"/>
              </a:rPr>
              <a:t>costly move  ·  huge capacity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5B6B7B"/>
                </a:solidFill>
                <a:latin typeface="Aptos"/>
              </a:rPr>
              <a:t>cheaper / faster to reuse   ◀——————————————————▶   more capacity to retain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For every option: reuse in the DECODE or the PREFILL kernel?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893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B"/>
                </a:solidFill>
                <a:latin typeface="Aptos"/>
              </a:rPr>
              <a:t>•  On GPU this is a non-question (prefill ≫ decode; KV moves freely).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42E3A"/>
                </a:solidFill>
                <a:latin typeface="Aptos"/>
              </a:rPr>
              <a:t>    –  On WSE it's a real choice.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2E3A"/>
                </a:solidFill>
                <a:latin typeface="Aptos"/>
              </a:rPr>
              <a:t>•  Key fact: here prefill is only ~2.6× faster than decode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Aptos"/>
              </a:rPr>
              <a:t>    –  (weights sit in SRAM, so decode is not memory-starved).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42E3A"/>
                </a:solidFill>
                <a:latin typeface="Aptos"/>
              </a:rPr>
              <a:t>•  Warm KV (e.g. a chat history) already lives in DECODE. Two choices: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77A1E"/>
                </a:solidFill>
                <a:latin typeface="Aptos"/>
              </a:rPr>
              <a:t>    –  A)  Ship it to PREFILL, prefill the new turn — fast compute,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Aptos"/>
              </a:rPr>
              <a:t>    –  but pay to move the whole history.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Aptos"/>
              </a:rPr>
              <a:t>    –  B)  Keep it in DECODE, "force-decode" the new turn in place —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Aptos"/>
              </a:rPr>
              <a:t>    –  no move, slightly slower compute.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2E3A"/>
                </a:solidFill>
                <a:latin typeface="Aptos"/>
              </a:rPr>
              <a:t>•  Chat = long history + short new turn → B usually wins: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Aptos"/>
              </a:rPr>
              <a:t>    –  don't pay to move what's already warm.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19" y="1371600"/>
            <a:ext cx="2788920" cy="914400"/>
          </a:xfrm>
          <a:prstGeom prst="roundRect">
            <a:avLst/>
          </a:prstGeom>
          <a:solidFill>
            <a:srgbClr val="C7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PREFILL kernel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59" y="4297680"/>
            <a:ext cx="4434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78040" y="4434840"/>
            <a:ext cx="40690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200" b="1">
                <a:solidFill>
                  <a:srgbClr val="2E6DB4"/>
                </a:solidFill>
                <a:latin typeface="Aptos"/>
              </a:rPr>
              <a:t>DECODE kernel  (warm KV lives here)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59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0224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25712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6688" y="4892040"/>
            <a:ext cx="457200" cy="457200"/>
          </a:xfrm>
          <a:prstGeom prst="rect">
            <a:avLst/>
          </a:prstGeom>
          <a:solidFill>
            <a:srgbClr val="2E8B57"/>
          </a:solidFill>
          <a:ln w="9525">
            <a:solidFill>
              <a:srgbClr val="9DB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KV</a:t>
            </a:r>
          </a:p>
        </p:txBody>
      </p:sp>
      <p:sp>
        <p:nvSpPr>
          <p:cNvPr id="15" name="Up Arrow 14"/>
          <p:cNvSpPr/>
          <p:nvPr/>
        </p:nvSpPr>
        <p:spPr>
          <a:xfrm>
            <a:off x="7680960" y="2468880"/>
            <a:ext cx="777240" cy="1737360"/>
          </a:xfrm>
          <a:prstGeom prst="upArrow">
            <a:avLst/>
          </a:prstGeom>
          <a:solidFill>
            <a:srgbClr val="C7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606040"/>
            <a:ext cx="265176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5176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C77A1E"/>
                </a:solidFill>
                <a:latin typeface="Aptos"/>
              </a:rPr>
              <a:t>A: move whole history</a:t>
            </a:r>
          </a:p>
          <a:p>
            <a:r>
              <a:rPr sz="1200" b="0">
                <a:solidFill>
                  <a:srgbClr val="C77A1E"/>
                </a:solidFill>
                <a:latin typeface="Aptos"/>
              </a:rPr>
              <a:t>→ prefill new turn</a:t>
            </a:r>
          </a:p>
        </p:txBody>
      </p:sp>
      <p:sp>
        <p:nvSpPr>
          <p:cNvPr id="18" name="Circular Arrow 17"/>
          <p:cNvSpPr/>
          <p:nvPr/>
        </p:nvSpPr>
        <p:spPr>
          <a:xfrm>
            <a:off x="10652760" y="3931920"/>
            <a:ext cx="777240" cy="777240"/>
          </a:xfrm>
          <a:prstGeom prst="circular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5806440"/>
            <a:ext cx="24688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5806440"/>
            <a:ext cx="4434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E8B57"/>
                </a:solidFill>
                <a:latin typeface="Aptos"/>
              </a:rPr>
              <a:t>B: force-decode new turn in place (no move)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When does “force-decode in place” (B) beat “ship to prefill” (A)?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78992"/>
            <a:ext cx="4160520" cy="457200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The numbers  —  same e2e device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27631"/>
            <a:ext cx="414223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E3A"/>
                </a:solidFill>
                <a:latin typeface="Aptos"/>
              </a:rPr>
              <a:t>•  Decode 446 µs/token  ·  Prefill 170 µs/token (amortized)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Aptos"/>
              </a:rPr>
              <a:t>    –  → only ~2.6× apart (weights sit in SRAM)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42E3A"/>
                </a:solidFill>
                <a:latin typeface="Aptos"/>
              </a:rPr>
              <a:t>•  Force-decode penalty: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77A1E"/>
                </a:solidFill>
                <a:latin typeface="Aptos"/>
              </a:rPr>
              <a:t>    –  Δ = 446 − 170 = 276 µs per new token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E3A"/>
                </a:solidFill>
                <a:latin typeface="Aptos"/>
              </a:rPr>
              <a:t>•  KV size  B = 112 KB / token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B"/>
                </a:solidFill>
                <a:latin typeface="Aptos"/>
              </a:rPr>
              <a:t>    –  (28 layers × 8 kv-heads × 128 × 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E3A"/>
                </a:solidFill>
                <a:latin typeface="Aptos"/>
              </a:rPr>
              <a:t>•  Move time per warm token:  m = B ÷ bandwidth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8B57"/>
                </a:solidFill>
                <a:latin typeface="Aptos"/>
              </a:rPr>
              <a:t>•  Break-even — B wins when: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E8B57"/>
                </a:solidFill>
                <a:latin typeface="Aptos"/>
              </a:rPr>
              <a:t>    –  L_history / L_new  &gt;  Δ · BW / B   ≡  R*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188720"/>
          <a:ext cx="68122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417320"/>
                <a:gridCol w="2606040"/>
              </a:tblGrid>
              <a:tr h="67437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KV-move regime (effective BW)</a:t>
                      </a:r>
                    </a:p>
                  </a:txBody>
                  <a:tcPr anchor="ctr" marL="88900" marR="76200" marT="38100" marB="381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move /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warm-token</a:t>
                      </a:r>
                    </a:p>
                  </a:txBody>
                  <a:tcPr anchor="ctr" marL="88900" marR="76200" marT="38100" marB="381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Force-decode (B) wins when</a:t>
                      </a:r>
                    </a:p>
                  </a:txBody>
                  <a:tcPr anchor="ctr" marL="88900" marR="76200" marT="38100" marB="38100">
                    <a:solidFill>
                      <a:srgbClr val="1F3A5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42E3A"/>
                          </a:solidFill>
                          <a:latin typeface="Aptos"/>
                        </a:rPr>
                        <a:t>current single-stream  (~15 MB/s)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42E3A"/>
                          </a:solidFill>
                          <a:latin typeface="Aptos"/>
                        </a:rPr>
                        <a:t>~7800 µs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E8B57"/>
                          </a:solidFill>
                          <a:latin typeface="Aptos"/>
                        </a:rPr>
                        <a:t>L_hist / L_new &gt; 0.035</a:t>
                      </a:r>
                    </a:p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Aptos"/>
                        </a:rPr>
                        <a:t>→ almost always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42E3A"/>
                          </a:solidFill>
                          <a:latin typeface="Aptos"/>
                        </a:rPr>
                        <a:t>optimized multi-stream  (~1 GB/s)</a:t>
                      </a:r>
                    </a:p>
                  </a:txBody>
                  <a:tcPr anchor="ctr" marL="889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42E3A"/>
                          </a:solidFill>
                          <a:latin typeface="Aptos"/>
                        </a:rPr>
                        <a:t>~115 µs</a:t>
                      </a:r>
                    </a:p>
                  </a:txBody>
                  <a:tcPr anchor="ctr" marL="889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E8B57"/>
                          </a:solidFill>
                          <a:latin typeface="Aptos"/>
                        </a:rPr>
                        <a:t>L_hist / L_new &gt; 2.4</a:t>
                      </a:r>
                    </a:p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Aptos"/>
                        </a:rPr>
                        <a:t>→ typical chat</a:t>
                      </a:r>
                    </a:p>
                  </a:txBody>
                  <a:tcPr anchor="ctr" marL="88900" marR="76200" marT="38100" marB="38100"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42E3A"/>
                          </a:solidFill>
                          <a:latin typeface="Aptos"/>
                        </a:rPr>
                        <a:t>ideal 4-ch RoCE  (~4 GB/s)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42E3A"/>
                          </a:solidFill>
                          <a:latin typeface="Aptos"/>
                        </a:rPr>
                        <a:t>~29 µs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E8B57"/>
                          </a:solidFill>
                          <a:latin typeface="Aptos"/>
                        </a:rPr>
                        <a:t>L_hist / L_new &gt; 9.6</a:t>
                      </a:r>
                    </a:p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Aptos"/>
                        </a:rPr>
                        <a:t>→ long chats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069080"/>
            <a:ext cx="6812280" cy="1234440"/>
          </a:xfrm>
          <a:prstGeom prst="roundRect">
            <a:avLst/>
          </a:prstGeom>
          <a:solidFill>
            <a:srgbClr val="ECF3EE"/>
          </a:solidFill>
          <a:ln w="12700">
            <a:solidFill>
              <a:srgbClr val="BF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>
                <a:solidFill>
                  <a:srgbClr val="1E5E3C"/>
                </a:solidFill>
                <a:latin typeface="Aptos"/>
              </a:rPr>
              <a:t>Scenario — multi-turn chat = long history + short new turn.</a:t>
            </a:r>
          </a:p>
          <a:p>
            <a:pPr algn="ctr"/>
            <a:r>
              <a:rPr sz="1250" b="0">
                <a:solidFill>
                  <a:srgbClr val="1E5E3C"/>
                </a:solidFill>
                <a:latin typeface="Aptos"/>
              </a:rPr>
              <a:t>Warm KV already sits in DECODE → force-decode the new turn in place (no move).</a:t>
            </a:r>
          </a:p>
          <a:p>
            <a:pPr algn="ctr"/>
            <a:r>
              <a:rPr sz="1250" b="0">
                <a:solidFill>
                  <a:srgbClr val="1E5E3C"/>
                </a:solidFill>
                <a:latin typeface="Aptos"/>
              </a:rPr>
              <a:t>Ship-to-prefill (A) only pays off when the NEW input is large.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42E3A"/>
                </a:solidFill>
                <a:latin typeface="Aptos"/>
              </a:rPr>
              <a:t>•  Retain instead of discard — a keyed KV store + "skip prefill on a cache hit."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42E3A"/>
                </a:solidFill>
                <a:latin typeface="Aptos"/>
              </a:rPr>
              <a:t>•  Prototype in-PE reuse (T0.5): share the decode KV bank across requests.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42E3A"/>
                </a:solidFill>
                <a:latin typeface="Aptos"/>
              </a:rPr>
              <a:t>•  Build the cheap win first: "force-decode in place" for multi-turn (small change).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42E3A"/>
                </a:solidFill>
                <a:latin typeface="Aptos"/>
              </a:rPr>
              <a:t>•  Measure the move cost: on-chip spare PEs vs off-chip host DRAM — pick per workload.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42E3A"/>
                </a:solidFill>
                <a:latin typeface="Aptos"/>
              </a:rPr>
              <a:t>•  Enabler: our integrated kernels don't support multi-request yet —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B7B"/>
                </a:solidFill>
                <a:latin typeface="Aptos"/>
              </a:rPr>
              <a:t>    –  port it from the up-to-date standalone kernels (see backup).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806440"/>
            <a:ext cx="11064240" cy="5943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1F3A5F"/>
                </a:solidFill>
                <a:latin typeface="Aptos"/>
              </a:rPr>
              <a:t>Method to re-decide A vs B when numbers change:  B wins when  L_history / L_new  &gt;  (t_dec − t_pf) · BW / KV_bytes_per_token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Backup — standalone vs integrated kernels (what's missing)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42E3A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5B6B7B"/>
                </a:solidFill>
                <a:latin typeface="Aptos"/>
              </a:rPr>
              <a:t>Integrated e2e / pd-separate are a frozen older copy; the standalone decode/prefill are the up-to-date source.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743200"/>
                <a:gridCol w="3474720"/>
              </a:tblGrid>
              <a:tr h="57476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762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Standalone</a:t>
                      </a:r>
                    </a:p>
                  </a:txBody>
                  <a:tcPr marL="762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Integrated (e2e / pd-sep)</a:t>
                      </a:r>
                    </a:p>
                  </a:txBody>
                  <a:tcPr marL="76200" marR="76200" marT="38100" marB="38100" anchor="ctr">
                    <a:solidFill>
                      <a:srgbClr val="1F3A5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Multi-request / multi-round serving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 — one request per load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Variable-length &amp; chunked prefill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 — up to ~8K prompt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 — fixed length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EOS early-stop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Accuracy fix — fp32 softmax (#12)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 — worse numerics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Numeric oracle / self-check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 — unverified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42E3A"/>
                          </a:solidFill>
                          <a:latin typeface="Aptos"/>
                        </a:rPr>
                        <a:t>KV-sharing prerequisite (varlen KV ingress)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8B5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432B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76200" marR="76200" marT="38100" marB="381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i="1">
                <a:solidFill>
                  <a:srgbClr val="5B6B7B"/>
                </a:solidFill>
                <a:latin typeface="Aptos"/>
              </a:rPr>
              <a:t>Integrated ADD the KV-transfer wiring (on-chip relay / host bridge) + pd-separate's spec-dec draft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